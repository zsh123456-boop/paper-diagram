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9eaf363a2b48b4" /><Relationship Type="http://schemas.openxmlformats.org/officeDocument/2006/relationships/extended-properties" Target="/docProps/app.xml" Id="Rd7827e9faa26442d" /><Relationship Type="http://schemas.openxmlformats.org/officeDocument/2006/relationships/officeDocument" Target="/ppt/presentation.xml" Id="R5d1489bfbcba4cef" /></Relationships>
</file>

<file path=ppt/presentation.xml><?xml version="1.0" encoding="utf-8"?>
<p:presentation xmlns:ns1="http://schemas.openxmlformats.org/officeDocument/2006/relationships" xmlns:p="http://schemas.openxmlformats.org/presentationml/2006/main">
  <p:sldMasterIdLst>
    <p:sldMasterId id="2147483648" ns1:id="R7334a67e0e444f89"/>
  </p:sldMasterIdLst>
  <p:notesMasterIdLst>
    <p:notesMasterId ns1:id="R3d130193848146c4"/>
  </p:notesMasterIdLst>
  <p:sldIdLst>
    <p:sldId id="256" ns1:id="R819ed5a37a5f4f11"/>
  </p:sldIdLst>
  <p:sldSz cx="9753600" cy="5810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11d64764d14cff" /><Relationship Type="http://schemas.openxmlformats.org/officeDocument/2006/relationships/slideMaster" Target="/ppt/slideMasters/slideMaster1.xml" Id="R7334a67e0e444f89" /><Relationship Type="http://schemas.openxmlformats.org/officeDocument/2006/relationships/notesMaster" Target="/ppt/notesMasters/notesMaster1.xml" Id="R3d130193848146c4" /><Relationship Type="http://schemas.openxmlformats.org/officeDocument/2006/relationships/presProps" Target="/ppt/presProps.xml" Id="Rd961d7bde5d24819" /><Relationship Type="http://schemas.openxmlformats.org/officeDocument/2006/relationships/tableStyles" Target="/ppt/tableStyles.xml" Id="R0f9fe11de8694c9b" /><Relationship Type="http://schemas.openxmlformats.org/officeDocument/2006/relationships/slide" Target="/ppt/slides/slide1.xml" Id="R819ed5a37a5f4f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6b4b33de2e40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f742e46cf649dd" /><Relationship Type="http://schemas.openxmlformats.org/officeDocument/2006/relationships/notesMaster" Target="/ppt/notesMasters/notesMaster1.xml" Id="R44b878022fcb41f9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9ee0d8a344f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9ab259f4ac479f" /><Relationship Type="http://schemas.openxmlformats.org/officeDocument/2006/relationships/slideLayout" Target="/ppt/slideLayouts/slideLayout1.xml" Id="R3cef21fa070649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ef21fa070649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78f9d991c4fce" /><Relationship Type="http://schemas.openxmlformats.org/officeDocument/2006/relationships/notesSlide" Target="/ppt/notesSlides/notesSlide1.xml" Id="R1a2a870dd6b14337" /></Relationships>
</file>

<file path=ppt/slides/slide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grpSp>
        <p:nvGrpSpPr>
          <p:cNvPr id="113" name="Background"/>
          <p:cNvGrpSpPr/>
          <p:nvPr/>
        </p:nvGrpSpPr>
        <p:grpSpPr>
          <a:xfrm>
            <a:off x="0" y="0"/>
            <a:ext cx="9753600" cy="5810250"/>
            <a:chOff x="0" y="0"/>
            <a:chExt cx="9753600" cy="5810250"/>
          </a:xfrm>
        </p:grpSpPr>
        <p:sp>
          <p:nvSpPr>
            <p:cNvPr id="114" name="canvas"/>
            <p:cNvSpPr/>
            <p:nvPr/>
          </p:nvSpPr>
          <p:spPr>
            <a:xfrm>
              <a:off x="0" y="0"/>
              <a:ext cx="9753600" cy="5810250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miter/>
            </a:ln>
          </p:spPr>
        </p:sp>
      </p:grpSp>
      <p:sp>
        <p:nvSpPr>
          <p:cNvPr id="115" name="encoder-panel"/>
          <p:cNvSpPr/>
          <p:nvPr/>
        </p:nvSpPr>
        <p:spPr>
          <a:xfrm>
            <a:off x="981075" y="685800"/>
            <a:ext cx="3752850" cy="2152650"/>
          </a:xfrm>
          <a:custGeom>
            <a:avLst/>
            <a:gdLst/>
            <a:ahLst/>
            <a:cxnLst/>
            <a:rect l="0" t="0" r="r" b="b"/>
            <a:pathLst>
              <a:path w="39400" h="22600" fill="norm" stroke="0" extrusionOk="0">
                <a:moveTo>
                  <a:pt x="600" y="0"/>
                </a:moveTo>
                <a:lnTo>
                  <a:pt x="38800" y="0"/>
                </a:lnTo>
                <a:cubicBezTo>
                  <a:pt x="39131" y="0"/>
                  <a:pt x="39400" y="269"/>
                  <a:pt x="39400" y="600"/>
                </a:cubicBezTo>
                <a:lnTo>
                  <a:pt x="39400" y="22000"/>
                </a:lnTo>
                <a:cubicBezTo>
                  <a:pt x="39400" y="22331"/>
                  <a:pt x="39131" y="22600"/>
                  <a:pt x="38800" y="22600"/>
                </a:cubicBezTo>
                <a:lnTo>
                  <a:pt x="600" y="22600"/>
                </a:lnTo>
                <a:cubicBezTo>
                  <a:pt x="269" y="22600"/>
                  <a:pt x="0" y="22331"/>
                  <a:pt x="0" y="22000"/>
                </a:cubicBezTo>
                <a:lnTo>
                  <a:pt x="0" y="600"/>
                </a:lnTo>
                <a:cubicBezTo>
                  <a:pt x="0" y="269"/>
                  <a:pt x="269" y="0"/>
                  <a:pt x="600" y="0"/>
                </a:cubicBezTo>
                <a:close/>
              </a:path>
            </a:pathLst>
          </a:custGeom>
          <a:solidFill>
            <a:srgbClr val="EFF8F8"/>
          </a:solidFill>
          <a:ln w="9525" cap="flat">
            <a:noFill/>
            <a:miter/>
          </a:ln>
        </p:spPr>
      </p:sp>
      <p:sp>
        <p:nvSpPr>
          <p:cNvPr id="116" name="dense-panel"/>
          <p:cNvSpPr/>
          <p:nvPr/>
        </p:nvSpPr>
        <p:spPr>
          <a:xfrm>
            <a:off x="4762500" y="685800"/>
            <a:ext cx="3219450" cy="2162175"/>
          </a:xfrm>
          <a:custGeom>
            <a:avLst/>
            <a:gdLst/>
            <a:ahLst/>
            <a:cxnLst/>
            <a:rect l="0" t="0" r="r" b="b"/>
            <a:pathLst>
              <a:path w="33800" h="22700" fill="norm" stroke="0" extrusionOk="0">
                <a:moveTo>
                  <a:pt x="600" y="0"/>
                </a:moveTo>
                <a:lnTo>
                  <a:pt x="33200" y="0"/>
                </a:lnTo>
                <a:cubicBezTo>
                  <a:pt x="33531" y="0"/>
                  <a:pt x="33800" y="269"/>
                  <a:pt x="33800" y="600"/>
                </a:cubicBezTo>
                <a:lnTo>
                  <a:pt x="33800" y="22100"/>
                </a:lnTo>
                <a:cubicBezTo>
                  <a:pt x="33800" y="22431"/>
                  <a:pt x="33531" y="22700"/>
                  <a:pt x="33200" y="22700"/>
                </a:cubicBezTo>
                <a:lnTo>
                  <a:pt x="600" y="22700"/>
                </a:lnTo>
                <a:cubicBezTo>
                  <a:pt x="269" y="22700"/>
                  <a:pt x="0" y="22431"/>
                  <a:pt x="0" y="22100"/>
                </a:cubicBezTo>
                <a:lnTo>
                  <a:pt x="0" y="600"/>
                </a:lnTo>
                <a:cubicBezTo>
                  <a:pt x="0" y="269"/>
                  <a:pt x="269" y="0"/>
                  <a:pt x="600" y="0"/>
                </a:cubicBezTo>
                <a:close/>
              </a:path>
            </a:pathLst>
          </a:custGeom>
          <a:solidFill>
            <a:srgbClr val="F5F3F8"/>
          </a:solidFill>
          <a:ln w="9525" cap="flat">
            <a:noFill/>
            <a:miter/>
          </a:ln>
        </p:spPr>
      </p:sp>
      <p:sp>
        <p:nvSpPr>
          <p:cNvPr id="117" name="shared-panel"/>
          <p:cNvSpPr/>
          <p:nvPr/>
        </p:nvSpPr>
        <p:spPr>
          <a:xfrm>
            <a:off x="981075" y="2886075"/>
            <a:ext cx="3905250" cy="2895600"/>
          </a:xfrm>
          <a:custGeom>
            <a:avLst/>
            <a:gdLst/>
            <a:ahLst/>
            <a:cxnLst/>
            <a:rect l="0" t="0" r="r" b="b"/>
            <a:pathLst>
              <a:path w="41000" h="30400" fill="norm" stroke="0" extrusionOk="0">
                <a:moveTo>
                  <a:pt x="600" y="0"/>
                </a:moveTo>
                <a:lnTo>
                  <a:pt x="40400" y="0"/>
                </a:lnTo>
                <a:cubicBezTo>
                  <a:pt x="40731" y="0"/>
                  <a:pt x="41000" y="269"/>
                  <a:pt x="41000" y="600"/>
                </a:cubicBezTo>
                <a:lnTo>
                  <a:pt x="41000" y="29800"/>
                </a:lnTo>
                <a:cubicBezTo>
                  <a:pt x="41000" y="30131"/>
                  <a:pt x="40731" y="30400"/>
                  <a:pt x="40400" y="30400"/>
                </a:cubicBezTo>
                <a:lnTo>
                  <a:pt x="600" y="30400"/>
                </a:lnTo>
                <a:cubicBezTo>
                  <a:pt x="269" y="30400"/>
                  <a:pt x="0" y="30131"/>
                  <a:pt x="0" y="29800"/>
                </a:cubicBezTo>
                <a:lnTo>
                  <a:pt x="0" y="600"/>
                </a:lnTo>
                <a:cubicBezTo>
                  <a:pt x="0" y="269"/>
                  <a:pt x="269" y="0"/>
                  <a:pt x="600" y="0"/>
                </a:cubicBezTo>
                <a:close/>
              </a:path>
            </a:pathLst>
          </a:custGeom>
          <a:solidFill>
            <a:srgbClr val="F3EFF6"/>
          </a:solidFill>
          <a:ln w="9525" cap="flat">
            <a:noFill/>
            <a:miter/>
          </a:ln>
        </p:spPr>
      </p:sp>
      <p:sp>
        <p:nvSpPr>
          <p:cNvPr id="118" name="query-panel"/>
          <p:cNvSpPr/>
          <p:nvPr/>
        </p:nvSpPr>
        <p:spPr>
          <a:xfrm>
            <a:off x="4933950" y="2886075"/>
            <a:ext cx="2657475" cy="2895600"/>
          </a:xfrm>
          <a:custGeom>
            <a:avLst/>
            <a:gdLst/>
            <a:ahLst/>
            <a:cxnLst/>
            <a:rect l="0" t="0" r="r" b="b"/>
            <a:pathLst>
              <a:path w="27900" h="30400" fill="norm" stroke="0" extrusionOk="0">
                <a:moveTo>
                  <a:pt x="600" y="0"/>
                </a:moveTo>
                <a:lnTo>
                  <a:pt x="27300" y="0"/>
                </a:lnTo>
                <a:cubicBezTo>
                  <a:pt x="27631" y="0"/>
                  <a:pt x="27900" y="269"/>
                  <a:pt x="27900" y="600"/>
                </a:cubicBezTo>
                <a:lnTo>
                  <a:pt x="27900" y="29800"/>
                </a:lnTo>
                <a:cubicBezTo>
                  <a:pt x="27900" y="30131"/>
                  <a:pt x="27631" y="30400"/>
                  <a:pt x="27300" y="30400"/>
                </a:cubicBezTo>
                <a:lnTo>
                  <a:pt x="600" y="30400"/>
                </a:lnTo>
                <a:cubicBezTo>
                  <a:pt x="269" y="30400"/>
                  <a:pt x="0" y="30131"/>
                  <a:pt x="0" y="29800"/>
                </a:cubicBezTo>
                <a:lnTo>
                  <a:pt x="0" y="600"/>
                </a:lnTo>
                <a:cubicBezTo>
                  <a:pt x="0" y="269"/>
                  <a:pt x="269" y="0"/>
                  <a:pt x="600" y="0"/>
                </a:cubicBezTo>
                <a:close/>
              </a:path>
            </a:pathLst>
          </a:custGeom>
          <a:solidFill>
            <a:srgbClr val="FCF0EE"/>
          </a:solidFill>
          <a:ln w="9525" cap="flat">
            <a:noFill/>
            <a:miter/>
          </a:ln>
        </p:spPr>
      </p:sp>
      <p:sp>
        <p:nvSpPr>
          <p:cNvPr id="119" name="output-panel-top"/>
          <p:cNvSpPr/>
          <p:nvPr/>
        </p:nvSpPr>
        <p:spPr>
          <a:xfrm>
            <a:off x="8020050" y="685800"/>
            <a:ext cx="1685925" cy="2152650"/>
          </a:xfrm>
          <a:custGeom>
            <a:avLst/>
            <a:gdLst/>
            <a:ahLst/>
            <a:cxnLst/>
            <a:rect l="0" t="0" r="r" b="b"/>
            <a:pathLst>
              <a:path w="17700" h="22600" fill="norm" stroke="0" extrusionOk="0">
                <a:moveTo>
                  <a:pt x="600" y="0"/>
                </a:moveTo>
                <a:lnTo>
                  <a:pt x="17100" y="0"/>
                </a:lnTo>
                <a:cubicBezTo>
                  <a:pt x="17431" y="0"/>
                  <a:pt x="17700" y="269"/>
                  <a:pt x="17700" y="600"/>
                </a:cubicBezTo>
                <a:lnTo>
                  <a:pt x="17700" y="22000"/>
                </a:lnTo>
                <a:cubicBezTo>
                  <a:pt x="17700" y="22331"/>
                  <a:pt x="17431" y="22600"/>
                  <a:pt x="17100" y="22600"/>
                </a:cubicBezTo>
                <a:lnTo>
                  <a:pt x="600" y="22600"/>
                </a:lnTo>
                <a:cubicBezTo>
                  <a:pt x="269" y="22600"/>
                  <a:pt x="0" y="22331"/>
                  <a:pt x="0" y="22000"/>
                </a:cubicBezTo>
                <a:lnTo>
                  <a:pt x="0" y="600"/>
                </a:lnTo>
                <a:cubicBezTo>
                  <a:pt x="0" y="269"/>
                  <a:pt x="269" y="0"/>
                  <a:pt x="600" y="0"/>
                </a:cubicBezTo>
                <a:close/>
              </a:path>
            </a:pathLst>
          </a:custGeom>
          <a:solidFill>
            <a:srgbClr val="FCF8EC"/>
          </a:solidFill>
          <a:ln w="9525" cap="flat">
            <a:noFill/>
            <a:miter/>
          </a:ln>
        </p:spPr>
      </p:sp>
      <p:sp>
        <p:nvSpPr>
          <p:cNvPr id="120" name="output-panel-bottom"/>
          <p:cNvSpPr/>
          <p:nvPr/>
        </p:nvSpPr>
        <p:spPr>
          <a:xfrm>
            <a:off x="7639050" y="2886075"/>
            <a:ext cx="2066925" cy="2895600"/>
          </a:xfrm>
          <a:custGeom>
            <a:avLst/>
            <a:gdLst/>
            <a:ahLst/>
            <a:cxnLst/>
            <a:rect l="0" t="0" r="r" b="b"/>
            <a:pathLst>
              <a:path w="21700" h="30400" fill="norm" stroke="0" extrusionOk="0">
                <a:moveTo>
                  <a:pt x="600" y="0"/>
                </a:moveTo>
                <a:lnTo>
                  <a:pt x="21100" y="0"/>
                </a:lnTo>
                <a:cubicBezTo>
                  <a:pt x="21431" y="0"/>
                  <a:pt x="21700" y="269"/>
                  <a:pt x="21700" y="600"/>
                </a:cubicBezTo>
                <a:lnTo>
                  <a:pt x="21700" y="29800"/>
                </a:lnTo>
                <a:cubicBezTo>
                  <a:pt x="21700" y="30131"/>
                  <a:pt x="21431" y="30400"/>
                  <a:pt x="21100" y="30400"/>
                </a:cubicBezTo>
                <a:lnTo>
                  <a:pt x="600" y="30400"/>
                </a:lnTo>
                <a:cubicBezTo>
                  <a:pt x="269" y="30400"/>
                  <a:pt x="0" y="30131"/>
                  <a:pt x="0" y="29800"/>
                </a:cubicBezTo>
                <a:lnTo>
                  <a:pt x="0" y="600"/>
                </a:lnTo>
                <a:cubicBezTo>
                  <a:pt x="0" y="269"/>
                  <a:pt x="269" y="0"/>
                  <a:pt x="600" y="0"/>
                </a:cubicBezTo>
                <a:close/>
              </a:path>
            </a:pathLst>
          </a:custGeom>
          <a:solidFill>
            <a:srgbClr val="FCF8EC"/>
          </a:solidFill>
          <a:ln w="9525" cap="flat">
            <a:noFill/>
            <a:miter/>
          </a:ln>
        </p:spPr>
      </p:sp>
      <p:sp>
        <p:nvSpPr>
          <p:cNvPr id="121" name="encoder-header"/>
          <p:cNvSpPr/>
          <p:nvPr/>
        </p:nvSpPr>
        <p:spPr>
          <a:xfrm>
            <a:off x="981075" y="685800"/>
            <a:ext cx="3752850" cy="266700"/>
          </a:xfrm>
          <a:custGeom>
            <a:avLst/>
            <a:gdLst/>
            <a:ahLst/>
            <a:cxnLst/>
            <a:rect l="0" t="0" r="r" b="b"/>
            <a:pathLst>
              <a:path w="39400" h="2800" fill="norm" stroke="0" extrusionOk="0">
                <a:moveTo>
                  <a:pt x="500" y="0"/>
                </a:moveTo>
                <a:lnTo>
                  <a:pt x="38900" y="0"/>
                </a:lnTo>
                <a:cubicBezTo>
                  <a:pt x="39176" y="0"/>
                  <a:pt x="39400" y="224"/>
                  <a:pt x="39400" y="500"/>
                </a:cubicBezTo>
                <a:lnTo>
                  <a:pt x="39400" y="2300"/>
                </a:lnTo>
                <a:cubicBezTo>
                  <a:pt x="39400" y="2576"/>
                  <a:pt x="39176" y="2800"/>
                  <a:pt x="38900" y="2800"/>
                </a:cubicBezTo>
                <a:lnTo>
                  <a:pt x="500" y="2800"/>
                </a:lnTo>
                <a:cubicBezTo>
                  <a:pt x="224" y="2800"/>
                  <a:pt x="0" y="2576"/>
                  <a:pt x="0" y="2300"/>
                </a:cubicBezTo>
                <a:lnTo>
                  <a:pt x="0" y="500"/>
                </a:lnTo>
                <a:cubicBezTo>
                  <a:pt x="0" y="224"/>
                  <a:pt x="224" y="0"/>
                  <a:pt x="500" y="0"/>
                </a:cubicBezTo>
                <a:close/>
              </a:path>
            </a:pathLst>
          </a:custGeom>
          <a:solidFill>
            <a:srgbClr val="CFEBED"/>
          </a:solidFill>
          <a:ln w="9525" cap="flat">
            <a:noFill/>
            <a:miter/>
          </a:ln>
        </p:spPr>
      </p:sp>
      <p:sp>
        <p:nvSpPr>
          <p:cNvPr id="122" name="dense-header"/>
          <p:cNvSpPr/>
          <p:nvPr/>
        </p:nvSpPr>
        <p:spPr>
          <a:xfrm>
            <a:off x="4762500" y="685800"/>
            <a:ext cx="3219450" cy="266700"/>
          </a:xfrm>
          <a:custGeom>
            <a:avLst/>
            <a:gdLst/>
            <a:ahLst/>
            <a:cxnLst/>
            <a:rect l="0" t="0" r="r" b="b"/>
            <a:pathLst>
              <a:path w="33800" h="2800" fill="norm" stroke="0" extrusionOk="0">
                <a:moveTo>
                  <a:pt x="500" y="0"/>
                </a:moveTo>
                <a:lnTo>
                  <a:pt x="33300" y="0"/>
                </a:lnTo>
                <a:cubicBezTo>
                  <a:pt x="33576" y="0"/>
                  <a:pt x="33800" y="224"/>
                  <a:pt x="33800" y="500"/>
                </a:cubicBezTo>
                <a:lnTo>
                  <a:pt x="33800" y="2300"/>
                </a:lnTo>
                <a:cubicBezTo>
                  <a:pt x="33800" y="2576"/>
                  <a:pt x="33576" y="2800"/>
                  <a:pt x="33300" y="2800"/>
                </a:cubicBezTo>
                <a:lnTo>
                  <a:pt x="500" y="2800"/>
                </a:lnTo>
                <a:cubicBezTo>
                  <a:pt x="224" y="2800"/>
                  <a:pt x="0" y="2576"/>
                  <a:pt x="0" y="2300"/>
                </a:cubicBezTo>
                <a:lnTo>
                  <a:pt x="0" y="500"/>
                </a:lnTo>
                <a:cubicBezTo>
                  <a:pt x="0" y="224"/>
                  <a:pt x="224" y="0"/>
                  <a:pt x="500" y="0"/>
                </a:cubicBezTo>
                <a:close/>
              </a:path>
            </a:pathLst>
          </a:custGeom>
          <a:solidFill>
            <a:srgbClr val="DCD6E8"/>
          </a:solidFill>
          <a:ln w="9525" cap="flat">
            <a:noFill/>
            <a:miter/>
          </a:ln>
        </p:spPr>
      </p:sp>
      <p:sp>
        <p:nvSpPr>
          <p:cNvPr id="123" name="output-header"/>
          <p:cNvSpPr/>
          <p:nvPr/>
        </p:nvSpPr>
        <p:spPr>
          <a:xfrm>
            <a:off x="8020050" y="685800"/>
            <a:ext cx="1685925" cy="447675"/>
          </a:xfrm>
          <a:custGeom>
            <a:avLst/>
            <a:gdLst/>
            <a:ahLst/>
            <a:cxnLst/>
            <a:rect l="0" t="0" r="r" b="b"/>
            <a:pathLst>
              <a:path w="17700" h="4700" fill="norm" stroke="0" extrusionOk="0">
                <a:moveTo>
                  <a:pt x="500" y="0"/>
                </a:moveTo>
                <a:lnTo>
                  <a:pt x="17200" y="0"/>
                </a:lnTo>
                <a:cubicBezTo>
                  <a:pt x="17476" y="0"/>
                  <a:pt x="17700" y="224"/>
                  <a:pt x="17700" y="500"/>
                </a:cubicBezTo>
                <a:lnTo>
                  <a:pt x="17700" y="4200"/>
                </a:lnTo>
                <a:cubicBezTo>
                  <a:pt x="17700" y="4476"/>
                  <a:pt x="17476" y="4700"/>
                  <a:pt x="17200" y="4700"/>
                </a:cubicBezTo>
                <a:lnTo>
                  <a:pt x="500" y="4700"/>
                </a:lnTo>
                <a:cubicBezTo>
                  <a:pt x="224" y="4700"/>
                  <a:pt x="0" y="4476"/>
                  <a:pt x="0" y="4200"/>
                </a:cubicBezTo>
                <a:lnTo>
                  <a:pt x="0" y="500"/>
                </a:lnTo>
                <a:cubicBezTo>
                  <a:pt x="0" y="224"/>
                  <a:pt x="224" y="0"/>
                  <a:pt x="500" y="0"/>
                </a:cubicBezTo>
                <a:close/>
              </a:path>
            </a:pathLst>
          </a:custGeom>
          <a:solidFill>
            <a:srgbClr val="F7EDD2"/>
          </a:solidFill>
          <a:ln w="9525" cap="flat">
            <a:noFill/>
            <a:miter/>
          </a:ln>
        </p:spPr>
      </p:sp>
      <p:sp>
        <p:nvSpPr>
          <p:cNvPr id="124" name="input-to-encoder"/>
          <p:cNvSpPr/>
          <p:nvPr/>
        </p:nvSpPr>
        <p:spPr>
          <a:xfrm>
            <a:off x="590550" y="1933575"/>
            <a:ext cx="504825" cy="10"/>
          </a:xfrm>
          <a:custGeom>
            <a:avLst/>
            <a:gdLst/>
            <a:ahLst/>
            <a:cxnLst/>
            <a:rect l="0" t="0" r="r" b="b"/>
            <a:pathLst>
              <a:path w="5300" h="1" fill="none" stroke="1" extrusionOk="0">
                <a:moveTo>
                  <a:pt x="0" y="0"/>
                </a:moveTo>
                <a:lnTo>
                  <a:pt x="53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25" name="input-skip"/>
          <p:cNvSpPr/>
          <p:nvPr/>
        </p:nvSpPr>
        <p:spPr>
          <a:xfrm>
            <a:off x="895350" y="1047750"/>
            <a:ext cx="5953125" cy="876300"/>
          </a:xfrm>
          <a:custGeom>
            <a:avLst/>
            <a:gdLst/>
            <a:ahLst/>
            <a:cxnLst/>
            <a:rect l="0" t="0" r="r" b="b"/>
            <a:pathLst>
              <a:path w="62500" h="9200" fill="none" stroke="1" extrusionOk="0">
                <a:moveTo>
                  <a:pt x="0" y="9200"/>
                </a:moveTo>
                <a:lnTo>
                  <a:pt x="0" y="0"/>
                </a:lnTo>
                <a:lnTo>
                  <a:pt x="62500" y="0"/>
                </a:lnTo>
                <a:lnTo>
                  <a:pt x="62500" y="9100"/>
                </a:lnTo>
              </a:path>
            </a:pathLst>
          </a:custGeom>
          <a:noFill/>
          <a:ln w="9525" cap="rnd">
            <a:solidFill>
              <a:srgbClr val="659FA9"/>
            </a:solidFill>
            <a:round/>
            <a:tailEnd type="triangle" w="med" len="med"/>
          </a:ln>
        </p:spPr>
      </p:sp>
      <p:sp>
        <p:nvSpPr>
          <p:cNvPr id="126" name="skip-to-seg"/>
          <p:cNvSpPr/>
          <p:nvPr/>
        </p:nvSpPr>
        <p:spPr>
          <a:xfrm>
            <a:off x="3429000" y="1343025"/>
            <a:ext cx="10" cy="200025"/>
          </a:xfrm>
          <a:custGeom>
            <a:avLst/>
            <a:gdLst/>
            <a:ahLst/>
            <a:cxnLst/>
            <a:rect l="0" t="0" r="r" b="b"/>
            <a:pathLst>
              <a:path w="1" h="2100" fill="none" stroke="1" extrusionOk="0">
                <a:moveTo>
                  <a:pt x="0" y="0"/>
                </a:moveTo>
                <a:lnTo>
                  <a:pt x="0" y="2100"/>
                </a:lnTo>
              </a:path>
            </a:pathLst>
          </a:custGeom>
          <a:noFill/>
          <a:ln w="9525" cap="rnd">
            <a:solidFill>
              <a:srgbClr val="659FA9"/>
            </a:solidFill>
            <a:round/>
            <a:tailEnd type="triangle" w="med" len="med"/>
          </a:ln>
        </p:spPr>
      </p:sp>
      <p:sp>
        <p:nvSpPr>
          <p:cNvPr id="127" name="encoder-to-seg"/>
          <p:cNvSpPr/>
          <p:nvPr/>
        </p:nvSpPr>
        <p:spPr>
          <a:xfrm>
            <a:off x="2724150" y="1933575"/>
            <a:ext cx="247650" cy="10"/>
          </a:xfrm>
          <a:custGeom>
            <a:avLst/>
            <a:gdLst/>
            <a:ahLst/>
            <a:cxnLst/>
            <a:rect l="0" t="0" r="r" b="b"/>
            <a:pathLst>
              <a:path w="2600" h="1" fill="none" stroke="1" extrusionOk="0">
                <a:moveTo>
                  <a:pt x="0" y="0"/>
                </a:moveTo>
                <a:lnTo>
                  <a:pt x="26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28" name="seg-to-proj"/>
          <p:cNvSpPr/>
          <p:nvPr/>
        </p:nvSpPr>
        <p:spPr>
          <a:xfrm>
            <a:off x="3810000" y="1933575"/>
            <a:ext cx="266700" cy="10"/>
          </a:xfrm>
          <a:custGeom>
            <a:avLst/>
            <a:gdLst/>
            <a:ahLst/>
            <a:cxnLst/>
            <a:rect l="0" t="0" r="r" b="b"/>
            <a:pathLst>
              <a:path w="2800" h="1" fill="none" stroke="1" extrusionOk="0">
                <a:moveTo>
                  <a:pt x="0" y="0"/>
                </a:moveTo>
                <a:lnTo>
                  <a:pt x="28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29" name="proj-to-pixel"/>
          <p:cNvSpPr/>
          <p:nvPr/>
        </p:nvSpPr>
        <p:spPr>
          <a:xfrm>
            <a:off x="4800600" y="1933575"/>
            <a:ext cx="419100" cy="10"/>
          </a:xfrm>
          <a:custGeom>
            <a:avLst/>
            <a:gdLst/>
            <a:ahLst/>
            <a:cxnLst/>
            <a:rect l="0" t="0" r="r" b="b"/>
            <a:pathLst>
              <a:path w="4400" h="1" fill="none" stroke="1" extrusionOk="0">
                <a:moveTo>
                  <a:pt x="0" y="0"/>
                </a:moveTo>
                <a:lnTo>
                  <a:pt x="44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30" name="pixel-to-dense"/>
          <p:cNvSpPr/>
          <p:nvPr/>
        </p:nvSpPr>
        <p:spPr>
          <a:xfrm>
            <a:off x="6638925" y="1933575"/>
            <a:ext cx="409575" cy="10"/>
          </a:xfrm>
          <a:custGeom>
            <a:avLst/>
            <a:gdLst/>
            <a:ahLst/>
            <a:cxnLst/>
            <a:rect l="0" t="0" r="r" b="b"/>
            <a:pathLst>
              <a:path w="4300" h="1" fill="none" stroke="1" extrusionOk="0">
                <a:moveTo>
                  <a:pt x="0" y="0"/>
                </a:moveTo>
                <a:lnTo>
                  <a:pt x="43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31" name="dense-to-sigmoid"/>
          <p:cNvSpPr/>
          <p:nvPr/>
        </p:nvSpPr>
        <p:spPr>
          <a:xfrm>
            <a:off x="7800975" y="1933575"/>
            <a:ext cx="200025" cy="10"/>
          </a:xfrm>
          <a:custGeom>
            <a:avLst/>
            <a:gdLst/>
            <a:ahLst/>
            <a:cxnLst/>
            <a:rect l="0" t="0" r="r" b="b"/>
            <a:pathLst>
              <a:path w="2100" h="1" fill="none" stroke="1" extrusionOk="0">
                <a:moveTo>
                  <a:pt x="0" y="0"/>
                </a:moveTo>
                <a:lnTo>
                  <a:pt x="21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32" name="sigmoid-to-output"/>
          <p:cNvSpPr/>
          <p:nvPr/>
        </p:nvSpPr>
        <p:spPr>
          <a:xfrm>
            <a:off x="8277225" y="1933575"/>
            <a:ext cx="457200" cy="10"/>
          </a:xfrm>
          <a:custGeom>
            <a:avLst/>
            <a:gdLst/>
            <a:ahLst/>
            <a:cxnLst/>
            <a:rect l="0" t="0" r="r" b="b"/>
            <a:pathLst>
              <a:path w="4800" h="1" fill="none" stroke="1" extrusionOk="0">
                <a:moveTo>
                  <a:pt x="0" y="0"/>
                </a:moveTo>
                <a:lnTo>
                  <a:pt x="48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33" name="explicit-route"/>
          <p:cNvSpPr/>
          <p:nvPr/>
        </p:nvSpPr>
        <p:spPr>
          <a:xfrm>
            <a:off x="1257300" y="2705100"/>
            <a:ext cx="3181350" cy="85725"/>
          </a:xfrm>
          <a:custGeom>
            <a:avLst/>
            <a:gdLst/>
            <a:ahLst/>
            <a:cxnLst/>
            <a:rect l="0" t="0" r="r" b="b"/>
            <a:pathLst>
              <a:path w="33400" h="900" fill="none" stroke="1" extrusionOk="0">
                <a:moveTo>
                  <a:pt x="0" y="0"/>
                </a:moveTo>
                <a:lnTo>
                  <a:pt x="0" y="900"/>
                </a:lnTo>
                <a:lnTo>
                  <a:pt x="33400" y="900"/>
                </a:lnTo>
              </a:path>
            </a:pathLst>
          </a:custGeom>
          <a:noFill/>
          <a:ln w="9525" cap="rnd">
            <a:solidFill>
              <a:srgbClr val="A28CB9"/>
            </a:solidFill>
            <a:custDash>
              <a:ds d="500000" sp="400000"/>
            </a:custDash>
            <a:round/>
            <a:tailEnd type="triangle" w="med" len="med"/>
          </a:ln>
        </p:spPr>
      </p:sp>
      <p:sp>
        <p:nvSpPr>
          <p:cNvPr id="134" name="feature-to-memory"/>
          <p:cNvSpPr/>
          <p:nvPr/>
        </p:nvSpPr>
        <p:spPr>
          <a:xfrm>
            <a:off x="2114550" y="2409825"/>
            <a:ext cx="2352675" cy="1095375"/>
          </a:xfrm>
          <a:custGeom>
            <a:avLst/>
            <a:gdLst/>
            <a:ahLst/>
            <a:cxnLst/>
            <a:rect l="0" t="0" r="r" b="b"/>
            <a:pathLst>
              <a:path w="24700" h="11500" fill="none" stroke="1" extrusionOk="0">
                <a:moveTo>
                  <a:pt x="24700" y="0"/>
                </a:moveTo>
                <a:lnTo>
                  <a:pt x="24700" y="5800"/>
                </a:lnTo>
                <a:lnTo>
                  <a:pt x="0" y="5800"/>
                </a:lnTo>
                <a:lnTo>
                  <a:pt x="0" y="11500"/>
                </a:lnTo>
                <a:lnTo>
                  <a:pt x="2600" y="1150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35" name="feature-to-product"/>
          <p:cNvSpPr/>
          <p:nvPr/>
        </p:nvSpPr>
        <p:spPr>
          <a:xfrm>
            <a:off x="5048250" y="1933575"/>
            <a:ext cx="1981200" cy="819150"/>
          </a:xfrm>
          <a:custGeom>
            <a:avLst/>
            <a:gdLst/>
            <a:ahLst/>
            <a:cxnLst/>
            <a:rect l="0" t="0" r="r" b="b"/>
            <a:pathLst>
              <a:path w="20800" h="8600" fill="none" stroke="1" extrusionOk="0">
                <a:moveTo>
                  <a:pt x="0" y="0"/>
                </a:moveTo>
                <a:lnTo>
                  <a:pt x="0" y="8600"/>
                </a:lnTo>
                <a:lnTo>
                  <a:pt x="20800" y="860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36" name="dense-guide-to-pool"/>
          <p:cNvSpPr/>
          <p:nvPr/>
        </p:nvSpPr>
        <p:spPr>
          <a:xfrm>
            <a:off x="2247900" y="2752725"/>
            <a:ext cx="2800350" cy="1447800"/>
          </a:xfrm>
          <a:custGeom>
            <a:avLst/>
            <a:gdLst/>
            <a:ahLst/>
            <a:cxnLst/>
            <a:rect l="0" t="0" r="r" b="b"/>
            <a:pathLst>
              <a:path w="29400" h="15200" fill="none" stroke="1" extrusionOk="0">
                <a:moveTo>
                  <a:pt x="29400" y="0"/>
                </a:moveTo>
                <a:lnTo>
                  <a:pt x="29400" y="3500"/>
                </a:lnTo>
                <a:lnTo>
                  <a:pt x="0" y="3500"/>
                </a:lnTo>
                <a:lnTo>
                  <a:pt x="0" y="15200"/>
                </a:lnTo>
                <a:lnTo>
                  <a:pt x="2300" y="15200"/>
                </a:lnTo>
              </a:path>
            </a:pathLst>
          </a:custGeom>
          <a:noFill/>
          <a:ln w="9525" cap="rnd">
            <a:solidFill>
              <a:srgbClr val="A28CB9"/>
            </a:solidFill>
            <a:custDash>
              <a:ds d="500000" sp="400000"/>
            </a:custDash>
            <a:round/>
            <a:tailEnd type="triangle" w="med" len="med"/>
          </a:ln>
        </p:spPr>
      </p:sp>
      <p:sp>
        <p:nvSpPr>
          <p:cNvPr id="137" name="denseguide-to-decoder"/>
          <p:cNvSpPr/>
          <p:nvPr/>
        </p:nvSpPr>
        <p:spPr>
          <a:xfrm>
            <a:off x="3952875" y="3762375"/>
            <a:ext cx="10" cy="304800"/>
          </a:xfrm>
          <a:custGeom>
            <a:avLst/>
            <a:gdLst/>
            <a:ahLst/>
            <a:cxnLst/>
            <a:rect l="0" t="0" r="r" b="b"/>
            <a:pathLst>
              <a:path w="1" h="3200" fill="none" stroke="1" extrusionOk="0">
                <a:moveTo>
                  <a:pt x="0" y="0"/>
                </a:moveTo>
                <a:lnTo>
                  <a:pt x="0" y="3200"/>
                </a:lnTo>
              </a:path>
            </a:pathLst>
          </a:custGeom>
          <a:noFill/>
          <a:ln w="9525" cap="rnd">
            <a:solidFill>
              <a:srgbClr val="A28CB9"/>
            </a:solidFill>
            <a:custDash>
              <a:ds d="500000" sp="400000"/>
            </a:custDash>
            <a:round/>
            <a:tailEnd type="triangle" w="med" len="med"/>
          </a:ln>
        </p:spPr>
      </p:sp>
      <p:sp>
        <p:nvSpPr>
          <p:cNvPr id="138" name="memory-to-pool"/>
          <p:cNvSpPr/>
          <p:nvPr/>
        </p:nvSpPr>
        <p:spPr>
          <a:xfrm>
            <a:off x="2819400" y="3762375"/>
            <a:ext cx="10" cy="285750"/>
          </a:xfrm>
          <a:custGeom>
            <a:avLst/>
            <a:gdLst/>
            <a:ahLst/>
            <a:cxnLst/>
            <a:rect l="0" t="0" r="r" b="b"/>
            <a:pathLst>
              <a:path w="1" h="3000" fill="none" stroke="1" extrusionOk="0">
                <a:moveTo>
                  <a:pt x="0" y="0"/>
                </a:moveTo>
                <a:lnTo>
                  <a:pt x="0" y="300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39" name="pool-to-cross"/>
          <p:cNvSpPr/>
          <p:nvPr/>
        </p:nvSpPr>
        <p:spPr>
          <a:xfrm>
            <a:off x="3152775" y="4200525"/>
            <a:ext cx="295275" cy="10"/>
          </a:xfrm>
          <a:custGeom>
            <a:avLst/>
            <a:gdLst/>
            <a:ahLst/>
            <a:cxnLst/>
            <a:rect l="0" t="0" r="r" b="b"/>
            <a:pathLst>
              <a:path w="3100" h="1" fill="none" stroke="1" extrusionOk="0">
                <a:moveTo>
                  <a:pt x="0" y="0"/>
                </a:moveTo>
                <a:lnTo>
                  <a:pt x="31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40" name="queries-to-pool"/>
          <p:cNvSpPr/>
          <p:nvPr/>
        </p:nvSpPr>
        <p:spPr>
          <a:xfrm>
            <a:off x="2219325" y="4448175"/>
            <a:ext cx="247650" cy="10"/>
          </a:xfrm>
          <a:custGeom>
            <a:avLst/>
            <a:gdLst/>
            <a:ahLst/>
            <a:cxnLst/>
            <a:rect l="0" t="0" r="r" b="b"/>
            <a:pathLst>
              <a:path w="2600" h="1" fill="none" stroke="1" extrusionOk="0">
                <a:moveTo>
                  <a:pt x="0" y="0"/>
                </a:moveTo>
                <a:lnTo>
                  <a:pt x="26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41" name="pool-to-cross2"/>
          <p:cNvSpPr/>
          <p:nvPr/>
        </p:nvSpPr>
        <p:spPr>
          <a:xfrm>
            <a:off x="3152775" y="4391025"/>
            <a:ext cx="295275" cy="10"/>
          </a:xfrm>
          <a:custGeom>
            <a:avLst/>
            <a:gdLst/>
            <a:ahLst/>
            <a:cxnLst/>
            <a:rect l="0" t="0" r="r" b="b"/>
            <a:pathLst>
              <a:path w="3100" h="1" fill="none" stroke="1" extrusionOk="0">
                <a:moveTo>
                  <a:pt x="0" y="0"/>
                </a:moveTo>
                <a:lnTo>
                  <a:pt x="31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42" name="q-to-embedding"/>
          <p:cNvSpPr/>
          <p:nvPr/>
        </p:nvSpPr>
        <p:spPr>
          <a:xfrm>
            <a:off x="4419600" y="3533775"/>
            <a:ext cx="685800" cy="876300"/>
          </a:xfrm>
          <a:custGeom>
            <a:avLst/>
            <a:gdLst/>
            <a:ahLst/>
            <a:cxnLst/>
            <a:rect l="0" t="0" r="r" b="b"/>
            <a:pathLst>
              <a:path w="7200" h="9200" fill="none" stroke="1" extrusionOk="0">
                <a:moveTo>
                  <a:pt x="0" y="9200"/>
                </a:moveTo>
                <a:lnTo>
                  <a:pt x="5500" y="9200"/>
                </a:lnTo>
                <a:lnTo>
                  <a:pt x="5500" y="0"/>
                </a:lnTo>
                <a:lnTo>
                  <a:pt x="72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43" name="q-to-objectness"/>
          <p:cNvSpPr/>
          <p:nvPr/>
        </p:nvSpPr>
        <p:spPr>
          <a:xfrm>
            <a:off x="4686300" y="4410075"/>
            <a:ext cx="542925" cy="409575"/>
          </a:xfrm>
          <a:custGeom>
            <a:avLst/>
            <a:gdLst/>
            <a:ahLst/>
            <a:cxnLst/>
            <a:rect l="0" t="0" r="r" b="b"/>
            <a:pathLst>
              <a:path w="5700" h="4300" fill="none" stroke="1" extrusionOk="0">
                <a:moveTo>
                  <a:pt x="0" y="0"/>
                </a:moveTo>
                <a:lnTo>
                  <a:pt x="3300" y="0"/>
                </a:lnTo>
                <a:lnTo>
                  <a:pt x="3300" y="4300"/>
                </a:lnTo>
                <a:lnTo>
                  <a:pt x="5700" y="430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44" name="q-to-quality"/>
          <p:cNvSpPr/>
          <p:nvPr/>
        </p:nvSpPr>
        <p:spPr>
          <a:xfrm>
            <a:off x="5000625" y="4819650"/>
            <a:ext cx="228600" cy="409575"/>
          </a:xfrm>
          <a:custGeom>
            <a:avLst/>
            <a:gdLst/>
            <a:ahLst/>
            <a:cxnLst/>
            <a:rect l="0" t="0" r="r" b="b"/>
            <a:pathLst>
              <a:path w="2400" h="4300" fill="none" stroke="1" extrusionOk="0">
                <a:moveTo>
                  <a:pt x="0" y="0"/>
                </a:moveTo>
                <a:lnTo>
                  <a:pt x="0" y="4300"/>
                </a:lnTo>
                <a:lnTo>
                  <a:pt x="2400" y="430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45" name="embedding-to-dot"/>
          <p:cNvSpPr/>
          <p:nvPr/>
        </p:nvSpPr>
        <p:spPr>
          <a:xfrm>
            <a:off x="5838825" y="3533775"/>
            <a:ext cx="180975" cy="10"/>
          </a:xfrm>
          <a:custGeom>
            <a:avLst/>
            <a:gdLst/>
            <a:ahLst/>
            <a:cxnLst/>
            <a:rect l="0" t="0" r="r" b="b"/>
            <a:pathLst>
              <a:path w="1900" h="1" fill="none" stroke="1" extrusionOk="0">
                <a:moveTo>
                  <a:pt x="0" y="0"/>
                </a:moveTo>
                <a:lnTo>
                  <a:pt x="19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46" name="dot-to-refiner"/>
          <p:cNvSpPr/>
          <p:nvPr/>
        </p:nvSpPr>
        <p:spPr>
          <a:xfrm>
            <a:off x="6267450" y="3533775"/>
            <a:ext cx="276225" cy="10"/>
          </a:xfrm>
          <a:custGeom>
            <a:avLst/>
            <a:gdLst/>
            <a:ahLst/>
            <a:cxnLst/>
            <a:rect l="0" t="0" r="r" b="b"/>
            <a:pathLst>
              <a:path w="2900" h="1" fill="none" stroke="1" extrusionOk="0">
                <a:moveTo>
                  <a:pt x="0" y="0"/>
                </a:moveTo>
                <a:lnTo>
                  <a:pt x="29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47" name="product-to-dot"/>
          <p:cNvSpPr/>
          <p:nvPr/>
        </p:nvSpPr>
        <p:spPr>
          <a:xfrm>
            <a:off x="6153150" y="2847975"/>
            <a:ext cx="1000125" cy="542925"/>
          </a:xfrm>
          <a:custGeom>
            <a:avLst/>
            <a:gdLst/>
            <a:ahLst/>
            <a:cxnLst/>
            <a:rect l="0" t="0" r="r" b="b"/>
            <a:pathLst>
              <a:path w="10500" h="5700" fill="none" stroke="1" extrusionOk="0">
                <a:moveTo>
                  <a:pt x="10500" y="0"/>
                </a:moveTo>
                <a:lnTo>
                  <a:pt x="10500" y="1200"/>
                </a:lnTo>
                <a:lnTo>
                  <a:pt x="0" y="1200"/>
                </a:lnTo>
                <a:lnTo>
                  <a:pt x="0" y="570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48" name="D-to-refiner"/>
          <p:cNvSpPr/>
          <p:nvPr/>
        </p:nvSpPr>
        <p:spPr>
          <a:xfrm>
            <a:off x="6334125" y="3371850"/>
            <a:ext cx="209550" cy="10"/>
          </a:xfrm>
          <a:custGeom>
            <a:avLst/>
            <a:gdLst/>
            <a:ahLst/>
            <a:cxnLst/>
            <a:rect l="0" t="0" r="r" b="b"/>
            <a:pathLst>
              <a:path w="2200" h="1" fill="none" stroke="1" extrusionOk="0">
                <a:moveTo>
                  <a:pt x="0" y="0"/>
                </a:moveTo>
                <a:lnTo>
                  <a:pt x="2200" y="0"/>
                </a:lnTo>
              </a:path>
            </a:pathLst>
          </a:custGeom>
          <a:noFill/>
          <a:ln w="9525" cap="rnd">
            <a:solidFill>
              <a:srgbClr val="A28CB9"/>
            </a:solidFill>
            <a:custDash>
              <a:ds d="500000" sp="400000"/>
            </a:custDash>
            <a:round/>
            <a:tailEnd type="triangle" w="med" len="med"/>
          </a:ln>
        </p:spPr>
      </p:sp>
      <p:sp>
        <p:nvSpPr>
          <p:cNvPr id="149" name="ink-to-refiner"/>
          <p:cNvSpPr/>
          <p:nvPr/>
        </p:nvSpPr>
        <p:spPr>
          <a:xfrm>
            <a:off x="6086475" y="3752850"/>
            <a:ext cx="457200" cy="666750"/>
          </a:xfrm>
          <a:custGeom>
            <a:avLst/>
            <a:gdLst/>
            <a:ahLst/>
            <a:cxnLst/>
            <a:rect l="0" t="0" r="r" b="b"/>
            <a:pathLst>
              <a:path w="4800" h="7000" fill="none" stroke="1" extrusionOk="0">
                <a:moveTo>
                  <a:pt x="0" y="7000"/>
                </a:moveTo>
                <a:lnTo>
                  <a:pt x="0" y="0"/>
                </a:lnTo>
                <a:lnTo>
                  <a:pt x="4800" y="0"/>
                </a:lnTo>
              </a:path>
            </a:pathLst>
          </a:custGeom>
          <a:noFill/>
          <a:ln w="9525" cap="rnd">
            <a:solidFill>
              <a:srgbClr val="A28CB9"/>
            </a:solidFill>
            <a:custDash>
              <a:ds d="500000" sp="400000"/>
            </a:custDash>
            <a:round/>
            <a:tailEnd type="triangle" w="med" len="med"/>
          </a:ln>
        </p:spPr>
      </p:sp>
      <p:sp>
        <p:nvSpPr>
          <p:cNvPr id="150" name="residual-to-plus"/>
          <p:cNvSpPr/>
          <p:nvPr/>
        </p:nvSpPr>
        <p:spPr>
          <a:xfrm>
            <a:off x="5838825" y="3629025"/>
            <a:ext cx="1085850" cy="809625"/>
          </a:xfrm>
          <a:custGeom>
            <a:avLst/>
            <a:gdLst/>
            <a:ahLst/>
            <a:cxnLst/>
            <a:rect l="0" t="0" r="r" b="b"/>
            <a:pathLst>
              <a:path w="11400" h="8500" fill="none" stroke="1" extrusionOk="0">
                <a:moveTo>
                  <a:pt x="0" y="0"/>
                </a:moveTo>
                <a:lnTo>
                  <a:pt x="1200" y="0"/>
                </a:lnTo>
                <a:lnTo>
                  <a:pt x="1200" y="8500"/>
                </a:lnTo>
                <a:lnTo>
                  <a:pt x="11400" y="850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51" name="refiner-to-plus"/>
          <p:cNvSpPr/>
          <p:nvPr/>
        </p:nvSpPr>
        <p:spPr>
          <a:xfrm>
            <a:off x="7058025" y="3971925"/>
            <a:ext cx="10" cy="323850"/>
          </a:xfrm>
          <a:custGeom>
            <a:avLst/>
            <a:gdLst/>
            <a:ahLst/>
            <a:cxnLst/>
            <a:rect l="0" t="0" r="r" b="b"/>
            <a:pathLst>
              <a:path w="1" h="3400" fill="none" stroke="1" extrusionOk="0">
                <a:moveTo>
                  <a:pt x="0" y="0"/>
                </a:moveTo>
                <a:lnTo>
                  <a:pt x="0" y="340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52" name="masks-bypass-to-plus"/>
          <p:cNvSpPr/>
          <p:nvPr/>
        </p:nvSpPr>
        <p:spPr>
          <a:xfrm>
            <a:off x="7191375" y="3533775"/>
            <a:ext cx="495300" cy="904875"/>
          </a:xfrm>
          <a:custGeom>
            <a:avLst/>
            <a:gdLst/>
            <a:ahLst/>
            <a:cxnLst/>
            <a:rect l="0" t="0" r="r" b="b"/>
            <a:pathLst>
              <a:path w="5200" h="9500" fill="none" stroke="1" extrusionOk="0">
                <a:moveTo>
                  <a:pt x="5200" y="0"/>
                </a:moveTo>
                <a:lnTo>
                  <a:pt x="5200" y="9500"/>
                </a:lnTo>
                <a:lnTo>
                  <a:pt x="0" y="950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53" name="refiner-to-masks"/>
          <p:cNvSpPr/>
          <p:nvPr/>
        </p:nvSpPr>
        <p:spPr>
          <a:xfrm>
            <a:off x="7477125" y="3533775"/>
            <a:ext cx="361950" cy="10"/>
          </a:xfrm>
          <a:custGeom>
            <a:avLst/>
            <a:gdLst/>
            <a:ahLst/>
            <a:cxnLst/>
            <a:rect l="0" t="0" r="r" b="b"/>
            <a:pathLst>
              <a:path w="3800" h="1" fill="none" stroke="1" extrusionOk="0">
                <a:moveTo>
                  <a:pt x="0" y="0"/>
                </a:moveTo>
                <a:lnTo>
                  <a:pt x="38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54" name="object-to-sigmoid"/>
          <p:cNvSpPr/>
          <p:nvPr/>
        </p:nvSpPr>
        <p:spPr>
          <a:xfrm>
            <a:off x="5924550" y="4819650"/>
            <a:ext cx="295275" cy="85725"/>
          </a:xfrm>
          <a:custGeom>
            <a:avLst/>
            <a:gdLst/>
            <a:ahLst/>
            <a:cxnLst/>
            <a:rect l="0" t="0" r="r" b="b"/>
            <a:pathLst>
              <a:path w="3100" h="900" fill="none" stroke="1" extrusionOk="0">
                <a:moveTo>
                  <a:pt x="0" y="0"/>
                </a:moveTo>
                <a:lnTo>
                  <a:pt x="3100" y="0"/>
                </a:lnTo>
                <a:lnTo>
                  <a:pt x="3100" y="90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55" name="quality-to-sigmoid"/>
          <p:cNvSpPr/>
          <p:nvPr/>
        </p:nvSpPr>
        <p:spPr>
          <a:xfrm>
            <a:off x="5924550" y="5105400"/>
            <a:ext cx="295275" cy="123825"/>
          </a:xfrm>
          <a:custGeom>
            <a:avLst/>
            <a:gdLst/>
            <a:ahLst/>
            <a:cxnLst/>
            <a:rect l="0" t="0" r="r" b="b"/>
            <a:pathLst>
              <a:path w="3100" h="1300" fill="none" stroke="1" extrusionOk="0">
                <a:moveTo>
                  <a:pt x="0" y="1300"/>
                </a:moveTo>
                <a:lnTo>
                  <a:pt x="3100" y="1300"/>
                </a:lnTo>
                <a:lnTo>
                  <a:pt x="31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56" name="sigmoid-to-score"/>
          <p:cNvSpPr/>
          <p:nvPr/>
        </p:nvSpPr>
        <p:spPr>
          <a:xfrm>
            <a:off x="6315075" y="5000625"/>
            <a:ext cx="209550" cy="10"/>
          </a:xfrm>
          <a:custGeom>
            <a:avLst/>
            <a:gdLst/>
            <a:ahLst/>
            <a:cxnLst/>
            <a:rect l="0" t="0" r="r" b="b"/>
            <a:pathLst>
              <a:path w="2200" h="1" fill="none" stroke="1" extrusionOk="0">
                <a:moveTo>
                  <a:pt x="0" y="0"/>
                </a:moveTo>
                <a:lnTo>
                  <a:pt x="22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57" name="score-to-plus"/>
          <p:cNvSpPr/>
          <p:nvPr/>
        </p:nvSpPr>
        <p:spPr>
          <a:xfrm>
            <a:off x="7058025" y="4572000"/>
            <a:ext cx="10" cy="304800"/>
          </a:xfrm>
          <a:custGeom>
            <a:avLst/>
            <a:gdLst/>
            <a:ahLst/>
            <a:cxnLst/>
            <a:rect l="0" t="0" r="r" b="b"/>
            <a:pathLst>
              <a:path w="1" h="3200" fill="none" stroke="1" extrusionOk="0">
                <a:moveTo>
                  <a:pt x="0" y="3200"/>
                </a:moveTo>
                <a:lnTo>
                  <a:pt x="0" y="0"/>
                </a:lnTo>
              </a:path>
            </a:pathLst>
          </a:custGeom>
          <a:noFill/>
          <a:ln w="9525" cap="rnd">
            <a:solidFill>
              <a:srgbClr val="A28CB9"/>
            </a:solidFill>
            <a:custDash>
              <a:ds d="500000" sp="400000"/>
            </a:custDash>
            <a:round/>
            <a:tailEnd type="triangle" w="med" len="med"/>
          </a:ln>
        </p:spPr>
      </p:sp>
      <p:sp>
        <p:nvSpPr>
          <p:cNvPr id="158" name="instances-to-union"/>
          <p:cNvSpPr/>
          <p:nvPr/>
        </p:nvSpPr>
        <p:spPr>
          <a:xfrm>
            <a:off x="9153525" y="2800350"/>
            <a:ext cx="10" cy="371475"/>
          </a:xfrm>
          <a:custGeom>
            <a:avLst/>
            <a:gdLst/>
            <a:ahLst/>
            <a:cxnLst/>
            <a:rect l="0" t="0" r="r" b="b"/>
            <a:pathLst>
              <a:path w="1" h="3900" fill="none" stroke="1" extrusionOk="0">
                <a:moveTo>
                  <a:pt x="0" y="0"/>
                </a:moveTo>
                <a:lnTo>
                  <a:pt x="0" y="390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59" name="masks-to-union"/>
          <p:cNvSpPr/>
          <p:nvPr/>
        </p:nvSpPr>
        <p:spPr>
          <a:xfrm>
            <a:off x="8477250" y="3371850"/>
            <a:ext cx="352425" cy="161925"/>
          </a:xfrm>
          <a:custGeom>
            <a:avLst/>
            <a:gdLst/>
            <a:ahLst/>
            <a:cxnLst/>
            <a:rect l="0" t="0" r="r" b="b"/>
            <a:pathLst>
              <a:path w="3700" h="1700" fill="none" stroke="1" extrusionOk="0">
                <a:moveTo>
                  <a:pt x="0" y="1700"/>
                </a:moveTo>
                <a:lnTo>
                  <a:pt x="1600" y="1700"/>
                </a:lnTo>
                <a:lnTo>
                  <a:pt x="1600" y="0"/>
                </a:lnTo>
                <a:lnTo>
                  <a:pt x="37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60" name="union-to-gate"/>
          <p:cNvSpPr/>
          <p:nvPr/>
        </p:nvSpPr>
        <p:spPr>
          <a:xfrm>
            <a:off x="8477250" y="3552825"/>
            <a:ext cx="676275" cy="1057275"/>
          </a:xfrm>
          <a:custGeom>
            <a:avLst/>
            <a:gdLst/>
            <a:ahLst/>
            <a:cxnLst/>
            <a:rect l="0" t="0" r="r" b="b"/>
            <a:pathLst>
              <a:path w="7100" h="11100" fill="none" stroke="1" extrusionOk="0">
                <a:moveTo>
                  <a:pt x="7100" y="0"/>
                </a:moveTo>
                <a:lnTo>
                  <a:pt x="7100" y="3300"/>
                </a:lnTo>
                <a:lnTo>
                  <a:pt x="0" y="3300"/>
                </a:lnTo>
                <a:lnTo>
                  <a:pt x="0" y="1110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61" name="D-to-gate"/>
          <p:cNvSpPr/>
          <p:nvPr/>
        </p:nvSpPr>
        <p:spPr>
          <a:xfrm>
            <a:off x="7953375" y="4676775"/>
            <a:ext cx="180975" cy="10"/>
          </a:xfrm>
          <a:custGeom>
            <a:avLst/>
            <a:gdLst/>
            <a:ahLst/>
            <a:cxnLst/>
            <a:rect l="0" t="0" r="r" b="b"/>
            <a:pathLst>
              <a:path w="1900" h="1" fill="none" stroke="1" extrusionOk="0">
                <a:moveTo>
                  <a:pt x="0" y="0"/>
                </a:moveTo>
                <a:lnTo>
                  <a:pt x="19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62" name="U-to-gate"/>
          <p:cNvSpPr/>
          <p:nvPr/>
        </p:nvSpPr>
        <p:spPr>
          <a:xfrm>
            <a:off x="7953375" y="4867275"/>
            <a:ext cx="180975" cy="10"/>
          </a:xfrm>
          <a:custGeom>
            <a:avLst/>
            <a:gdLst/>
            <a:ahLst/>
            <a:cxnLst/>
            <a:rect l="0" t="0" r="r" b="b"/>
            <a:pathLst>
              <a:path w="1900" h="1" fill="none" stroke="1" extrusionOk="0">
                <a:moveTo>
                  <a:pt x="0" y="0"/>
                </a:moveTo>
                <a:lnTo>
                  <a:pt x="19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63" name="DU-to-gate"/>
          <p:cNvSpPr/>
          <p:nvPr/>
        </p:nvSpPr>
        <p:spPr>
          <a:xfrm>
            <a:off x="8058150" y="5048250"/>
            <a:ext cx="76200" cy="10"/>
          </a:xfrm>
          <a:custGeom>
            <a:avLst/>
            <a:gdLst/>
            <a:ahLst/>
            <a:cxnLst/>
            <a:rect l="0" t="0" r="r" b="b"/>
            <a:pathLst>
              <a:path w="800" h="1" fill="none" stroke="1" extrusionOk="0">
                <a:moveTo>
                  <a:pt x="0" y="0"/>
                </a:moveTo>
                <a:lnTo>
                  <a:pt x="8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64" name="ink-to-gate"/>
          <p:cNvSpPr/>
          <p:nvPr/>
        </p:nvSpPr>
        <p:spPr>
          <a:xfrm>
            <a:off x="7953375" y="5238750"/>
            <a:ext cx="180975" cy="10"/>
          </a:xfrm>
          <a:custGeom>
            <a:avLst/>
            <a:gdLst/>
            <a:ahLst/>
            <a:cxnLst/>
            <a:rect l="0" t="0" r="r" b="b"/>
            <a:pathLst>
              <a:path w="1900" h="1" fill="none" stroke="1" extrusionOk="0">
                <a:moveTo>
                  <a:pt x="0" y="0"/>
                </a:moveTo>
                <a:lnTo>
                  <a:pt x="19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65" name="gate-to-output"/>
          <p:cNvSpPr/>
          <p:nvPr/>
        </p:nvSpPr>
        <p:spPr>
          <a:xfrm>
            <a:off x="8753475" y="4943475"/>
            <a:ext cx="190500" cy="10"/>
          </a:xfrm>
          <a:custGeom>
            <a:avLst/>
            <a:gdLst/>
            <a:ahLst/>
            <a:cxnLst/>
            <a:rect l="0" t="0" r="r" b="b"/>
            <a:pathLst>
              <a:path w="2000" h="1" fill="none" stroke="1" extrusionOk="0">
                <a:moveTo>
                  <a:pt x="0" y="0"/>
                </a:moveTo>
                <a:lnTo>
                  <a:pt x="2000" y="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166" name="note-to-feature"/>
          <p:cNvSpPr/>
          <p:nvPr/>
        </p:nvSpPr>
        <p:spPr>
          <a:xfrm>
            <a:off x="3238500" y="4781550"/>
            <a:ext cx="200025" cy="371475"/>
          </a:xfrm>
          <a:custGeom>
            <a:avLst/>
            <a:gdLst/>
            <a:ahLst/>
            <a:cxnLst/>
            <a:rect l="0" t="0" r="r" b="b"/>
            <a:pathLst>
              <a:path w="2100" h="3900" fill="none" stroke="1" extrusionOk="0">
                <a:moveTo>
                  <a:pt x="0" y="3900"/>
                </a:moveTo>
                <a:lnTo>
                  <a:pt x="2100" y="0"/>
                </a:lnTo>
              </a:path>
            </a:pathLst>
          </a:custGeom>
          <a:noFill/>
          <a:ln w="9525" cap="rnd">
            <a:solidFill>
              <a:srgbClr val="AACCD0"/>
            </a:solidFill>
            <a:custDash>
              <a:ds d="500000" sp="400000"/>
            </a:custDash>
            <a:round/>
            <a:tailEnd type="triangle" w="med" len="med"/>
          </a:ln>
        </p:spPr>
      </p:sp>
      <p:sp>
        <p:nvSpPr>
          <p:cNvPr id="167" name="D-feedback-to-product"/>
          <p:cNvSpPr/>
          <p:nvPr/>
        </p:nvSpPr>
        <p:spPr>
          <a:xfrm>
            <a:off x="7248525" y="1933575"/>
            <a:ext cx="1257300" cy="819150"/>
          </a:xfrm>
          <a:custGeom>
            <a:avLst/>
            <a:gdLst/>
            <a:ahLst/>
            <a:cxnLst/>
            <a:rect l="0" t="0" r="r" b="b"/>
            <a:pathLst>
              <a:path w="13200" h="8600" fill="none" stroke="1" extrusionOk="0">
                <a:moveTo>
                  <a:pt x="13200" y="0"/>
                </a:moveTo>
                <a:lnTo>
                  <a:pt x="13200" y="8600"/>
                </a:lnTo>
                <a:lnTo>
                  <a:pt x="0" y="8600"/>
                </a:lnTo>
              </a:path>
            </a:pathLst>
          </a:custGeom>
          <a:noFill/>
          <a:ln w="11906" cap="rnd">
            <a:solidFill>
              <a:srgbClr val="161719"/>
            </a:solidFill>
            <a:round/>
          </a:ln>
        </p:spPr>
      </p:sp>
      <p:grpSp>
        <p:nvGrpSpPr>
          <p:cNvPr id="168" name="projection"/>
          <p:cNvGrpSpPr/>
          <p:nvPr/>
        </p:nvGrpSpPr>
        <p:grpSpPr>
          <a:xfrm>
            <a:off x="4095750" y="1733550"/>
            <a:ext cx="704850" cy="419100"/>
            <a:chOff x="4095750" y="1733550"/>
            <a:chExt cx="704850" cy="419100"/>
          </a:xfrm>
        </p:grpSpPr>
        <p:sp>
          <p:nvSpPr>
            <p:cNvPr id="169" name="projection-face"/>
            <p:cNvSpPr/>
            <p:nvPr/>
          </p:nvSpPr>
          <p:spPr>
            <a:xfrm>
              <a:off x="4095750" y="1733550"/>
              <a:ext cx="704850" cy="419100"/>
            </a:xfrm>
            <a:custGeom>
              <a:avLst/>
              <a:gdLst/>
              <a:ahLst/>
              <a:cxnLst/>
              <a:rect l="0" t="0" r="r" b="b"/>
              <a:pathLst>
                <a:path w="7400" h="4400" fill="norm" stroke="1" extrusionOk="0">
                  <a:moveTo>
                    <a:pt x="500" y="0"/>
                  </a:moveTo>
                  <a:lnTo>
                    <a:pt x="6900" y="0"/>
                  </a:lnTo>
                  <a:cubicBezTo>
                    <a:pt x="7176" y="0"/>
                    <a:pt x="7400" y="224"/>
                    <a:pt x="7400" y="500"/>
                  </a:cubicBezTo>
                  <a:lnTo>
                    <a:pt x="7400" y="3900"/>
                  </a:lnTo>
                  <a:cubicBezTo>
                    <a:pt x="7400" y="4176"/>
                    <a:pt x="7176" y="4400"/>
                    <a:pt x="6900" y="4400"/>
                  </a:cubicBezTo>
                  <a:lnTo>
                    <a:pt x="500" y="4400"/>
                  </a:lnTo>
                  <a:cubicBezTo>
                    <a:pt x="224" y="4400"/>
                    <a:pt x="0" y="4176"/>
                    <a:pt x="0" y="3900"/>
                  </a:cubicBezTo>
                  <a:lnTo>
                    <a:pt x="0" y="500"/>
                  </a:lnTo>
                  <a:cubicBezTo>
                    <a:pt x="0" y="224"/>
                    <a:pt x="224" y="0"/>
                    <a:pt x="5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E3B7"/>
                </a:gs>
                <a:gs pos="100000">
                  <a:srgbClr val="F6D6A8"/>
                </a:gs>
              </a:gsLst>
              <a:lin ang="5400000" scaled="1"/>
            </a:gradFill>
            <a:ln w="8572" cap="flat">
              <a:solidFill>
                <a:srgbClr val="161719"/>
              </a:solidFill>
              <a:miter/>
            </a:ln>
          </p:spPr>
        </p:sp>
        <p:grpSp>
          <p:nvGrpSpPr>
            <p:cNvPr id="170" name="proj-label-text"/>
            <p:cNvGrpSpPr/>
            <p:nvPr/>
          </p:nvGrpSpPr>
          <p:grpSpPr>
            <a:xfrm>
              <a:off x="4158472" y="1777651"/>
              <a:ext cx="607981" cy="329756"/>
              <a:chOff x="4158472" y="1777651"/>
              <a:chExt cx="607981" cy="329756"/>
            </a:xfrm>
          </p:grpSpPr>
          <p:sp>
            <p:nvSpPr>
              <p:cNvPr id="21" name="proj-label-0"/>
              <p:cNvSpPr txBox="1"/>
              <p:nvPr/>
            </p:nvSpPr>
            <p:spPr>
              <a:xfrm>
                <a:off x="4249769" y="1777651"/>
                <a:ext cx="425386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Shared</a:t>
                </a:r>
                <a:endParaRPr lang="en-US"/>
              </a:p>
            </p:txBody>
          </p:sp>
          <p:sp>
            <p:nvSpPr>
              <p:cNvPr id="22" name="proj-label-1"/>
              <p:cNvSpPr txBox="1"/>
              <p:nvPr/>
            </p:nvSpPr>
            <p:spPr>
              <a:xfrm>
                <a:off x="4158472" y="1930051"/>
                <a:ext cx="607981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projection</a:t>
                </a:r>
                <a:endParaRPr lang="en-US"/>
              </a:p>
            </p:txBody>
          </p:sp>
        </p:grpSp>
      </p:grpSp>
      <p:grpSp>
        <p:nvGrpSpPr>
          <p:cNvPr id="171" name="pixel-decoder"/>
          <p:cNvGrpSpPr/>
          <p:nvPr/>
        </p:nvGrpSpPr>
        <p:grpSpPr>
          <a:xfrm>
            <a:off x="5248275" y="1152525"/>
            <a:ext cx="1390650" cy="1466850"/>
            <a:chOff x="5248275" y="1152525"/>
            <a:chExt cx="1390650" cy="1466850"/>
          </a:xfrm>
        </p:grpSpPr>
        <p:sp>
          <p:nvSpPr>
            <p:cNvPr id="172" name="pixel-decoder-face"/>
            <p:cNvSpPr/>
            <p:nvPr/>
          </p:nvSpPr>
          <p:spPr>
            <a:xfrm>
              <a:off x="5248275" y="1152525"/>
              <a:ext cx="1390650" cy="1466850"/>
            </a:xfrm>
            <a:custGeom>
              <a:avLst/>
              <a:gdLst/>
              <a:ahLst/>
              <a:cxnLst/>
              <a:rect l="0" t="0" r="r" b="b"/>
              <a:pathLst>
                <a:path w="14600" h="15400" fill="norm" stroke="1" extrusionOk="0">
                  <a:moveTo>
                    <a:pt x="800" y="0"/>
                  </a:moveTo>
                  <a:lnTo>
                    <a:pt x="13800" y="0"/>
                  </a:lnTo>
                  <a:cubicBezTo>
                    <a:pt x="14242" y="0"/>
                    <a:pt x="14600" y="358"/>
                    <a:pt x="14600" y="800"/>
                  </a:cubicBezTo>
                  <a:lnTo>
                    <a:pt x="14600" y="14600"/>
                  </a:lnTo>
                  <a:cubicBezTo>
                    <a:pt x="14600" y="15042"/>
                    <a:pt x="14242" y="15400"/>
                    <a:pt x="13800" y="15400"/>
                  </a:cubicBezTo>
                  <a:lnTo>
                    <a:pt x="800" y="15400"/>
                  </a:lnTo>
                  <a:cubicBezTo>
                    <a:pt x="358" y="15400"/>
                    <a:pt x="0" y="15042"/>
                    <a:pt x="0" y="14600"/>
                  </a:cubicBezTo>
                  <a:lnTo>
                    <a:pt x="0" y="800"/>
                  </a:lnTo>
                  <a:cubicBezTo>
                    <a:pt x="0" y="358"/>
                    <a:pt x="358" y="0"/>
                    <a:pt x="800" y="0"/>
                  </a:cubicBezTo>
                  <a:close/>
                </a:path>
              </a:pathLst>
            </a:custGeom>
            <a:solidFill>
              <a:srgbClr val="F0F0F0"/>
            </a:solidFill>
            <a:ln w="8572" cap="flat">
              <a:solidFill>
                <a:srgbClr val="161719"/>
              </a:solidFill>
              <a:miter/>
            </a:ln>
          </p:spPr>
        </p:sp>
        <p:grpSp>
          <p:nvGrpSpPr>
            <p:cNvPr id="173" name="pixel-title-text"/>
            <p:cNvGrpSpPr/>
            <p:nvPr/>
          </p:nvGrpSpPr>
          <p:grpSpPr>
            <a:xfrm>
              <a:off x="5518833" y="1196626"/>
              <a:ext cx="878110" cy="329756"/>
              <a:chOff x="5518833" y="1196626"/>
              <a:chExt cx="878110" cy="329756"/>
            </a:xfrm>
          </p:grpSpPr>
          <p:sp>
            <p:nvSpPr>
              <p:cNvPr id="24" name="pixel-title-0"/>
              <p:cNvSpPr txBox="1"/>
              <p:nvPr/>
            </p:nvSpPr>
            <p:spPr>
              <a:xfrm>
                <a:off x="5518833" y="1196626"/>
                <a:ext cx="878110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Full-resolution</a:t>
                </a:r>
                <a:endParaRPr lang="en-US"/>
              </a:p>
            </p:txBody>
          </p:sp>
          <p:sp>
            <p:nvSpPr>
              <p:cNvPr id="25" name="pixel-title-1"/>
              <p:cNvSpPr txBox="1"/>
              <p:nvPr/>
            </p:nvSpPr>
            <p:spPr>
              <a:xfrm>
                <a:off x="5556742" y="1349026"/>
                <a:ext cx="802291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pixel decoder</a:t>
                </a:r>
                <a:endParaRPr lang="en-US"/>
              </a:p>
            </p:txBody>
          </p:sp>
        </p:grpSp>
        <p:grpSp>
          <p:nvGrpSpPr>
            <p:cNvPr id="174" name="pixel-skip-text"/>
            <p:cNvGrpSpPr/>
            <p:nvPr/>
          </p:nvGrpSpPr>
          <p:grpSpPr>
            <a:xfrm>
              <a:off x="5654421" y="2281428"/>
              <a:ext cx="721233" cy="309658"/>
              <a:chOff x="5654421" y="2281428"/>
              <a:chExt cx="721233" cy="309658"/>
            </a:xfrm>
          </p:grpSpPr>
          <p:sp>
            <p:nvSpPr>
              <p:cNvPr id="27" name="pixel-skip-0"/>
              <p:cNvSpPr txBox="1"/>
              <p:nvPr/>
            </p:nvSpPr>
            <p:spPr>
              <a:xfrm>
                <a:off x="5674947" y="2281428"/>
                <a:ext cx="680180" cy="1667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Input-image</a:t>
                </a:r>
                <a:endParaRPr lang="en-US"/>
              </a:p>
            </p:txBody>
          </p:sp>
          <p:sp>
            <p:nvSpPr>
              <p:cNvPr id="28" name="pixel-skip-1"/>
              <p:cNvSpPr txBox="1"/>
              <p:nvPr/>
            </p:nvSpPr>
            <p:spPr>
              <a:xfrm>
                <a:off x="5654421" y="2424303"/>
                <a:ext cx="721233" cy="1667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skip addition</a:t>
                </a:r>
                <a:endParaRPr lang="en-US"/>
              </a:p>
            </p:txBody>
          </p:sp>
        </p:grpSp>
      </p:grpSp>
      <p:grpSp>
        <p:nvGrpSpPr>
          <p:cNvPr id="175" name="dense-head"/>
          <p:cNvGrpSpPr/>
          <p:nvPr/>
        </p:nvGrpSpPr>
        <p:grpSpPr>
          <a:xfrm>
            <a:off x="7086600" y="1581150"/>
            <a:ext cx="714375" cy="590550"/>
            <a:chOff x="7086600" y="1581150"/>
            <a:chExt cx="714375" cy="590550"/>
          </a:xfrm>
        </p:grpSpPr>
        <p:sp>
          <p:nvSpPr>
            <p:cNvPr id="176" name="dense-head-face"/>
            <p:cNvSpPr/>
            <p:nvPr/>
          </p:nvSpPr>
          <p:spPr>
            <a:xfrm>
              <a:off x="7086600" y="1581150"/>
              <a:ext cx="714375" cy="590550"/>
            </a:xfrm>
            <a:custGeom>
              <a:avLst/>
              <a:gdLst/>
              <a:ahLst/>
              <a:cxnLst/>
              <a:rect l="0" t="0" r="r" b="b"/>
              <a:pathLst>
                <a:path w="7500" h="6200" fill="norm" stroke="1" extrusionOk="0">
                  <a:moveTo>
                    <a:pt x="500" y="0"/>
                  </a:moveTo>
                  <a:lnTo>
                    <a:pt x="7000" y="0"/>
                  </a:lnTo>
                  <a:cubicBezTo>
                    <a:pt x="7276" y="0"/>
                    <a:pt x="7500" y="224"/>
                    <a:pt x="7500" y="500"/>
                  </a:cubicBezTo>
                  <a:lnTo>
                    <a:pt x="7500" y="5700"/>
                  </a:lnTo>
                  <a:cubicBezTo>
                    <a:pt x="7500" y="5976"/>
                    <a:pt x="7276" y="6200"/>
                    <a:pt x="7000" y="6200"/>
                  </a:cubicBezTo>
                  <a:lnTo>
                    <a:pt x="500" y="6200"/>
                  </a:lnTo>
                  <a:cubicBezTo>
                    <a:pt x="224" y="6200"/>
                    <a:pt x="0" y="5976"/>
                    <a:pt x="0" y="5700"/>
                  </a:cubicBezTo>
                  <a:lnTo>
                    <a:pt x="0" y="500"/>
                  </a:lnTo>
                  <a:cubicBezTo>
                    <a:pt x="0" y="224"/>
                    <a:pt x="224" y="0"/>
                    <a:pt x="5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7E3CA"/>
                </a:gs>
                <a:gs pos="100000">
                  <a:srgbClr val="D4ECD9"/>
                </a:gs>
              </a:gsLst>
              <a:lin ang="5400000" scaled="1"/>
            </a:gradFill>
            <a:ln w="8572" cap="flat">
              <a:solidFill>
                <a:srgbClr val="161719"/>
              </a:solidFill>
              <a:miter/>
            </a:ln>
          </p:spPr>
        </p:sp>
        <p:grpSp>
          <p:nvGrpSpPr>
            <p:cNvPr id="177" name="dense-label-text"/>
            <p:cNvGrpSpPr/>
            <p:nvPr/>
          </p:nvGrpSpPr>
          <p:grpSpPr>
            <a:xfrm>
              <a:off x="7170563" y="1625251"/>
              <a:ext cx="565499" cy="482156"/>
              <a:chOff x="7170563" y="1625251"/>
              <a:chExt cx="565499" cy="482156"/>
            </a:xfrm>
          </p:grpSpPr>
          <p:sp>
            <p:nvSpPr>
              <p:cNvPr id="29" name="dense-label-0"/>
              <p:cNvSpPr txBox="1"/>
              <p:nvPr/>
            </p:nvSpPr>
            <p:spPr>
              <a:xfrm>
                <a:off x="7260479" y="1625251"/>
                <a:ext cx="385667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Dense</a:t>
                </a:r>
                <a:endParaRPr lang="en-US"/>
              </a:p>
            </p:txBody>
          </p:sp>
          <p:sp>
            <p:nvSpPr>
              <p:cNvPr id="30" name="dense-label-1"/>
              <p:cNvSpPr txBox="1"/>
              <p:nvPr/>
            </p:nvSpPr>
            <p:spPr>
              <a:xfrm>
                <a:off x="7304151" y="1777651"/>
                <a:ext cx="298323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head</a:t>
                </a:r>
                <a:endParaRPr lang="en-US"/>
              </a:p>
            </p:txBody>
          </p:sp>
          <p:sp>
            <p:nvSpPr>
              <p:cNvPr id="31" name="dense-label-2"/>
              <p:cNvSpPr txBox="1"/>
              <p:nvPr/>
            </p:nvSpPr>
            <p:spPr>
              <a:xfrm>
                <a:off x="7170563" y="1930051"/>
                <a:ext cx="565499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1×1 conv</a:t>
                </a:r>
                <a:endParaRPr lang="en-US"/>
              </a:p>
            </p:txBody>
          </p:sp>
        </p:grpSp>
      </p:grpSp>
      <p:grpSp>
        <p:nvGrpSpPr>
          <p:cNvPr id="178" name="sigmoid-top"/>
          <p:cNvGrpSpPr/>
          <p:nvPr/>
        </p:nvGrpSpPr>
        <p:grpSpPr>
          <a:xfrm>
            <a:off x="8020050" y="1809750"/>
            <a:ext cx="257175" cy="247650"/>
            <a:chOff x="8020050" y="1809750"/>
            <a:chExt cx="257175" cy="247650"/>
          </a:xfrm>
        </p:grpSpPr>
        <p:sp>
          <p:nvSpPr>
            <p:cNvPr id="179" name="sigmoid-top-face"/>
            <p:cNvSpPr/>
            <p:nvPr/>
          </p:nvSpPr>
          <p:spPr>
            <a:xfrm>
              <a:off x="8020050" y="1809750"/>
              <a:ext cx="257175" cy="247650"/>
            </a:xfrm>
            <a:custGeom>
              <a:avLst/>
              <a:gdLst/>
              <a:ahLst/>
              <a:cxnLst/>
              <a:rect l="0" t="0" r="r" b="b"/>
              <a:pathLst>
                <a:path w="2700" h="2600" fill="norm" stroke="1" extrusionOk="0">
                  <a:moveTo>
                    <a:pt x="200" y="0"/>
                  </a:moveTo>
                  <a:lnTo>
                    <a:pt x="2500" y="0"/>
                  </a:lnTo>
                  <a:cubicBezTo>
                    <a:pt x="2610" y="0"/>
                    <a:pt x="2700" y="90"/>
                    <a:pt x="2700" y="200"/>
                  </a:cubicBezTo>
                  <a:lnTo>
                    <a:pt x="2700" y="2400"/>
                  </a:lnTo>
                  <a:cubicBezTo>
                    <a:pt x="2700" y="2510"/>
                    <a:pt x="2610" y="2600"/>
                    <a:pt x="2500" y="2600"/>
                  </a:cubicBezTo>
                  <a:lnTo>
                    <a:pt x="200" y="2600"/>
                  </a:lnTo>
                  <a:cubicBezTo>
                    <a:pt x="90" y="2600"/>
                    <a:pt x="0" y="2510"/>
                    <a:pt x="0" y="2400"/>
                  </a:cubicBezTo>
                  <a:lnTo>
                    <a:pt x="0" y="200"/>
                  </a:lnTo>
                  <a:cubicBezTo>
                    <a:pt x="0" y="90"/>
                    <a:pt x="90" y="0"/>
                    <a:pt x="200" y="0"/>
                  </a:cubicBezTo>
                  <a:close/>
                </a:path>
              </a:pathLst>
            </a:custGeom>
            <a:solidFill>
              <a:srgbClr val="D9D9E4"/>
            </a:solidFill>
            <a:ln w="8572" cap="flat">
              <a:solidFill>
                <a:srgbClr val="161719"/>
              </a:solidFill>
              <a:miter/>
            </a:ln>
          </p:spPr>
        </p:sp>
      </p:grpSp>
      <p:grpSp>
        <p:nvGrpSpPr>
          <p:cNvPr id="180" name="dense-memory"/>
          <p:cNvGrpSpPr/>
          <p:nvPr/>
        </p:nvGrpSpPr>
        <p:grpSpPr>
          <a:xfrm>
            <a:off x="2390775" y="3238500"/>
            <a:ext cx="2114550" cy="523875"/>
            <a:chOff x="2390775" y="3238500"/>
            <a:chExt cx="2114550" cy="523875"/>
          </a:xfrm>
        </p:grpSpPr>
        <p:sp>
          <p:nvSpPr>
            <p:cNvPr id="181" name="dense-memory-face"/>
            <p:cNvSpPr/>
            <p:nvPr/>
          </p:nvSpPr>
          <p:spPr>
            <a:xfrm>
              <a:off x="2390775" y="3238500"/>
              <a:ext cx="2114550" cy="523875"/>
            </a:xfrm>
            <a:custGeom>
              <a:avLst/>
              <a:gdLst/>
              <a:ahLst/>
              <a:cxnLst/>
              <a:rect l="0" t="0" r="r" b="b"/>
              <a:pathLst>
                <a:path w="22200" h="5500" fill="norm" stroke="1" extrusionOk="0">
                  <a:moveTo>
                    <a:pt x="600" y="0"/>
                  </a:moveTo>
                  <a:lnTo>
                    <a:pt x="21600" y="0"/>
                  </a:lnTo>
                  <a:cubicBezTo>
                    <a:pt x="21931" y="0"/>
                    <a:pt x="22200" y="269"/>
                    <a:pt x="22200" y="600"/>
                  </a:cubicBezTo>
                  <a:lnTo>
                    <a:pt x="22200" y="4900"/>
                  </a:lnTo>
                  <a:cubicBezTo>
                    <a:pt x="22200" y="5231"/>
                    <a:pt x="21931" y="5500"/>
                    <a:pt x="21600" y="5500"/>
                  </a:cubicBezTo>
                  <a:lnTo>
                    <a:pt x="600" y="5500"/>
                  </a:lnTo>
                  <a:cubicBezTo>
                    <a:pt x="269" y="5500"/>
                    <a:pt x="0" y="5231"/>
                    <a:pt x="0" y="4900"/>
                  </a:cubicBezTo>
                  <a:lnTo>
                    <a:pt x="0" y="600"/>
                  </a:lnTo>
                  <a:cubicBezTo>
                    <a:pt x="0" y="269"/>
                    <a:pt x="269" y="0"/>
                    <a:pt x="6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2CBDF"/>
                </a:gs>
                <a:gs pos="100000">
                  <a:srgbClr val="E5DCEC"/>
                </a:gs>
              </a:gsLst>
              <a:lin ang="5400000" scaled="1"/>
            </a:gradFill>
            <a:ln w="8572" cap="flat">
              <a:solidFill>
                <a:srgbClr val="161719"/>
              </a:solidFill>
              <a:miter/>
            </a:ln>
          </p:spPr>
        </p:sp>
        <p:grpSp>
          <p:nvGrpSpPr>
            <p:cNvPr id="182" name="memory-label-text"/>
            <p:cNvGrpSpPr/>
            <p:nvPr/>
          </p:nvGrpSpPr>
          <p:grpSpPr>
            <a:xfrm>
              <a:off x="2751820" y="3283648"/>
              <a:ext cx="1421035" cy="187928"/>
              <a:chOff x="2751820" y="3283648"/>
              <a:chExt cx="1421035" cy="187928"/>
            </a:xfrm>
          </p:grpSpPr>
          <p:sp>
            <p:nvSpPr>
              <p:cNvPr id="34" name="memory-label-0"/>
              <p:cNvSpPr txBox="1"/>
              <p:nvPr/>
            </p:nvSpPr>
            <p:spPr>
              <a:xfrm>
                <a:off x="2751820" y="3283648"/>
                <a:ext cx="1421035" cy="187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Dense-guided memory</a:t>
                </a:r>
                <a:endParaRPr lang="en-US"/>
              </a:p>
            </p:txBody>
          </p:sp>
        </p:grpSp>
        <p:grpSp>
          <p:nvGrpSpPr>
            <p:cNvPr id="183" name="memory-formula"/>
            <p:cNvGrpSpPr/>
            <p:nvPr/>
          </p:nvGrpSpPr>
          <p:grpSpPr>
            <a:xfrm>
              <a:off x="2571750" y="3512248"/>
              <a:ext cx="1804797" cy="187928"/>
              <a:chOff x="2571750" y="3512248"/>
              <a:chExt cx="1804797" cy="187928"/>
            </a:xfrm>
          </p:grpSpPr>
          <p:sp>
            <p:nvSpPr>
              <p:cNvPr id="90" name="memory-formula-0"/>
              <p:cNvSpPr txBox="1"/>
              <p:nvPr/>
            </p:nvSpPr>
            <p:spPr>
              <a:xfrm>
                <a:off x="2571750" y="3512248"/>
                <a:ext cx="1804797" cy="187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b="0" i="1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F′ = F ⊙ (1 + αD↓) + B(D↓)</a:t>
                </a:r>
                <a:endParaRPr lang="en-US"/>
              </a:p>
            </p:txBody>
          </p:sp>
        </p:grpSp>
      </p:grpSp>
      <p:grpSp>
        <p:nvGrpSpPr>
          <p:cNvPr id="184" name="avgpool"/>
          <p:cNvGrpSpPr/>
          <p:nvPr/>
        </p:nvGrpSpPr>
        <p:grpSpPr>
          <a:xfrm>
            <a:off x="2495550" y="4067175"/>
            <a:ext cx="647700" cy="516731"/>
            <a:chOff x="2495550" y="4067175"/>
            <a:chExt cx="647700" cy="516731"/>
          </a:xfrm>
        </p:grpSpPr>
        <p:sp>
          <p:nvSpPr>
            <p:cNvPr id="185" name="avgpool-face"/>
            <p:cNvSpPr/>
            <p:nvPr/>
          </p:nvSpPr>
          <p:spPr>
            <a:xfrm>
              <a:off x="2495550" y="4067175"/>
              <a:ext cx="647700" cy="504825"/>
            </a:xfrm>
            <a:custGeom>
              <a:avLst/>
              <a:gdLst/>
              <a:ahLst/>
              <a:cxnLst/>
              <a:rect l="0" t="0" r="r" b="b"/>
              <a:pathLst>
                <a:path w="6800" h="5300" fill="norm" stroke="1" extrusionOk="0">
                  <a:moveTo>
                    <a:pt x="500" y="0"/>
                  </a:moveTo>
                  <a:lnTo>
                    <a:pt x="6300" y="0"/>
                  </a:lnTo>
                  <a:cubicBezTo>
                    <a:pt x="6576" y="0"/>
                    <a:pt x="6800" y="224"/>
                    <a:pt x="6800" y="500"/>
                  </a:cubicBezTo>
                  <a:lnTo>
                    <a:pt x="6800" y="4800"/>
                  </a:lnTo>
                  <a:cubicBezTo>
                    <a:pt x="6800" y="5076"/>
                    <a:pt x="6576" y="5300"/>
                    <a:pt x="6300" y="5300"/>
                  </a:cubicBezTo>
                  <a:lnTo>
                    <a:pt x="500" y="5300"/>
                  </a:lnTo>
                  <a:cubicBezTo>
                    <a:pt x="224" y="5300"/>
                    <a:pt x="0" y="5076"/>
                    <a:pt x="0" y="4800"/>
                  </a:cubicBezTo>
                  <a:lnTo>
                    <a:pt x="0" y="500"/>
                  </a:lnTo>
                  <a:cubicBezTo>
                    <a:pt x="0" y="224"/>
                    <a:pt x="224" y="0"/>
                    <a:pt x="500" y="0"/>
                  </a:cubicBezTo>
                  <a:close/>
                </a:path>
              </a:pathLst>
            </a:custGeom>
            <a:solidFill>
              <a:srgbClr val="F8EBBE"/>
            </a:solidFill>
            <a:ln w="8572" cap="flat">
              <a:solidFill>
                <a:srgbClr val="161719"/>
              </a:solidFill>
              <a:miter/>
            </a:ln>
          </p:spPr>
        </p:sp>
        <p:grpSp>
          <p:nvGrpSpPr>
            <p:cNvPr id="186" name="pool-label-text"/>
            <p:cNvGrpSpPr/>
            <p:nvPr/>
          </p:nvGrpSpPr>
          <p:grpSpPr>
            <a:xfrm>
              <a:off x="2555926" y="4101751"/>
              <a:ext cx="536473" cy="482156"/>
              <a:chOff x="2555926" y="4101751"/>
              <a:chExt cx="536473" cy="482156"/>
            </a:xfrm>
          </p:grpSpPr>
          <p:sp>
            <p:nvSpPr>
              <p:cNvPr id="36" name="pool-label-0"/>
              <p:cNvSpPr txBox="1"/>
              <p:nvPr/>
            </p:nvSpPr>
            <p:spPr>
              <a:xfrm>
                <a:off x="2555926" y="4101751"/>
                <a:ext cx="536473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AvgPool</a:t>
                </a:r>
                <a:endParaRPr lang="en-US"/>
              </a:p>
            </p:txBody>
          </p:sp>
          <p:sp>
            <p:nvSpPr>
              <p:cNvPr id="37" name="pool-label-1"/>
              <p:cNvSpPr txBox="1"/>
              <p:nvPr/>
            </p:nvSpPr>
            <p:spPr>
              <a:xfrm>
                <a:off x="2675715" y="4254151"/>
                <a:ext cx="296894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×2 +</a:t>
                </a:r>
                <a:endParaRPr lang="en-US"/>
              </a:p>
            </p:txBody>
          </p:sp>
          <p:sp>
            <p:nvSpPr>
              <p:cNvPr id="38" name="pool-label-2"/>
              <p:cNvSpPr txBox="1"/>
              <p:nvPr/>
            </p:nvSpPr>
            <p:spPr>
              <a:xfrm>
                <a:off x="2611422" y="4406551"/>
                <a:ext cx="425482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Flatten</a:t>
                </a:r>
                <a:endParaRPr lang="en-US"/>
              </a:p>
            </p:txBody>
          </p:sp>
        </p:grpSp>
      </p:grpSp>
      <p:grpSp>
        <p:nvGrpSpPr>
          <p:cNvPr id="187" name="embedding"/>
          <p:cNvGrpSpPr/>
          <p:nvPr/>
        </p:nvGrpSpPr>
        <p:grpSpPr>
          <a:xfrm>
            <a:off x="5133975" y="3257550"/>
            <a:ext cx="704850" cy="514350"/>
            <a:chOff x="5133975" y="3257550"/>
            <a:chExt cx="704850" cy="514350"/>
          </a:xfrm>
        </p:grpSpPr>
        <p:sp>
          <p:nvSpPr>
            <p:cNvPr id="188" name="embedding-face"/>
            <p:cNvSpPr/>
            <p:nvPr/>
          </p:nvSpPr>
          <p:spPr>
            <a:xfrm>
              <a:off x="5133975" y="3257550"/>
              <a:ext cx="704850" cy="514350"/>
            </a:xfrm>
            <a:custGeom>
              <a:avLst/>
              <a:gdLst/>
              <a:ahLst/>
              <a:cxnLst/>
              <a:rect l="0" t="0" r="r" b="b"/>
              <a:pathLst>
                <a:path w="7400" h="5400" fill="norm" stroke="1" extrusionOk="0">
                  <a:moveTo>
                    <a:pt x="500" y="0"/>
                  </a:moveTo>
                  <a:lnTo>
                    <a:pt x="6900" y="0"/>
                  </a:lnTo>
                  <a:cubicBezTo>
                    <a:pt x="7176" y="0"/>
                    <a:pt x="7400" y="224"/>
                    <a:pt x="7400" y="500"/>
                  </a:cubicBezTo>
                  <a:lnTo>
                    <a:pt x="7400" y="4900"/>
                  </a:lnTo>
                  <a:cubicBezTo>
                    <a:pt x="7400" y="5176"/>
                    <a:pt x="7176" y="5400"/>
                    <a:pt x="6900" y="5400"/>
                  </a:cubicBezTo>
                  <a:lnTo>
                    <a:pt x="500" y="5400"/>
                  </a:lnTo>
                  <a:cubicBezTo>
                    <a:pt x="224" y="5400"/>
                    <a:pt x="0" y="5176"/>
                    <a:pt x="0" y="4900"/>
                  </a:cubicBezTo>
                  <a:lnTo>
                    <a:pt x="0" y="500"/>
                  </a:lnTo>
                  <a:cubicBezTo>
                    <a:pt x="0" y="224"/>
                    <a:pt x="224" y="0"/>
                    <a:pt x="500" y="0"/>
                  </a:cubicBezTo>
                  <a:close/>
                </a:path>
              </a:pathLst>
            </a:custGeom>
            <a:solidFill>
              <a:srgbClr val="F8EBBE"/>
            </a:solidFill>
            <a:ln w="8572" cap="flat">
              <a:solidFill>
                <a:srgbClr val="161719"/>
              </a:solidFill>
              <a:miter/>
            </a:ln>
          </p:spPr>
        </p:sp>
        <p:grpSp>
          <p:nvGrpSpPr>
            <p:cNvPr id="189" name="embedding-label-text"/>
            <p:cNvGrpSpPr/>
            <p:nvPr/>
          </p:nvGrpSpPr>
          <p:grpSpPr>
            <a:xfrm>
              <a:off x="5159407" y="3282601"/>
              <a:ext cx="663511" cy="482156"/>
              <a:chOff x="5159407" y="3282601"/>
              <a:chExt cx="663511" cy="482156"/>
            </a:xfrm>
          </p:grpSpPr>
          <p:sp>
            <p:nvSpPr>
              <p:cNvPr id="51" name="embedding-label-0"/>
              <p:cNvSpPr txBox="1"/>
              <p:nvPr/>
            </p:nvSpPr>
            <p:spPr>
              <a:xfrm>
                <a:off x="5318093" y="3282601"/>
                <a:ext cx="346139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Mask</a:t>
                </a:r>
                <a:endParaRPr lang="en-US"/>
              </a:p>
            </p:txBody>
          </p:sp>
          <p:sp>
            <p:nvSpPr>
              <p:cNvPr id="52" name="embedding-label-1"/>
              <p:cNvSpPr txBox="1"/>
              <p:nvPr/>
            </p:nvSpPr>
            <p:spPr>
              <a:xfrm>
                <a:off x="5159407" y="3435001"/>
                <a:ext cx="663512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embedding</a:t>
                </a:r>
                <a:endParaRPr lang="en-US"/>
              </a:p>
            </p:txBody>
          </p:sp>
          <p:sp>
            <p:nvSpPr>
              <p:cNvPr id="53" name="embedding-label-2"/>
              <p:cNvSpPr txBox="1"/>
              <p:nvPr/>
            </p:nvSpPr>
            <p:spPr>
              <a:xfrm>
                <a:off x="5330000" y="3587401"/>
                <a:ext cx="322326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MLP</a:t>
                </a:r>
                <a:endParaRPr lang="en-US"/>
              </a:p>
            </p:txBody>
          </p:sp>
        </p:grpSp>
      </p:grpSp>
      <p:grpSp>
        <p:nvGrpSpPr>
          <p:cNvPr id="190" name="objectness-box"/>
          <p:cNvGrpSpPr/>
          <p:nvPr/>
        </p:nvGrpSpPr>
        <p:grpSpPr>
          <a:xfrm>
            <a:off x="5248275" y="4686300"/>
            <a:ext cx="676275" cy="266700"/>
            <a:chOff x="5248275" y="4686300"/>
            <a:chExt cx="676275" cy="266700"/>
          </a:xfrm>
        </p:grpSpPr>
        <p:sp>
          <p:nvSpPr>
            <p:cNvPr id="191" name="objectness-box-face"/>
            <p:cNvSpPr/>
            <p:nvPr/>
          </p:nvSpPr>
          <p:spPr>
            <a:xfrm>
              <a:off x="5248275" y="4686300"/>
              <a:ext cx="676275" cy="266700"/>
            </a:xfrm>
            <a:custGeom>
              <a:avLst/>
              <a:gdLst/>
              <a:ahLst/>
              <a:cxnLst/>
              <a:rect l="0" t="0" r="r" b="b"/>
              <a:pathLst>
                <a:path w="7100" h="2800" fill="norm" stroke="1" extrusionOk="0">
                  <a:moveTo>
                    <a:pt x="500" y="0"/>
                  </a:moveTo>
                  <a:lnTo>
                    <a:pt x="6600" y="0"/>
                  </a:lnTo>
                  <a:cubicBezTo>
                    <a:pt x="6876" y="0"/>
                    <a:pt x="7100" y="224"/>
                    <a:pt x="7100" y="500"/>
                  </a:cubicBezTo>
                  <a:lnTo>
                    <a:pt x="7100" y="2300"/>
                  </a:lnTo>
                  <a:cubicBezTo>
                    <a:pt x="7100" y="2576"/>
                    <a:pt x="6876" y="2800"/>
                    <a:pt x="6600" y="2800"/>
                  </a:cubicBezTo>
                  <a:lnTo>
                    <a:pt x="500" y="2800"/>
                  </a:lnTo>
                  <a:cubicBezTo>
                    <a:pt x="224" y="2800"/>
                    <a:pt x="0" y="2576"/>
                    <a:pt x="0" y="2300"/>
                  </a:cubicBezTo>
                  <a:lnTo>
                    <a:pt x="0" y="500"/>
                  </a:lnTo>
                  <a:cubicBezTo>
                    <a:pt x="0" y="224"/>
                    <a:pt x="224" y="0"/>
                    <a:pt x="5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E3B7"/>
                </a:gs>
                <a:gs pos="100000">
                  <a:srgbClr val="F6D6A8"/>
                </a:gs>
              </a:gsLst>
              <a:lin ang="5400000" scaled="1"/>
            </a:gradFill>
            <a:ln w="8572" cap="flat">
              <a:solidFill>
                <a:srgbClr val="161719"/>
              </a:solidFill>
              <a:miter/>
            </a:ln>
          </p:spPr>
        </p:sp>
        <p:grpSp>
          <p:nvGrpSpPr>
            <p:cNvPr id="192" name="objectness-text"/>
            <p:cNvGrpSpPr/>
            <p:nvPr/>
          </p:nvGrpSpPr>
          <p:grpSpPr>
            <a:xfrm>
              <a:off x="5289137" y="4748403"/>
              <a:ext cx="613600" cy="166783"/>
              <a:chOff x="5289137" y="4748403"/>
              <a:chExt cx="613600" cy="166783"/>
            </a:xfrm>
          </p:grpSpPr>
          <p:sp>
            <p:nvSpPr>
              <p:cNvPr id="63" name="objectness-0"/>
              <p:cNvSpPr txBox="1"/>
              <p:nvPr/>
            </p:nvSpPr>
            <p:spPr>
              <a:xfrm>
                <a:off x="5289137" y="4748403"/>
                <a:ext cx="613600" cy="1667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Objectness</a:t>
                </a:r>
                <a:endParaRPr lang="en-US"/>
              </a:p>
            </p:txBody>
          </p:sp>
        </p:grpSp>
      </p:grpSp>
      <p:grpSp>
        <p:nvGrpSpPr>
          <p:cNvPr id="193" name="quality-box"/>
          <p:cNvGrpSpPr/>
          <p:nvPr/>
        </p:nvGrpSpPr>
        <p:grpSpPr>
          <a:xfrm>
            <a:off x="5248275" y="5086350"/>
            <a:ext cx="676275" cy="276225"/>
            <a:chOff x="5248275" y="5086350"/>
            <a:chExt cx="676275" cy="276225"/>
          </a:xfrm>
        </p:grpSpPr>
        <p:sp>
          <p:nvSpPr>
            <p:cNvPr id="194" name="quality-box-face"/>
            <p:cNvSpPr/>
            <p:nvPr/>
          </p:nvSpPr>
          <p:spPr>
            <a:xfrm>
              <a:off x="5248275" y="5086350"/>
              <a:ext cx="676275" cy="276225"/>
            </a:xfrm>
            <a:custGeom>
              <a:avLst/>
              <a:gdLst/>
              <a:ahLst/>
              <a:cxnLst/>
              <a:rect l="0" t="0" r="r" b="b"/>
              <a:pathLst>
                <a:path w="7100" h="2900" fill="norm" stroke="1" extrusionOk="0">
                  <a:moveTo>
                    <a:pt x="500" y="0"/>
                  </a:moveTo>
                  <a:lnTo>
                    <a:pt x="6600" y="0"/>
                  </a:lnTo>
                  <a:cubicBezTo>
                    <a:pt x="6876" y="0"/>
                    <a:pt x="7100" y="224"/>
                    <a:pt x="7100" y="500"/>
                  </a:cubicBezTo>
                  <a:lnTo>
                    <a:pt x="7100" y="2400"/>
                  </a:lnTo>
                  <a:cubicBezTo>
                    <a:pt x="7100" y="2676"/>
                    <a:pt x="6876" y="2900"/>
                    <a:pt x="6600" y="2900"/>
                  </a:cubicBezTo>
                  <a:lnTo>
                    <a:pt x="500" y="2900"/>
                  </a:lnTo>
                  <a:cubicBezTo>
                    <a:pt x="224" y="2900"/>
                    <a:pt x="0" y="2676"/>
                    <a:pt x="0" y="2400"/>
                  </a:cubicBezTo>
                  <a:lnTo>
                    <a:pt x="0" y="500"/>
                  </a:lnTo>
                  <a:cubicBezTo>
                    <a:pt x="0" y="224"/>
                    <a:pt x="224" y="0"/>
                    <a:pt x="5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E3B7"/>
                </a:gs>
                <a:gs pos="100000">
                  <a:srgbClr val="F6D6A8"/>
                </a:gs>
              </a:gsLst>
              <a:lin ang="5400000" scaled="1"/>
            </a:gradFill>
            <a:ln w="8572" cap="flat">
              <a:solidFill>
                <a:srgbClr val="161719"/>
              </a:solidFill>
              <a:miter/>
            </a:ln>
          </p:spPr>
        </p:sp>
        <p:grpSp>
          <p:nvGrpSpPr>
            <p:cNvPr id="195" name="quality-text"/>
            <p:cNvGrpSpPr/>
            <p:nvPr/>
          </p:nvGrpSpPr>
          <p:grpSpPr>
            <a:xfrm>
              <a:off x="5367338" y="5149501"/>
              <a:ext cx="457200" cy="177356"/>
              <a:chOff x="5367338" y="5149501"/>
              <a:chExt cx="457200" cy="177356"/>
            </a:xfrm>
          </p:grpSpPr>
          <p:sp>
            <p:nvSpPr>
              <p:cNvPr id="64" name="quality-0"/>
              <p:cNvSpPr txBox="1"/>
              <p:nvPr/>
            </p:nvSpPr>
            <p:spPr>
              <a:xfrm>
                <a:off x="5367338" y="5149501"/>
                <a:ext cx="457200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Quality</a:t>
                </a:r>
                <a:endParaRPr lang="en-US"/>
              </a:p>
            </p:txBody>
          </p:sp>
        </p:grpSp>
      </p:grpSp>
      <p:grpSp>
        <p:nvGrpSpPr>
          <p:cNvPr id="196" name="sigmoid-score"/>
          <p:cNvGrpSpPr/>
          <p:nvPr/>
        </p:nvGrpSpPr>
        <p:grpSpPr>
          <a:xfrm>
            <a:off x="6134100" y="4905375"/>
            <a:ext cx="180975" cy="180975"/>
            <a:chOff x="6134100" y="4905375"/>
            <a:chExt cx="180975" cy="180975"/>
          </a:xfrm>
        </p:grpSpPr>
        <p:sp>
          <p:nvSpPr>
            <p:cNvPr id="197" name="sigmoid-score-face"/>
            <p:cNvSpPr/>
            <p:nvPr/>
          </p:nvSpPr>
          <p:spPr>
            <a:xfrm>
              <a:off x="6134100" y="4905375"/>
              <a:ext cx="180975" cy="180975"/>
            </a:xfrm>
            <a:prstGeom prst="rect">
              <a:avLst/>
            </a:prstGeom>
            <a:solidFill>
              <a:srgbClr val="D9D9E4"/>
            </a:solidFill>
            <a:ln w="8572" cap="flat">
              <a:solidFill>
                <a:srgbClr val="161719"/>
              </a:solidFill>
              <a:miter/>
            </a:ln>
          </p:spPr>
        </p:sp>
      </p:grpSp>
      <p:grpSp>
        <p:nvGrpSpPr>
          <p:cNvPr id="198" name="score-box"/>
          <p:cNvGrpSpPr/>
          <p:nvPr/>
        </p:nvGrpSpPr>
        <p:grpSpPr>
          <a:xfrm>
            <a:off x="6543675" y="4886325"/>
            <a:ext cx="1038225" cy="228600"/>
            <a:chOff x="6543675" y="4886325"/>
            <a:chExt cx="1038225" cy="228600"/>
          </a:xfrm>
        </p:grpSpPr>
        <p:sp>
          <p:nvSpPr>
            <p:cNvPr id="199" name="score-box-face"/>
            <p:cNvSpPr/>
            <p:nvPr/>
          </p:nvSpPr>
          <p:spPr>
            <a:xfrm>
              <a:off x="6543675" y="4886325"/>
              <a:ext cx="1038225" cy="228600"/>
            </a:xfrm>
            <a:custGeom>
              <a:avLst/>
              <a:gdLst/>
              <a:ahLst/>
              <a:cxnLst/>
              <a:rect l="0" t="0" r="r" b="b"/>
              <a:pathLst>
                <a:path w="10900" h="2400" fill="norm" stroke="1" extrusionOk="0">
                  <a:moveTo>
                    <a:pt x="400" y="0"/>
                  </a:moveTo>
                  <a:lnTo>
                    <a:pt x="10500" y="0"/>
                  </a:lnTo>
                  <a:cubicBezTo>
                    <a:pt x="10721" y="0"/>
                    <a:pt x="10900" y="179"/>
                    <a:pt x="10900" y="400"/>
                  </a:cubicBezTo>
                  <a:lnTo>
                    <a:pt x="10900" y="2000"/>
                  </a:lnTo>
                  <a:cubicBezTo>
                    <a:pt x="10900" y="2221"/>
                    <a:pt x="10721" y="2400"/>
                    <a:pt x="10500" y="2400"/>
                  </a:cubicBezTo>
                  <a:lnTo>
                    <a:pt x="400" y="2400"/>
                  </a:lnTo>
                  <a:cubicBezTo>
                    <a:pt x="179" y="2400"/>
                    <a:pt x="0" y="2221"/>
                    <a:pt x="0" y="2000"/>
                  </a:cubicBezTo>
                  <a:lnTo>
                    <a:pt x="0" y="400"/>
                  </a:lnTo>
                  <a:cubicBezTo>
                    <a:pt x="0" y="179"/>
                    <a:pt x="179" y="0"/>
                    <a:pt x="400" y="0"/>
                  </a:cubicBezTo>
                  <a:close/>
                </a:path>
              </a:pathLst>
            </a:custGeom>
            <a:solidFill>
              <a:srgbClr val="E9E7EB"/>
            </a:solidFill>
            <a:ln w="8572" cap="flat">
              <a:solidFill>
                <a:srgbClr val="161719"/>
              </a:solidFill>
              <a:miter/>
            </a:ln>
          </p:spPr>
        </p:sp>
        <p:grpSp>
          <p:nvGrpSpPr>
            <p:cNvPr id="200" name="score"/>
            <p:cNvGrpSpPr/>
            <p:nvPr/>
          </p:nvGrpSpPr>
          <p:grpSpPr>
            <a:xfrm>
              <a:off x="6619875" y="4919853"/>
              <a:ext cx="904780" cy="190024"/>
              <a:chOff x="6619875" y="4919853"/>
              <a:chExt cx="904780" cy="190024"/>
            </a:xfrm>
          </p:grpSpPr>
          <p:sp>
            <p:nvSpPr>
              <p:cNvPr id="107" name="score-0"/>
              <p:cNvSpPr txBox="1"/>
              <p:nvPr/>
            </p:nvSpPr>
            <p:spPr>
              <a:xfrm>
                <a:off x="6619875" y="4921948"/>
                <a:ext cx="228886" cy="187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b="0" i="1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s =</a:t>
                </a:r>
                <a:endParaRPr lang="en-US"/>
              </a:p>
            </p:txBody>
          </p:sp>
          <p:sp>
            <p:nvSpPr>
              <p:cNvPr id="108" name="score-1"/>
              <p:cNvSpPr txBox="1"/>
              <p:nvPr/>
            </p:nvSpPr>
            <p:spPr>
              <a:xfrm>
                <a:off x="6915150" y="4919853"/>
                <a:ext cx="95250" cy="1667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i="1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p</a:t>
                </a:r>
                <a:endParaRPr lang="en-US"/>
              </a:p>
            </p:txBody>
          </p:sp>
          <p:sp>
            <p:nvSpPr>
              <p:cNvPr id="109" name="score-2"/>
              <p:cNvSpPr txBox="1"/>
              <p:nvPr/>
            </p:nvSpPr>
            <p:spPr>
              <a:xfrm>
                <a:off x="6981825" y="4990910"/>
                <a:ext cx="138112" cy="1140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67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obj</a:t>
                </a:r>
                <a:endParaRPr lang="en-US"/>
              </a:p>
            </p:txBody>
          </p:sp>
          <p:sp>
            <p:nvSpPr>
              <p:cNvPr id="110" name="score-3"/>
              <p:cNvSpPr txBox="1"/>
              <p:nvPr/>
            </p:nvSpPr>
            <p:spPr>
              <a:xfrm>
                <a:off x="7124700" y="4929378"/>
                <a:ext cx="72962" cy="1667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·</a:t>
                </a:r>
                <a:endParaRPr lang="en-US"/>
              </a:p>
            </p:txBody>
          </p:sp>
          <p:sp>
            <p:nvSpPr>
              <p:cNvPr id="111" name="score-4"/>
              <p:cNvSpPr txBox="1"/>
              <p:nvPr/>
            </p:nvSpPr>
            <p:spPr>
              <a:xfrm>
                <a:off x="7191375" y="4919853"/>
                <a:ext cx="95250" cy="1667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i="1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p</a:t>
                </a:r>
                <a:endParaRPr lang="en-US"/>
              </a:p>
            </p:txBody>
          </p:sp>
          <p:sp>
            <p:nvSpPr>
              <p:cNvPr id="112" name="score-5"/>
              <p:cNvSpPr txBox="1"/>
              <p:nvPr/>
            </p:nvSpPr>
            <p:spPr>
              <a:xfrm>
                <a:off x="7258050" y="4990910"/>
                <a:ext cx="266605" cy="1140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67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quality</a:t>
                </a:r>
                <a:endParaRPr lang="en-US"/>
              </a:p>
            </p:txBody>
          </p:sp>
        </p:grpSp>
        <p:sp>
          <p:nvSpPr>
            <p:cNvPr id="201" name="score-radical"/>
            <p:cNvSpPr/>
            <p:nvPr/>
          </p:nvSpPr>
          <p:spPr>
            <a:xfrm>
              <a:off x="6829425" y="4933950"/>
              <a:ext cx="695325" cy="133350"/>
            </a:xfrm>
            <a:custGeom>
              <a:avLst/>
              <a:gdLst/>
              <a:ahLst/>
              <a:cxnLst/>
              <a:rect l="0" t="0" r="r" b="b"/>
              <a:pathLst>
                <a:path w="7300" h="1400" fill="none" stroke="1" extrusionOk="0">
                  <a:moveTo>
                    <a:pt x="0" y="700"/>
                  </a:moveTo>
                  <a:lnTo>
                    <a:pt x="300" y="1400"/>
                  </a:lnTo>
                  <a:lnTo>
                    <a:pt x="800" y="0"/>
                  </a:lnTo>
                  <a:lnTo>
                    <a:pt x="7300" y="0"/>
                  </a:lnTo>
                </a:path>
              </a:pathLst>
            </a:custGeom>
            <a:noFill/>
            <a:ln w="8096" cap="rnd">
              <a:solidFill>
                <a:srgbClr val="161719"/>
              </a:solidFill>
              <a:round/>
            </a:ln>
          </p:spPr>
        </p:sp>
      </p:grpSp>
      <p:grpSp>
        <p:nvGrpSpPr>
          <p:cNvPr id="202" name="soft-or"/>
          <p:cNvGrpSpPr/>
          <p:nvPr/>
        </p:nvGrpSpPr>
        <p:grpSpPr>
          <a:xfrm>
            <a:off x="8858250" y="3200400"/>
            <a:ext cx="590550" cy="354806"/>
            <a:chOff x="8858250" y="3200400"/>
            <a:chExt cx="590550" cy="354806"/>
          </a:xfrm>
        </p:grpSpPr>
        <p:sp>
          <p:nvSpPr>
            <p:cNvPr id="203" name="soft-or-face"/>
            <p:cNvSpPr/>
            <p:nvPr/>
          </p:nvSpPr>
          <p:spPr>
            <a:xfrm>
              <a:off x="8858250" y="3200400"/>
              <a:ext cx="590550" cy="352425"/>
            </a:xfrm>
            <a:custGeom>
              <a:avLst/>
              <a:gdLst/>
              <a:ahLst/>
              <a:cxnLst/>
              <a:rect l="0" t="0" r="r" b="b"/>
              <a:pathLst>
                <a:path w="6200" h="3700" fill="norm" stroke="1" extrusionOk="0">
                  <a:moveTo>
                    <a:pt x="400" y="0"/>
                  </a:moveTo>
                  <a:lnTo>
                    <a:pt x="5800" y="0"/>
                  </a:lnTo>
                  <a:cubicBezTo>
                    <a:pt x="6021" y="0"/>
                    <a:pt x="6200" y="179"/>
                    <a:pt x="6200" y="400"/>
                  </a:cubicBezTo>
                  <a:lnTo>
                    <a:pt x="6200" y="3300"/>
                  </a:lnTo>
                  <a:cubicBezTo>
                    <a:pt x="6200" y="3521"/>
                    <a:pt x="6021" y="3700"/>
                    <a:pt x="5800" y="3700"/>
                  </a:cubicBezTo>
                  <a:lnTo>
                    <a:pt x="400" y="3700"/>
                  </a:lnTo>
                  <a:cubicBezTo>
                    <a:pt x="179" y="3700"/>
                    <a:pt x="0" y="3521"/>
                    <a:pt x="0" y="3300"/>
                  </a:cubicBezTo>
                  <a:lnTo>
                    <a:pt x="0" y="400"/>
                  </a:lnTo>
                  <a:cubicBezTo>
                    <a:pt x="0" y="179"/>
                    <a:pt x="179" y="0"/>
                    <a:pt x="400" y="0"/>
                  </a:cubicBezTo>
                  <a:close/>
                </a:path>
              </a:pathLst>
            </a:custGeom>
            <a:solidFill>
              <a:srgbClr val="E1E0DD"/>
            </a:solidFill>
            <a:ln w="8572" cap="flat">
              <a:solidFill>
                <a:srgbClr val="161719"/>
              </a:solidFill>
              <a:miter/>
            </a:ln>
          </p:spPr>
        </p:sp>
        <p:grpSp>
          <p:nvGrpSpPr>
            <p:cNvPr id="204" name="softor-text"/>
            <p:cNvGrpSpPr/>
            <p:nvPr/>
          </p:nvGrpSpPr>
          <p:grpSpPr>
            <a:xfrm>
              <a:off x="8911400" y="3225451"/>
              <a:ext cx="512826" cy="329756"/>
              <a:chOff x="8911400" y="3225451"/>
              <a:chExt cx="512826" cy="329756"/>
            </a:xfrm>
          </p:grpSpPr>
          <p:sp>
            <p:nvSpPr>
              <p:cNvPr id="68" name="softor-0"/>
              <p:cNvSpPr txBox="1"/>
              <p:nvPr/>
            </p:nvSpPr>
            <p:spPr>
              <a:xfrm>
                <a:off x="8911400" y="3225451"/>
                <a:ext cx="512826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Soft-OR</a:t>
                </a:r>
                <a:endParaRPr lang="en-US"/>
              </a:p>
            </p:txBody>
          </p:sp>
          <p:sp>
            <p:nvSpPr>
              <p:cNvPr id="69" name="softor-1"/>
              <p:cNvSpPr txBox="1"/>
              <p:nvPr/>
            </p:nvSpPr>
            <p:spPr>
              <a:xfrm>
                <a:off x="8990790" y="3377851"/>
                <a:ext cx="354044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union</a:t>
                </a:r>
                <a:endParaRPr lang="en-US"/>
              </a:p>
            </p:txBody>
          </p:sp>
        </p:grpSp>
      </p:grpSp>
      <p:grpSp>
        <p:nvGrpSpPr>
          <p:cNvPr id="205" name="product-dot"/>
          <p:cNvGrpSpPr/>
          <p:nvPr/>
        </p:nvGrpSpPr>
        <p:grpSpPr>
          <a:xfrm>
            <a:off x="7058025" y="2647950"/>
            <a:ext cx="190500" cy="200025"/>
            <a:chOff x="7058025" y="2647950"/>
            <a:chExt cx="190500" cy="200025"/>
          </a:xfrm>
        </p:grpSpPr>
        <p:sp>
          <p:nvSpPr>
            <p:cNvPr id="206" name="product-dot-face"/>
            <p:cNvSpPr/>
            <p:nvPr/>
          </p:nvSpPr>
          <p:spPr>
            <a:xfrm>
              <a:off x="7058025" y="2647950"/>
              <a:ext cx="190500" cy="200025"/>
            </a:xfrm>
            <a:custGeom>
              <a:avLst/>
              <a:gdLst/>
              <a:ahLst/>
              <a:cxnLst/>
              <a:rect l="0" t="0" r="r" b="b"/>
              <a:pathLst>
                <a:path w="2000" h="2100" fill="norm" stroke="1" extrusionOk="0">
                  <a:moveTo>
                    <a:pt x="100" y="0"/>
                  </a:moveTo>
                  <a:lnTo>
                    <a:pt x="1900" y="0"/>
                  </a:lnTo>
                  <a:cubicBezTo>
                    <a:pt x="1955" y="0"/>
                    <a:pt x="2000" y="45"/>
                    <a:pt x="2000" y="100"/>
                  </a:cubicBezTo>
                  <a:lnTo>
                    <a:pt x="2000" y="2000"/>
                  </a:lnTo>
                  <a:cubicBezTo>
                    <a:pt x="2000" y="2055"/>
                    <a:pt x="1955" y="2100"/>
                    <a:pt x="1900" y="2100"/>
                  </a:cubicBezTo>
                  <a:lnTo>
                    <a:pt x="100" y="2100"/>
                  </a:lnTo>
                  <a:cubicBezTo>
                    <a:pt x="45" y="2100"/>
                    <a:pt x="0" y="2055"/>
                    <a:pt x="0" y="2000"/>
                  </a:cubicBezTo>
                  <a:lnTo>
                    <a:pt x="0" y="100"/>
                  </a:lnTo>
                  <a:cubicBezTo>
                    <a:pt x="0" y="45"/>
                    <a:pt x="45" y="0"/>
                    <a:pt x="100" y="0"/>
                  </a:cubicBezTo>
                  <a:close/>
                </a:path>
              </a:pathLst>
            </a:custGeom>
            <a:solidFill>
              <a:srgbClr val="D9D9E4"/>
            </a:solidFill>
            <a:ln w="8572" cap="flat">
              <a:solidFill>
                <a:srgbClr val="161719"/>
              </a:solidFill>
              <a:miter/>
            </a:ln>
          </p:spPr>
        </p:sp>
      </p:grpSp>
      <p:sp>
        <p:nvSpPr>
          <p:cNvPr id="207" name="MiT-B0-86"/>
          <p:cNvSpPr/>
          <p:nvPr/>
        </p:nvSpPr>
        <p:spPr>
          <a:xfrm>
            <a:off x="7134225" y="2728912"/>
            <a:ext cx="38100" cy="38100"/>
          </a:xfrm>
          <a:prstGeom prst="ellipse">
            <a:avLst/>
          </a:prstGeom>
          <a:solidFill>
            <a:srgbClr val="161719"/>
          </a:solidFill>
          <a:ln w="9525" cap="flat">
            <a:noFill/>
            <a:miter/>
          </a:ln>
        </p:spPr>
      </p:sp>
      <p:sp>
        <p:nvSpPr>
          <p:cNvPr id="208" name="dot-node"/>
          <p:cNvSpPr/>
          <p:nvPr/>
        </p:nvSpPr>
        <p:spPr>
          <a:xfrm>
            <a:off x="6034088" y="3414712"/>
            <a:ext cx="238125" cy="238125"/>
          </a:xfrm>
          <a:prstGeom prst="ellipse">
            <a:avLst/>
          </a:prstGeom>
          <a:solidFill>
            <a:srgbClr val="D9D9E4"/>
          </a:solidFill>
          <a:ln w="9525" cap="flat">
            <a:solidFill>
              <a:srgbClr val="161719"/>
            </a:solidFill>
            <a:miter/>
          </a:ln>
        </p:spPr>
      </p:sp>
      <p:sp>
        <p:nvSpPr>
          <p:cNvPr id="209" name="sum-node"/>
          <p:cNvSpPr/>
          <p:nvPr/>
        </p:nvSpPr>
        <p:spPr>
          <a:xfrm>
            <a:off x="6943725" y="4324350"/>
            <a:ext cx="228600" cy="228600"/>
          </a:xfrm>
          <a:prstGeom prst="ellipse">
            <a:avLst/>
          </a:prstGeom>
          <a:solidFill>
            <a:srgbClr val="D9D9E4"/>
          </a:solidFill>
          <a:ln w="9525" cap="flat">
            <a:solidFill>
              <a:srgbClr val="161719"/>
            </a:solidFill>
            <a:miter/>
          </a:ln>
        </p:spPr>
      </p:sp>
      <p:sp>
        <p:nvSpPr>
          <p:cNvPr id="210" name="MiT-B0-89"/>
          <p:cNvSpPr/>
          <p:nvPr/>
        </p:nvSpPr>
        <p:spPr>
          <a:xfrm>
            <a:off x="7000875" y="4438650"/>
            <a:ext cx="114300" cy="10"/>
          </a:xfrm>
          <a:custGeom>
            <a:avLst/>
            <a:gdLst/>
            <a:ahLst/>
            <a:cxnLst/>
            <a:rect l="0" t="0" r="r" b="b"/>
            <a:pathLst>
              <a:path w="1200" h="1" fill="none" stroke="1" extrusionOk="0">
                <a:moveTo>
                  <a:pt x="0" y="0"/>
                </a:moveTo>
                <a:lnTo>
                  <a:pt x="1200" y="0"/>
                </a:lnTo>
              </a:path>
            </a:pathLst>
          </a:custGeom>
          <a:noFill/>
          <a:ln w="9525" cap="rnd">
            <a:solidFill>
              <a:srgbClr val="161719"/>
            </a:solidFill>
            <a:round/>
          </a:ln>
        </p:spPr>
      </p:sp>
      <p:sp>
        <p:nvSpPr>
          <p:cNvPr id="211" name="MiT-B0-90"/>
          <p:cNvSpPr/>
          <p:nvPr/>
        </p:nvSpPr>
        <p:spPr>
          <a:xfrm>
            <a:off x="7058025" y="4381500"/>
            <a:ext cx="10" cy="114300"/>
          </a:xfrm>
          <a:custGeom>
            <a:avLst/>
            <a:gdLst/>
            <a:ahLst/>
            <a:cxnLst/>
            <a:rect l="0" t="0" r="r" b="b"/>
            <a:pathLst>
              <a:path w="1" h="1200" fill="none" stroke="1" extrusionOk="0">
                <a:moveTo>
                  <a:pt x="0" y="0"/>
                </a:moveTo>
                <a:lnTo>
                  <a:pt x="0" y="1200"/>
                </a:lnTo>
              </a:path>
            </a:pathLst>
          </a:custGeom>
          <a:noFill/>
          <a:ln w="9525" cap="rnd">
            <a:solidFill>
              <a:srgbClr val="161719"/>
            </a:solidFill>
            <a:round/>
          </a:ln>
        </p:spPr>
      </p:sp>
      <p:grpSp>
        <p:nvGrpSpPr>
          <p:cNvPr id="212" name="SegFormer-decoder"/>
          <p:cNvGrpSpPr/>
          <p:nvPr/>
        </p:nvGrpSpPr>
        <p:grpSpPr>
          <a:xfrm>
            <a:off x="3000375" y="1485900"/>
            <a:ext cx="809625" cy="895350"/>
            <a:chOff x="3000375" y="1485900"/>
            <a:chExt cx="809625" cy="895350"/>
          </a:xfrm>
        </p:grpSpPr>
        <p:sp>
          <p:nvSpPr>
            <p:cNvPr id="213" name="segformer-face"/>
            <p:cNvSpPr/>
            <p:nvPr/>
          </p:nvSpPr>
          <p:spPr>
            <a:xfrm>
              <a:off x="3000375" y="1485900"/>
              <a:ext cx="809625" cy="895350"/>
            </a:xfrm>
            <a:custGeom>
              <a:avLst/>
              <a:gdLst/>
              <a:ahLst/>
              <a:cxnLst/>
              <a:rect l="0" t="0" r="r" b="b"/>
              <a:pathLst>
                <a:path w="8500" h="9400" fill="norm" stroke="1" extrusionOk="0">
                  <a:moveTo>
                    <a:pt x="0" y="0"/>
                  </a:moveTo>
                  <a:lnTo>
                    <a:pt x="8500" y="1700"/>
                  </a:lnTo>
                  <a:lnTo>
                    <a:pt x="8500" y="7700"/>
                  </a:lnTo>
                  <a:lnTo>
                    <a:pt x="0" y="940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B9CDDF"/>
                </a:gs>
                <a:gs pos="100000">
                  <a:srgbClr val="DAE5EF"/>
                </a:gs>
              </a:gsLst>
              <a:lin ang="5400000" scaled="1"/>
            </a:gradFill>
            <a:ln w="9525" cap="flat">
              <a:solidFill>
                <a:srgbClr val="161719"/>
              </a:solidFill>
              <a:round/>
            </a:ln>
          </p:spPr>
        </p:sp>
        <p:grpSp>
          <p:nvGrpSpPr>
            <p:cNvPr id="214" name="seg-label-text"/>
            <p:cNvGrpSpPr/>
            <p:nvPr/>
          </p:nvGrpSpPr>
          <p:grpSpPr>
            <a:xfrm>
              <a:off x="3082909" y="1710976"/>
              <a:ext cx="663607" cy="482156"/>
              <a:chOff x="3082909" y="1710976"/>
              <a:chExt cx="663607" cy="482156"/>
            </a:xfrm>
          </p:grpSpPr>
          <p:sp>
            <p:nvSpPr>
              <p:cNvPr id="18" name="seg-label-0"/>
              <p:cNvSpPr txBox="1"/>
              <p:nvPr/>
            </p:nvSpPr>
            <p:spPr>
              <a:xfrm>
                <a:off x="3082909" y="1710976"/>
                <a:ext cx="663607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SegFormer</a:t>
                </a:r>
                <a:endParaRPr lang="en-US"/>
              </a:p>
            </p:txBody>
          </p:sp>
          <p:sp>
            <p:nvSpPr>
              <p:cNvPr id="19" name="seg-label-1"/>
              <p:cNvSpPr txBox="1"/>
              <p:nvPr/>
            </p:nvSpPr>
            <p:spPr>
              <a:xfrm>
                <a:off x="3138440" y="1863376"/>
                <a:ext cx="552545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All-MLP</a:t>
                </a:r>
                <a:endParaRPr lang="en-US"/>
              </a:p>
            </p:txBody>
          </p:sp>
          <p:sp>
            <p:nvSpPr>
              <p:cNvPr id="20" name="seg-label-2"/>
              <p:cNvSpPr txBox="1"/>
              <p:nvPr/>
            </p:nvSpPr>
            <p:spPr>
              <a:xfrm>
                <a:off x="3174302" y="2015776"/>
                <a:ext cx="480822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decoder</a:t>
                </a:r>
                <a:endParaRPr lang="en-US"/>
              </a:p>
            </p:txBody>
          </p:sp>
        </p:grpSp>
      </p:grpSp>
      <p:grpSp>
        <p:nvGrpSpPr>
          <p:cNvPr id="215" name="cross-attention-decoder"/>
          <p:cNvGrpSpPr/>
          <p:nvPr/>
        </p:nvGrpSpPr>
        <p:grpSpPr>
          <a:xfrm>
            <a:off x="3486150" y="3962400"/>
            <a:ext cx="933450" cy="895350"/>
            <a:chOff x="3486150" y="3962400"/>
            <a:chExt cx="933450" cy="895350"/>
          </a:xfrm>
        </p:grpSpPr>
        <p:sp>
          <p:nvSpPr>
            <p:cNvPr id="216" name="cross-face"/>
            <p:cNvSpPr/>
            <p:nvPr/>
          </p:nvSpPr>
          <p:spPr>
            <a:xfrm>
              <a:off x="3486150" y="3962400"/>
              <a:ext cx="933450" cy="895350"/>
            </a:xfrm>
            <a:custGeom>
              <a:avLst/>
              <a:gdLst/>
              <a:ahLst/>
              <a:cxnLst/>
              <a:rect l="0" t="0" r="r" b="b"/>
              <a:pathLst>
                <a:path w="9800" h="9400" fill="norm" stroke="1" extrusionOk="0">
                  <a:moveTo>
                    <a:pt x="0" y="0"/>
                  </a:moveTo>
                  <a:lnTo>
                    <a:pt x="9800" y="2500"/>
                  </a:lnTo>
                  <a:lnTo>
                    <a:pt x="9800" y="7000"/>
                  </a:lnTo>
                  <a:lnTo>
                    <a:pt x="0" y="940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C7E3CA"/>
                </a:gs>
                <a:gs pos="100000">
                  <a:srgbClr val="D4ECD9"/>
                </a:gs>
              </a:gsLst>
              <a:lin ang="5400000" scaled="1"/>
            </a:gradFill>
            <a:ln w="9525" cap="flat">
              <a:solidFill>
                <a:srgbClr val="161719"/>
              </a:solidFill>
              <a:round/>
            </a:ln>
          </p:spPr>
        </p:sp>
        <p:grpSp>
          <p:nvGrpSpPr>
            <p:cNvPr id="217" name="cross-label-text"/>
            <p:cNvGrpSpPr/>
            <p:nvPr/>
          </p:nvGrpSpPr>
          <p:grpSpPr>
            <a:xfrm>
              <a:off x="3506724" y="4235101"/>
              <a:ext cx="901827" cy="329756"/>
              <a:chOff x="3506724" y="4235101"/>
              <a:chExt cx="901827" cy="329756"/>
            </a:xfrm>
          </p:grpSpPr>
          <p:sp>
            <p:nvSpPr>
              <p:cNvPr id="43" name="cross-label-0"/>
              <p:cNvSpPr txBox="1"/>
              <p:nvPr/>
            </p:nvSpPr>
            <p:spPr>
              <a:xfrm>
                <a:off x="3506724" y="4235101"/>
                <a:ext cx="901827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Cross-attention</a:t>
                </a:r>
                <a:endParaRPr lang="en-US"/>
              </a:p>
            </p:txBody>
          </p:sp>
          <p:sp>
            <p:nvSpPr>
              <p:cNvPr id="44" name="cross-label-1"/>
              <p:cNvSpPr txBox="1"/>
              <p:nvPr/>
            </p:nvSpPr>
            <p:spPr>
              <a:xfrm>
                <a:off x="3623358" y="4387501"/>
                <a:ext cx="668560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decoder ×4</a:t>
                </a:r>
                <a:endParaRPr lang="en-US"/>
              </a:p>
            </p:txBody>
          </p:sp>
        </p:grpSp>
      </p:grpSp>
      <p:grpSp>
        <p:nvGrpSpPr>
          <p:cNvPr id="218" name="fusion-gate"/>
          <p:cNvGrpSpPr/>
          <p:nvPr/>
        </p:nvGrpSpPr>
        <p:grpSpPr>
          <a:xfrm>
            <a:off x="8162925" y="4543425"/>
            <a:ext cx="590550" cy="800100"/>
            <a:chOff x="8162925" y="4543425"/>
            <a:chExt cx="590550" cy="800100"/>
          </a:xfrm>
        </p:grpSpPr>
        <p:sp>
          <p:nvSpPr>
            <p:cNvPr id="219" name="fusion-face"/>
            <p:cNvSpPr/>
            <p:nvPr/>
          </p:nvSpPr>
          <p:spPr>
            <a:xfrm>
              <a:off x="8162925" y="4543425"/>
              <a:ext cx="590550" cy="800100"/>
            </a:xfrm>
            <a:custGeom>
              <a:avLst/>
              <a:gdLst/>
              <a:ahLst/>
              <a:cxnLst/>
              <a:rect l="0" t="0" r="r" b="b"/>
              <a:pathLst>
                <a:path w="6200" h="8400" fill="norm" stroke="1" extrusionOk="0">
                  <a:moveTo>
                    <a:pt x="0" y="0"/>
                  </a:moveTo>
                  <a:lnTo>
                    <a:pt x="6200" y="1800"/>
                  </a:lnTo>
                  <a:lnTo>
                    <a:pt x="6200" y="6600"/>
                  </a:lnTo>
                  <a:lnTo>
                    <a:pt x="0" y="840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B9CDDF"/>
                </a:gs>
                <a:gs pos="100000">
                  <a:srgbClr val="DAE5EF"/>
                </a:gs>
              </a:gsLst>
              <a:lin ang="5400000" scaled="1"/>
            </a:gradFill>
            <a:ln w="9525" cap="flat">
              <a:solidFill>
                <a:srgbClr val="161719"/>
              </a:solidFill>
              <a:round/>
            </a:ln>
          </p:spPr>
        </p:sp>
        <p:grpSp>
          <p:nvGrpSpPr>
            <p:cNvPr id="220" name="gate-label-text"/>
            <p:cNvGrpSpPr/>
            <p:nvPr/>
          </p:nvGrpSpPr>
          <p:grpSpPr>
            <a:xfrm>
              <a:off x="8239887" y="4729353"/>
              <a:ext cx="465201" cy="452533"/>
              <a:chOff x="8239887" y="4729353"/>
              <a:chExt cx="465201" cy="452533"/>
            </a:xfrm>
          </p:grpSpPr>
          <p:sp>
            <p:nvSpPr>
              <p:cNvPr id="74" name="gate-label-0"/>
              <p:cNvSpPr txBox="1"/>
              <p:nvPr/>
            </p:nvSpPr>
            <p:spPr>
              <a:xfrm>
                <a:off x="8239887" y="4729353"/>
                <a:ext cx="465201" cy="1667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Learned</a:t>
                </a:r>
                <a:endParaRPr lang="en-US"/>
              </a:p>
            </p:txBody>
          </p:sp>
          <p:sp>
            <p:nvSpPr>
              <p:cNvPr id="75" name="gate-label-1"/>
              <p:cNvSpPr txBox="1"/>
              <p:nvPr/>
            </p:nvSpPr>
            <p:spPr>
              <a:xfrm>
                <a:off x="8291512" y="4872228"/>
                <a:ext cx="361950" cy="1667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fusion</a:t>
                </a:r>
                <a:endParaRPr lang="en-US"/>
              </a:p>
            </p:txBody>
          </p:sp>
          <p:sp>
            <p:nvSpPr>
              <p:cNvPr id="76" name="gate-label-2"/>
              <p:cNvSpPr txBox="1"/>
              <p:nvPr/>
            </p:nvSpPr>
            <p:spPr>
              <a:xfrm>
                <a:off x="8347186" y="5015103"/>
                <a:ext cx="250603" cy="1667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gate</a:t>
                </a:r>
                <a:endParaRPr lang="en-US"/>
              </a:p>
            </p:txBody>
          </p:sp>
        </p:grpSp>
      </p:grpSp>
      <p:grpSp>
        <p:nvGrpSpPr>
          <p:cNvPr id="221" name="encoder-stage-1"/>
          <p:cNvGrpSpPr/>
          <p:nvPr/>
        </p:nvGrpSpPr>
        <p:grpSpPr>
          <a:xfrm>
            <a:off x="1114425" y="1143000"/>
            <a:ext cx="657225" cy="1543050"/>
            <a:chOff x="1114425" y="1143000"/>
            <a:chExt cx="657225" cy="1543050"/>
          </a:xfrm>
        </p:grpSpPr>
        <p:sp>
          <p:nvSpPr>
            <p:cNvPr id="222" name="encoder-stage-1-top-0"/>
            <p:cNvSpPr/>
            <p:nvPr/>
          </p:nvSpPr>
          <p:spPr>
            <a:xfrm>
              <a:off x="1114425" y="1143000"/>
              <a:ext cx="523875" cy="476250"/>
            </a:xfrm>
            <a:custGeom>
              <a:avLst/>
              <a:gdLst/>
              <a:ahLst/>
              <a:cxnLst/>
              <a:rect l="0" t="0" r="r" b="b"/>
              <a:pathLst>
                <a:path w="5500" h="5000" fill="norm" stroke="1" extrusionOk="0">
                  <a:moveTo>
                    <a:pt x="0" y="5000"/>
                  </a:moveTo>
                  <a:lnTo>
                    <a:pt x="5000" y="0"/>
                  </a:lnTo>
                  <a:lnTo>
                    <a:pt x="5500" y="0"/>
                  </a:lnTo>
                  <a:lnTo>
                    <a:pt x="500" y="5000"/>
                  </a:lnTo>
                  <a:lnTo>
                    <a:pt x="0" y="5000"/>
                  </a:lnTo>
                  <a:close/>
                </a:path>
              </a:pathLst>
            </a:custGeom>
            <a:solidFill>
              <a:srgbClr val="D7E9E9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23" name="encoder-stage-1-plane-0"/>
            <p:cNvSpPr/>
            <p:nvPr/>
          </p:nvSpPr>
          <p:spPr>
            <a:xfrm>
              <a:off x="1162050" y="1143000"/>
              <a:ext cx="476250" cy="1543050"/>
            </a:xfrm>
            <a:custGeom>
              <a:avLst/>
              <a:gdLst/>
              <a:ahLst/>
              <a:cxnLst/>
              <a:rect l="0" t="0" r="r" b="b"/>
              <a:pathLst>
                <a:path w="5000" h="16200" fill="norm" stroke="1" extrusionOk="0">
                  <a:moveTo>
                    <a:pt x="0" y="5000"/>
                  </a:moveTo>
                  <a:lnTo>
                    <a:pt x="5000" y="0"/>
                  </a:lnTo>
                  <a:lnTo>
                    <a:pt x="5000" y="11200"/>
                  </a:lnTo>
                  <a:lnTo>
                    <a:pt x="0" y="16200"/>
                  </a:lnTo>
                  <a:lnTo>
                    <a:pt x="0" y="5000"/>
                  </a:lnTo>
                  <a:close/>
                </a:path>
              </a:pathLst>
            </a:custGeom>
            <a:solidFill>
              <a:srgbClr val="ADCED0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24" name="encoder-stage-1-edge-0"/>
            <p:cNvSpPr/>
            <p:nvPr/>
          </p:nvSpPr>
          <p:spPr>
            <a:xfrm>
              <a:off x="1114425" y="1619250"/>
              <a:ext cx="47625" cy="1066800"/>
            </a:xfrm>
            <a:prstGeom prst="rect">
              <a:avLst/>
            </a:prstGeom>
            <a:solidFill>
              <a:srgbClr val="CEE6E5"/>
            </a:solidFill>
            <a:ln w="7620" cap="flat">
              <a:solidFill>
                <a:srgbClr val="161719"/>
              </a:solidFill>
              <a:miter/>
            </a:ln>
          </p:spPr>
        </p:sp>
        <p:sp>
          <p:nvSpPr>
            <p:cNvPr id="225" name="encoder-stage-1-top-1"/>
            <p:cNvSpPr/>
            <p:nvPr/>
          </p:nvSpPr>
          <p:spPr>
            <a:xfrm>
              <a:off x="1181100" y="1143000"/>
              <a:ext cx="523875" cy="476250"/>
            </a:xfrm>
            <a:custGeom>
              <a:avLst/>
              <a:gdLst/>
              <a:ahLst/>
              <a:cxnLst/>
              <a:rect l="0" t="0" r="r" b="b"/>
              <a:pathLst>
                <a:path w="5500" h="5000" fill="norm" stroke="1" extrusionOk="0">
                  <a:moveTo>
                    <a:pt x="0" y="5000"/>
                  </a:moveTo>
                  <a:lnTo>
                    <a:pt x="5000" y="0"/>
                  </a:lnTo>
                  <a:lnTo>
                    <a:pt x="5500" y="0"/>
                  </a:lnTo>
                  <a:lnTo>
                    <a:pt x="500" y="5000"/>
                  </a:lnTo>
                  <a:lnTo>
                    <a:pt x="0" y="5000"/>
                  </a:lnTo>
                  <a:close/>
                </a:path>
              </a:pathLst>
            </a:custGeom>
            <a:solidFill>
              <a:srgbClr val="D7E9E9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26" name="encoder-stage-1-plane-1"/>
            <p:cNvSpPr/>
            <p:nvPr/>
          </p:nvSpPr>
          <p:spPr>
            <a:xfrm>
              <a:off x="1228725" y="1143000"/>
              <a:ext cx="476250" cy="1543050"/>
            </a:xfrm>
            <a:custGeom>
              <a:avLst/>
              <a:gdLst/>
              <a:ahLst/>
              <a:cxnLst/>
              <a:rect l="0" t="0" r="r" b="b"/>
              <a:pathLst>
                <a:path w="5000" h="16200" fill="norm" stroke="1" extrusionOk="0">
                  <a:moveTo>
                    <a:pt x="0" y="5000"/>
                  </a:moveTo>
                  <a:lnTo>
                    <a:pt x="5000" y="0"/>
                  </a:lnTo>
                  <a:lnTo>
                    <a:pt x="5000" y="11200"/>
                  </a:lnTo>
                  <a:lnTo>
                    <a:pt x="0" y="16200"/>
                  </a:lnTo>
                  <a:lnTo>
                    <a:pt x="0" y="5000"/>
                  </a:lnTo>
                  <a:close/>
                </a:path>
              </a:pathLst>
            </a:custGeom>
            <a:solidFill>
              <a:srgbClr val="ADCED0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27" name="encoder-stage-1-edge-1"/>
            <p:cNvSpPr/>
            <p:nvPr/>
          </p:nvSpPr>
          <p:spPr>
            <a:xfrm>
              <a:off x="1181100" y="1619250"/>
              <a:ext cx="47625" cy="1066800"/>
            </a:xfrm>
            <a:prstGeom prst="rect">
              <a:avLst/>
            </a:prstGeom>
            <a:solidFill>
              <a:srgbClr val="CEE6E5"/>
            </a:solidFill>
            <a:ln w="7620" cap="flat">
              <a:solidFill>
                <a:srgbClr val="161719"/>
              </a:solidFill>
              <a:miter/>
            </a:ln>
          </p:spPr>
        </p:sp>
        <p:sp>
          <p:nvSpPr>
            <p:cNvPr id="228" name="encoder-stage-1-top-2"/>
            <p:cNvSpPr/>
            <p:nvPr/>
          </p:nvSpPr>
          <p:spPr>
            <a:xfrm>
              <a:off x="1247775" y="1143000"/>
              <a:ext cx="523875" cy="476250"/>
            </a:xfrm>
            <a:custGeom>
              <a:avLst/>
              <a:gdLst/>
              <a:ahLst/>
              <a:cxnLst/>
              <a:rect l="0" t="0" r="r" b="b"/>
              <a:pathLst>
                <a:path w="5500" h="5000" fill="norm" stroke="1" extrusionOk="0">
                  <a:moveTo>
                    <a:pt x="0" y="5000"/>
                  </a:moveTo>
                  <a:lnTo>
                    <a:pt x="5000" y="0"/>
                  </a:lnTo>
                  <a:lnTo>
                    <a:pt x="5500" y="0"/>
                  </a:lnTo>
                  <a:lnTo>
                    <a:pt x="500" y="5000"/>
                  </a:lnTo>
                  <a:lnTo>
                    <a:pt x="0" y="5000"/>
                  </a:lnTo>
                  <a:close/>
                </a:path>
              </a:pathLst>
            </a:custGeom>
            <a:solidFill>
              <a:srgbClr val="D7E9E9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29" name="encoder-stage-1-plane-2"/>
            <p:cNvSpPr/>
            <p:nvPr/>
          </p:nvSpPr>
          <p:spPr>
            <a:xfrm>
              <a:off x="1295400" y="1143000"/>
              <a:ext cx="476250" cy="1543050"/>
            </a:xfrm>
            <a:custGeom>
              <a:avLst/>
              <a:gdLst/>
              <a:ahLst/>
              <a:cxnLst/>
              <a:rect l="0" t="0" r="r" b="b"/>
              <a:pathLst>
                <a:path w="5000" h="16200" fill="norm" stroke="1" extrusionOk="0">
                  <a:moveTo>
                    <a:pt x="0" y="5000"/>
                  </a:moveTo>
                  <a:lnTo>
                    <a:pt x="5000" y="0"/>
                  </a:lnTo>
                  <a:lnTo>
                    <a:pt x="5000" y="11200"/>
                  </a:lnTo>
                  <a:lnTo>
                    <a:pt x="0" y="16200"/>
                  </a:lnTo>
                  <a:lnTo>
                    <a:pt x="0" y="5000"/>
                  </a:lnTo>
                  <a:close/>
                </a:path>
              </a:pathLst>
            </a:custGeom>
            <a:solidFill>
              <a:srgbClr val="ADCED0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30" name="encoder-stage-1-edge-2"/>
            <p:cNvSpPr/>
            <p:nvPr/>
          </p:nvSpPr>
          <p:spPr>
            <a:xfrm>
              <a:off x="1247775" y="1619250"/>
              <a:ext cx="47625" cy="1066800"/>
            </a:xfrm>
            <a:prstGeom prst="rect">
              <a:avLst/>
            </a:prstGeom>
            <a:solidFill>
              <a:srgbClr val="CEE6E5"/>
            </a:solidFill>
            <a:ln w="7620" cap="flat">
              <a:solidFill>
                <a:srgbClr val="161719"/>
              </a:solidFill>
              <a:miter/>
            </a:ln>
          </p:spPr>
        </p:sp>
      </p:grpSp>
      <p:grpSp>
        <p:nvGrpSpPr>
          <p:cNvPr id="231" name="encoder-stage-2"/>
          <p:cNvGrpSpPr/>
          <p:nvPr/>
        </p:nvGrpSpPr>
        <p:grpSpPr>
          <a:xfrm>
            <a:off x="1676400" y="1314450"/>
            <a:ext cx="552450" cy="1181100"/>
            <a:chOff x="1676400" y="1314450"/>
            <a:chExt cx="552450" cy="1181100"/>
          </a:xfrm>
        </p:grpSpPr>
        <p:sp>
          <p:nvSpPr>
            <p:cNvPr id="232" name="encoder-stage-2-top-0"/>
            <p:cNvSpPr/>
            <p:nvPr/>
          </p:nvSpPr>
          <p:spPr>
            <a:xfrm>
              <a:off x="1676400" y="1314450"/>
              <a:ext cx="400050" cy="361950"/>
            </a:xfrm>
            <a:custGeom>
              <a:avLst/>
              <a:gdLst/>
              <a:ahLst/>
              <a:cxnLst/>
              <a:rect l="0" t="0" r="r" b="b"/>
              <a:pathLst>
                <a:path w="4200" h="3800" fill="norm" stroke="1" extrusionOk="0">
                  <a:moveTo>
                    <a:pt x="0" y="3800"/>
                  </a:moveTo>
                  <a:lnTo>
                    <a:pt x="3700" y="0"/>
                  </a:lnTo>
                  <a:lnTo>
                    <a:pt x="4200" y="0"/>
                  </a:lnTo>
                  <a:lnTo>
                    <a:pt x="500" y="3800"/>
                  </a:lnTo>
                  <a:lnTo>
                    <a:pt x="0" y="3800"/>
                  </a:lnTo>
                  <a:close/>
                </a:path>
              </a:pathLst>
            </a:custGeom>
            <a:solidFill>
              <a:srgbClr val="E1EBDE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33" name="encoder-stage-2-plane-0"/>
            <p:cNvSpPr/>
            <p:nvPr/>
          </p:nvSpPr>
          <p:spPr>
            <a:xfrm>
              <a:off x="1724025" y="1314450"/>
              <a:ext cx="352425" cy="1181100"/>
            </a:xfrm>
            <a:custGeom>
              <a:avLst/>
              <a:gdLst/>
              <a:ahLst/>
              <a:cxnLst/>
              <a:rect l="0" t="0" r="r" b="b"/>
              <a:pathLst>
                <a:path w="3700" h="12400" fill="norm" stroke="1" extrusionOk="0">
                  <a:moveTo>
                    <a:pt x="0" y="3800"/>
                  </a:moveTo>
                  <a:lnTo>
                    <a:pt x="3700" y="0"/>
                  </a:lnTo>
                  <a:lnTo>
                    <a:pt x="3700" y="8600"/>
                  </a:lnTo>
                  <a:lnTo>
                    <a:pt x="0" y="12400"/>
                  </a:lnTo>
                  <a:lnTo>
                    <a:pt x="0" y="3800"/>
                  </a:lnTo>
                  <a:close/>
                </a:path>
              </a:pathLst>
            </a:custGeom>
            <a:solidFill>
              <a:srgbClr val="B5CCB9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34" name="encoder-stage-2-edge-0"/>
            <p:cNvSpPr/>
            <p:nvPr/>
          </p:nvSpPr>
          <p:spPr>
            <a:xfrm>
              <a:off x="1676400" y="1676400"/>
              <a:ext cx="47625" cy="819150"/>
            </a:xfrm>
            <a:prstGeom prst="rect">
              <a:avLst/>
            </a:prstGeom>
            <a:solidFill>
              <a:srgbClr val="D5E5D4"/>
            </a:solidFill>
            <a:ln w="7620" cap="flat">
              <a:solidFill>
                <a:srgbClr val="161719"/>
              </a:solidFill>
              <a:miter/>
            </a:ln>
          </p:spPr>
        </p:sp>
        <p:sp>
          <p:nvSpPr>
            <p:cNvPr id="235" name="encoder-stage-2-top-1"/>
            <p:cNvSpPr/>
            <p:nvPr/>
          </p:nvSpPr>
          <p:spPr>
            <a:xfrm>
              <a:off x="1752600" y="1314450"/>
              <a:ext cx="400050" cy="361950"/>
            </a:xfrm>
            <a:custGeom>
              <a:avLst/>
              <a:gdLst/>
              <a:ahLst/>
              <a:cxnLst/>
              <a:rect l="0" t="0" r="r" b="b"/>
              <a:pathLst>
                <a:path w="4200" h="3800" fill="norm" stroke="1" extrusionOk="0">
                  <a:moveTo>
                    <a:pt x="0" y="3800"/>
                  </a:moveTo>
                  <a:lnTo>
                    <a:pt x="3700" y="0"/>
                  </a:lnTo>
                  <a:lnTo>
                    <a:pt x="4200" y="0"/>
                  </a:lnTo>
                  <a:lnTo>
                    <a:pt x="500" y="3800"/>
                  </a:lnTo>
                  <a:lnTo>
                    <a:pt x="0" y="3800"/>
                  </a:lnTo>
                  <a:close/>
                </a:path>
              </a:pathLst>
            </a:custGeom>
            <a:solidFill>
              <a:srgbClr val="E1EBDE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36" name="encoder-stage-2-plane-1"/>
            <p:cNvSpPr/>
            <p:nvPr/>
          </p:nvSpPr>
          <p:spPr>
            <a:xfrm>
              <a:off x="1800225" y="1314450"/>
              <a:ext cx="352425" cy="1181100"/>
            </a:xfrm>
            <a:custGeom>
              <a:avLst/>
              <a:gdLst/>
              <a:ahLst/>
              <a:cxnLst/>
              <a:rect l="0" t="0" r="r" b="b"/>
              <a:pathLst>
                <a:path w="3700" h="12400" fill="norm" stroke="1" extrusionOk="0">
                  <a:moveTo>
                    <a:pt x="0" y="3800"/>
                  </a:moveTo>
                  <a:lnTo>
                    <a:pt x="3700" y="0"/>
                  </a:lnTo>
                  <a:lnTo>
                    <a:pt x="3700" y="8600"/>
                  </a:lnTo>
                  <a:lnTo>
                    <a:pt x="0" y="12400"/>
                  </a:lnTo>
                  <a:lnTo>
                    <a:pt x="0" y="3800"/>
                  </a:lnTo>
                  <a:close/>
                </a:path>
              </a:pathLst>
            </a:custGeom>
            <a:solidFill>
              <a:srgbClr val="B5CCB9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37" name="encoder-stage-2-edge-1"/>
            <p:cNvSpPr/>
            <p:nvPr/>
          </p:nvSpPr>
          <p:spPr>
            <a:xfrm>
              <a:off x="1752600" y="1676400"/>
              <a:ext cx="47625" cy="819150"/>
            </a:xfrm>
            <a:prstGeom prst="rect">
              <a:avLst/>
            </a:prstGeom>
            <a:solidFill>
              <a:srgbClr val="D5E5D4"/>
            </a:solidFill>
            <a:ln w="7620" cap="flat">
              <a:solidFill>
                <a:srgbClr val="161719"/>
              </a:solidFill>
              <a:miter/>
            </a:ln>
          </p:spPr>
        </p:sp>
        <p:sp>
          <p:nvSpPr>
            <p:cNvPr id="238" name="encoder-stage-2-top-2"/>
            <p:cNvSpPr/>
            <p:nvPr/>
          </p:nvSpPr>
          <p:spPr>
            <a:xfrm>
              <a:off x="1828800" y="1314450"/>
              <a:ext cx="400050" cy="361950"/>
            </a:xfrm>
            <a:custGeom>
              <a:avLst/>
              <a:gdLst/>
              <a:ahLst/>
              <a:cxnLst/>
              <a:rect l="0" t="0" r="r" b="b"/>
              <a:pathLst>
                <a:path w="4200" h="3800" fill="norm" stroke="1" extrusionOk="0">
                  <a:moveTo>
                    <a:pt x="0" y="3800"/>
                  </a:moveTo>
                  <a:lnTo>
                    <a:pt x="3700" y="0"/>
                  </a:lnTo>
                  <a:lnTo>
                    <a:pt x="4200" y="0"/>
                  </a:lnTo>
                  <a:lnTo>
                    <a:pt x="500" y="3800"/>
                  </a:lnTo>
                  <a:lnTo>
                    <a:pt x="0" y="3800"/>
                  </a:lnTo>
                  <a:close/>
                </a:path>
              </a:pathLst>
            </a:custGeom>
            <a:solidFill>
              <a:srgbClr val="E1EBDE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39" name="encoder-stage-2-plane-2"/>
            <p:cNvSpPr/>
            <p:nvPr/>
          </p:nvSpPr>
          <p:spPr>
            <a:xfrm>
              <a:off x="1876425" y="1314450"/>
              <a:ext cx="352425" cy="1181100"/>
            </a:xfrm>
            <a:custGeom>
              <a:avLst/>
              <a:gdLst/>
              <a:ahLst/>
              <a:cxnLst/>
              <a:rect l="0" t="0" r="r" b="b"/>
              <a:pathLst>
                <a:path w="3700" h="12400" fill="norm" stroke="1" extrusionOk="0">
                  <a:moveTo>
                    <a:pt x="0" y="3800"/>
                  </a:moveTo>
                  <a:lnTo>
                    <a:pt x="3700" y="0"/>
                  </a:lnTo>
                  <a:lnTo>
                    <a:pt x="3700" y="8600"/>
                  </a:lnTo>
                  <a:lnTo>
                    <a:pt x="0" y="12400"/>
                  </a:lnTo>
                  <a:lnTo>
                    <a:pt x="0" y="3800"/>
                  </a:lnTo>
                  <a:close/>
                </a:path>
              </a:pathLst>
            </a:custGeom>
            <a:solidFill>
              <a:srgbClr val="B5CCB9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40" name="encoder-stage-2-edge-2"/>
            <p:cNvSpPr/>
            <p:nvPr/>
          </p:nvSpPr>
          <p:spPr>
            <a:xfrm>
              <a:off x="1828800" y="1676400"/>
              <a:ext cx="47625" cy="819150"/>
            </a:xfrm>
            <a:prstGeom prst="rect">
              <a:avLst/>
            </a:prstGeom>
            <a:solidFill>
              <a:srgbClr val="D5E5D4"/>
            </a:solidFill>
            <a:ln w="7620" cap="flat">
              <a:solidFill>
                <a:srgbClr val="161719"/>
              </a:solidFill>
              <a:miter/>
            </a:ln>
          </p:spPr>
        </p:sp>
      </p:grpSp>
      <p:grpSp>
        <p:nvGrpSpPr>
          <p:cNvPr id="241" name="encoder-stage-3"/>
          <p:cNvGrpSpPr/>
          <p:nvPr/>
        </p:nvGrpSpPr>
        <p:grpSpPr>
          <a:xfrm>
            <a:off x="2190750" y="1495425"/>
            <a:ext cx="533400" cy="876300"/>
            <a:chOff x="2190750" y="1495425"/>
            <a:chExt cx="533400" cy="876300"/>
          </a:xfrm>
        </p:grpSpPr>
        <p:sp>
          <p:nvSpPr>
            <p:cNvPr id="242" name="encoder-stage-3-top-0"/>
            <p:cNvSpPr/>
            <p:nvPr/>
          </p:nvSpPr>
          <p:spPr>
            <a:xfrm>
              <a:off x="2190750" y="1495425"/>
              <a:ext cx="323850" cy="285750"/>
            </a:xfrm>
            <a:custGeom>
              <a:avLst/>
              <a:gdLst/>
              <a:ahLst/>
              <a:cxnLst/>
              <a:rect l="0" t="0" r="r" b="b"/>
              <a:pathLst>
                <a:path w="3400" h="3000" fill="norm" stroke="1" extrusionOk="0">
                  <a:moveTo>
                    <a:pt x="0" y="3000"/>
                  </a:moveTo>
                  <a:lnTo>
                    <a:pt x="2800" y="0"/>
                  </a:lnTo>
                  <a:lnTo>
                    <a:pt x="3400" y="0"/>
                  </a:lnTo>
                  <a:lnTo>
                    <a:pt x="600" y="3000"/>
                  </a:lnTo>
                  <a:lnTo>
                    <a:pt x="0" y="3000"/>
                  </a:lnTo>
                  <a:close/>
                </a:path>
              </a:pathLst>
            </a:custGeom>
            <a:solidFill>
              <a:srgbClr val="F9E2BD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43" name="encoder-stage-3-plane-0"/>
            <p:cNvSpPr/>
            <p:nvPr/>
          </p:nvSpPr>
          <p:spPr>
            <a:xfrm>
              <a:off x="2247900" y="1495425"/>
              <a:ext cx="266700" cy="876300"/>
            </a:xfrm>
            <a:custGeom>
              <a:avLst/>
              <a:gdLst/>
              <a:ahLst/>
              <a:cxnLst/>
              <a:rect l="0" t="0" r="r" b="b"/>
              <a:pathLst>
                <a:path w="2800" h="9200" fill="norm" stroke="1" extrusionOk="0">
                  <a:moveTo>
                    <a:pt x="0" y="3000"/>
                  </a:moveTo>
                  <a:lnTo>
                    <a:pt x="2800" y="0"/>
                  </a:lnTo>
                  <a:lnTo>
                    <a:pt x="2800" y="6200"/>
                  </a:lnTo>
                  <a:lnTo>
                    <a:pt x="0" y="9200"/>
                  </a:lnTo>
                  <a:lnTo>
                    <a:pt x="0" y="3000"/>
                  </a:lnTo>
                  <a:close/>
                </a:path>
              </a:pathLst>
            </a:custGeom>
            <a:solidFill>
              <a:srgbClr val="E7C593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44" name="encoder-stage-3-edge-0"/>
            <p:cNvSpPr/>
            <p:nvPr/>
          </p:nvSpPr>
          <p:spPr>
            <a:xfrm>
              <a:off x="2190750" y="1781175"/>
              <a:ext cx="57150" cy="590550"/>
            </a:xfrm>
            <a:prstGeom prst="rect">
              <a:avLst/>
            </a:prstGeom>
            <a:solidFill>
              <a:srgbClr val="F3D9AD"/>
            </a:solidFill>
            <a:ln w="7620" cap="flat">
              <a:solidFill>
                <a:srgbClr val="161719"/>
              </a:solidFill>
              <a:miter/>
            </a:ln>
          </p:spPr>
        </p:sp>
        <p:sp>
          <p:nvSpPr>
            <p:cNvPr id="245" name="encoder-stage-3-top-1"/>
            <p:cNvSpPr/>
            <p:nvPr/>
          </p:nvSpPr>
          <p:spPr>
            <a:xfrm>
              <a:off x="2295525" y="1495425"/>
              <a:ext cx="323850" cy="285750"/>
            </a:xfrm>
            <a:custGeom>
              <a:avLst/>
              <a:gdLst/>
              <a:ahLst/>
              <a:cxnLst/>
              <a:rect l="0" t="0" r="r" b="b"/>
              <a:pathLst>
                <a:path w="3400" h="3000" fill="norm" stroke="1" extrusionOk="0">
                  <a:moveTo>
                    <a:pt x="0" y="3000"/>
                  </a:moveTo>
                  <a:lnTo>
                    <a:pt x="2800" y="0"/>
                  </a:lnTo>
                  <a:lnTo>
                    <a:pt x="3400" y="0"/>
                  </a:lnTo>
                  <a:lnTo>
                    <a:pt x="600" y="3000"/>
                  </a:lnTo>
                  <a:lnTo>
                    <a:pt x="0" y="3000"/>
                  </a:lnTo>
                  <a:close/>
                </a:path>
              </a:pathLst>
            </a:custGeom>
            <a:solidFill>
              <a:srgbClr val="F9E2BD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46" name="encoder-stage-3-plane-1"/>
            <p:cNvSpPr/>
            <p:nvPr/>
          </p:nvSpPr>
          <p:spPr>
            <a:xfrm>
              <a:off x="2352675" y="1495425"/>
              <a:ext cx="266700" cy="876300"/>
            </a:xfrm>
            <a:custGeom>
              <a:avLst/>
              <a:gdLst/>
              <a:ahLst/>
              <a:cxnLst/>
              <a:rect l="0" t="0" r="r" b="b"/>
              <a:pathLst>
                <a:path w="2800" h="9200" fill="norm" stroke="1" extrusionOk="0">
                  <a:moveTo>
                    <a:pt x="0" y="3000"/>
                  </a:moveTo>
                  <a:lnTo>
                    <a:pt x="2800" y="0"/>
                  </a:lnTo>
                  <a:lnTo>
                    <a:pt x="2800" y="6200"/>
                  </a:lnTo>
                  <a:lnTo>
                    <a:pt x="0" y="9200"/>
                  </a:lnTo>
                  <a:lnTo>
                    <a:pt x="0" y="3000"/>
                  </a:lnTo>
                  <a:close/>
                </a:path>
              </a:pathLst>
            </a:custGeom>
            <a:solidFill>
              <a:srgbClr val="E7C593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47" name="encoder-stage-3-edge-1"/>
            <p:cNvSpPr/>
            <p:nvPr/>
          </p:nvSpPr>
          <p:spPr>
            <a:xfrm>
              <a:off x="2295525" y="1781175"/>
              <a:ext cx="57150" cy="590550"/>
            </a:xfrm>
            <a:prstGeom prst="rect">
              <a:avLst/>
            </a:prstGeom>
            <a:solidFill>
              <a:srgbClr val="F3D9AD"/>
            </a:solidFill>
            <a:ln w="7620" cap="flat">
              <a:solidFill>
                <a:srgbClr val="161719"/>
              </a:solidFill>
              <a:miter/>
            </a:ln>
          </p:spPr>
        </p:sp>
        <p:sp>
          <p:nvSpPr>
            <p:cNvPr id="248" name="encoder-stage-3-top-2"/>
            <p:cNvSpPr/>
            <p:nvPr/>
          </p:nvSpPr>
          <p:spPr>
            <a:xfrm>
              <a:off x="2400300" y="1495425"/>
              <a:ext cx="323850" cy="285750"/>
            </a:xfrm>
            <a:custGeom>
              <a:avLst/>
              <a:gdLst/>
              <a:ahLst/>
              <a:cxnLst/>
              <a:rect l="0" t="0" r="r" b="b"/>
              <a:pathLst>
                <a:path w="3400" h="3000" fill="norm" stroke="1" extrusionOk="0">
                  <a:moveTo>
                    <a:pt x="0" y="3000"/>
                  </a:moveTo>
                  <a:lnTo>
                    <a:pt x="2800" y="0"/>
                  </a:lnTo>
                  <a:lnTo>
                    <a:pt x="3400" y="0"/>
                  </a:lnTo>
                  <a:lnTo>
                    <a:pt x="600" y="3000"/>
                  </a:lnTo>
                  <a:lnTo>
                    <a:pt x="0" y="3000"/>
                  </a:lnTo>
                  <a:close/>
                </a:path>
              </a:pathLst>
            </a:custGeom>
            <a:solidFill>
              <a:srgbClr val="F9E2BD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49" name="encoder-stage-3-plane-2"/>
            <p:cNvSpPr/>
            <p:nvPr/>
          </p:nvSpPr>
          <p:spPr>
            <a:xfrm>
              <a:off x="2457450" y="1495425"/>
              <a:ext cx="266700" cy="876300"/>
            </a:xfrm>
            <a:custGeom>
              <a:avLst/>
              <a:gdLst/>
              <a:ahLst/>
              <a:cxnLst/>
              <a:rect l="0" t="0" r="r" b="b"/>
              <a:pathLst>
                <a:path w="2800" h="9200" fill="norm" stroke="1" extrusionOk="0">
                  <a:moveTo>
                    <a:pt x="0" y="3000"/>
                  </a:moveTo>
                  <a:lnTo>
                    <a:pt x="2800" y="0"/>
                  </a:lnTo>
                  <a:lnTo>
                    <a:pt x="2800" y="6200"/>
                  </a:lnTo>
                  <a:lnTo>
                    <a:pt x="0" y="9200"/>
                  </a:lnTo>
                  <a:lnTo>
                    <a:pt x="0" y="3000"/>
                  </a:lnTo>
                  <a:close/>
                </a:path>
              </a:pathLst>
            </a:custGeom>
            <a:solidFill>
              <a:srgbClr val="E7C593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50" name="encoder-stage-3-edge-2"/>
            <p:cNvSpPr/>
            <p:nvPr/>
          </p:nvSpPr>
          <p:spPr>
            <a:xfrm>
              <a:off x="2400300" y="1781175"/>
              <a:ext cx="57150" cy="590550"/>
            </a:xfrm>
            <a:prstGeom prst="rect">
              <a:avLst/>
            </a:prstGeom>
            <a:solidFill>
              <a:srgbClr val="F3D9AD"/>
            </a:solidFill>
            <a:ln w="7620" cap="flat">
              <a:solidFill>
                <a:srgbClr val="161719"/>
              </a:solidFill>
              <a:miter/>
            </a:ln>
          </p:spPr>
        </p:sp>
      </p:grpSp>
      <p:grpSp>
        <p:nvGrpSpPr>
          <p:cNvPr id="251" name="pixel-scale-1"/>
          <p:cNvGrpSpPr/>
          <p:nvPr/>
        </p:nvGrpSpPr>
        <p:grpSpPr>
          <a:xfrm>
            <a:off x="5486400" y="1885950"/>
            <a:ext cx="133350" cy="228600"/>
            <a:chOff x="5486400" y="1885950"/>
            <a:chExt cx="133350" cy="228600"/>
          </a:xfrm>
        </p:grpSpPr>
        <p:sp>
          <p:nvSpPr>
            <p:cNvPr id="252" name="pixel-scale-1-top-0"/>
            <p:cNvSpPr/>
            <p:nvPr/>
          </p:nvSpPr>
          <p:spPr>
            <a:xfrm>
              <a:off x="5486400" y="1885950"/>
              <a:ext cx="133350" cy="66675"/>
            </a:xfrm>
            <a:custGeom>
              <a:avLst/>
              <a:gdLst/>
              <a:ahLst/>
              <a:cxnLst/>
              <a:rect l="0" t="0" r="r" b="b"/>
              <a:pathLst>
                <a:path w="1400" h="700" fill="norm" stroke="1" extrusionOk="0">
                  <a:moveTo>
                    <a:pt x="0" y="700"/>
                  </a:moveTo>
                  <a:lnTo>
                    <a:pt x="700" y="0"/>
                  </a:lnTo>
                  <a:lnTo>
                    <a:pt x="1400" y="0"/>
                  </a:lnTo>
                  <a:lnTo>
                    <a:pt x="700" y="700"/>
                  </a:lnTo>
                  <a:lnTo>
                    <a:pt x="0" y="700"/>
                  </a:lnTo>
                  <a:close/>
                </a:path>
              </a:pathLst>
            </a:custGeom>
            <a:solidFill>
              <a:srgbClr val="E5E0EE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53" name="pixel-scale-1-plane-0"/>
            <p:cNvSpPr/>
            <p:nvPr/>
          </p:nvSpPr>
          <p:spPr>
            <a:xfrm>
              <a:off x="5553075" y="1885950"/>
              <a:ext cx="66675" cy="228600"/>
            </a:xfrm>
            <a:custGeom>
              <a:avLst/>
              <a:gdLst/>
              <a:ahLst/>
              <a:cxnLst/>
              <a:rect l="0" t="0" r="r" b="b"/>
              <a:pathLst>
                <a:path w="700" h="2400" fill="norm" stroke="1" extrusionOk="0">
                  <a:moveTo>
                    <a:pt x="0" y="700"/>
                  </a:moveTo>
                  <a:lnTo>
                    <a:pt x="700" y="0"/>
                  </a:lnTo>
                  <a:lnTo>
                    <a:pt x="700" y="1700"/>
                  </a:lnTo>
                  <a:lnTo>
                    <a:pt x="0" y="2400"/>
                  </a:lnTo>
                  <a:lnTo>
                    <a:pt x="0" y="700"/>
                  </a:lnTo>
                  <a:close/>
                </a:path>
              </a:pathLst>
            </a:custGeom>
            <a:solidFill>
              <a:srgbClr val="C7BFD7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54" name="pixel-scale-1-edge-0"/>
            <p:cNvSpPr/>
            <p:nvPr/>
          </p:nvSpPr>
          <p:spPr>
            <a:xfrm>
              <a:off x="5486400" y="1952625"/>
              <a:ext cx="66675" cy="161925"/>
            </a:xfrm>
            <a:prstGeom prst="rect">
              <a:avLst/>
            </a:prstGeom>
            <a:solidFill>
              <a:srgbClr val="DDD7E6"/>
            </a:solidFill>
            <a:ln w="7620" cap="flat">
              <a:solidFill>
                <a:srgbClr val="161719"/>
              </a:solidFill>
              <a:miter/>
            </a:ln>
          </p:spPr>
        </p:sp>
      </p:grpSp>
      <p:grpSp>
        <p:nvGrpSpPr>
          <p:cNvPr id="255" name="pixel-scale-2"/>
          <p:cNvGrpSpPr/>
          <p:nvPr/>
        </p:nvGrpSpPr>
        <p:grpSpPr>
          <a:xfrm>
            <a:off x="5781675" y="1752600"/>
            <a:ext cx="209550" cy="428625"/>
            <a:chOff x="5781675" y="1752600"/>
            <a:chExt cx="209550" cy="428625"/>
          </a:xfrm>
        </p:grpSpPr>
        <p:sp>
          <p:nvSpPr>
            <p:cNvPr id="256" name="pixel-scale-2-top-0"/>
            <p:cNvSpPr/>
            <p:nvPr/>
          </p:nvSpPr>
          <p:spPr>
            <a:xfrm>
              <a:off x="5781675" y="1752600"/>
              <a:ext cx="209550" cy="123825"/>
            </a:xfrm>
            <a:custGeom>
              <a:avLst/>
              <a:gdLst/>
              <a:ahLst/>
              <a:cxnLst/>
              <a:rect l="0" t="0" r="r" b="b"/>
              <a:pathLst>
                <a:path w="2200" h="1300" fill="norm" stroke="1" extrusionOk="0">
                  <a:moveTo>
                    <a:pt x="0" y="1300"/>
                  </a:moveTo>
                  <a:lnTo>
                    <a:pt x="1200" y="0"/>
                  </a:lnTo>
                  <a:lnTo>
                    <a:pt x="2200" y="0"/>
                  </a:lnTo>
                  <a:lnTo>
                    <a:pt x="1000" y="1300"/>
                  </a:lnTo>
                  <a:lnTo>
                    <a:pt x="0" y="1300"/>
                  </a:lnTo>
                  <a:close/>
                </a:path>
              </a:pathLst>
            </a:custGeom>
            <a:solidFill>
              <a:srgbClr val="E2DDEC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57" name="pixel-scale-2-plane-0"/>
            <p:cNvSpPr/>
            <p:nvPr/>
          </p:nvSpPr>
          <p:spPr>
            <a:xfrm>
              <a:off x="5876925" y="1752600"/>
              <a:ext cx="114300" cy="428625"/>
            </a:xfrm>
            <a:custGeom>
              <a:avLst/>
              <a:gdLst/>
              <a:ahLst/>
              <a:cxnLst/>
              <a:rect l="0" t="0" r="r" b="b"/>
              <a:pathLst>
                <a:path w="1200" h="4500" fill="norm" stroke="1" extrusionOk="0">
                  <a:moveTo>
                    <a:pt x="0" y="1300"/>
                  </a:moveTo>
                  <a:lnTo>
                    <a:pt x="1200" y="0"/>
                  </a:lnTo>
                  <a:lnTo>
                    <a:pt x="1200" y="3200"/>
                  </a:lnTo>
                  <a:lnTo>
                    <a:pt x="0" y="4500"/>
                  </a:lnTo>
                  <a:lnTo>
                    <a:pt x="0" y="1300"/>
                  </a:lnTo>
                  <a:close/>
                </a:path>
              </a:pathLst>
            </a:custGeom>
            <a:solidFill>
              <a:srgbClr val="C5BCD5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58" name="pixel-scale-2-edge-0"/>
            <p:cNvSpPr/>
            <p:nvPr/>
          </p:nvSpPr>
          <p:spPr>
            <a:xfrm>
              <a:off x="5781675" y="1876425"/>
              <a:ext cx="95250" cy="304800"/>
            </a:xfrm>
            <a:prstGeom prst="rect">
              <a:avLst/>
            </a:prstGeom>
            <a:solidFill>
              <a:srgbClr val="D7CFE2"/>
            </a:solidFill>
            <a:ln w="7620" cap="flat">
              <a:solidFill>
                <a:srgbClr val="161719"/>
              </a:solidFill>
              <a:miter/>
            </a:ln>
          </p:spPr>
        </p:sp>
      </p:grpSp>
      <p:grpSp>
        <p:nvGrpSpPr>
          <p:cNvPr id="259" name="pixel-scale-3"/>
          <p:cNvGrpSpPr/>
          <p:nvPr/>
        </p:nvGrpSpPr>
        <p:grpSpPr>
          <a:xfrm>
            <a:off x="6172200" y="1571625"/>
            <a:ext cx="266700" cy="685800"/>
            <a:chOff x="6172200" y="1571625"/>
            <a:chExt cx="266700" cy="685800"/>
          </a:xfrm>
        </p:grpSpPr>
        <p:sp>
          <p:nvSpPr>
            <p:cNvPr id="260" name="pixel-scale-3-top-0"/>
            <p:cNvSpPr/>
            <p:nvPr/>
          </p:nvSpPr>
          <p:spPr>
            <a:xfrm>
              <a:off x="6172200" y="1571625"/>
              <a:ext cx="266700" cy="190500"/>
            </a:xfrm>
            <a:custGeom>
              <a:avLst/>
              <a:gdLst/>
              <a:ahLst/>
              <a:cxnLst/>
              <a:rect l="0" t="0" r="r" b="b"/>
              <a:pathLst>
                <a:path w="2800" h="2000" fill="norm" stroke="1" extrusionOk="0">
                  <a:moveTo>
                    <a:pt x="0" y="2000"/>
                  </a:moveTo>
                  <a:lnTo>
                    <a:pt x="1800" y="0"/>
                  </a:lnTo>
                  <a:lnTo>
                    <a:pt x="2800" y="0"/>
                  </a:lnTo>
                  <a:lnTo>
                    <a:pt x="1000" y="2000"/>
                  </a:lnTo>
                  <a:lnTo>
                    <a:pt x="0" y="2000"/>
                  </a:lnTo>
                  <a:close/>
                </a:path>
              </a:pathLst>
            </a:custGeom>
            <a:solidFill>
              <a:srgbClr val="D7E8D7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61" name="pixel-scale-3-plane-0"/>
            <p:cNvSpPr/>
            <p:nvPr/>
          </p:nvSpPr>
          <p:spPr>
            <a:xfrm>
              <a:off x="6267450" y="1571625"/>
              <a:ext cx="171450" cy="685800"/>
            </a:xfrm>
            <a:custGeom>
              <a:avLst/>
              <a:gdLst/>
              <a:ahLst/>
              <a:cxnLst/>
              <a:rect l="0" t="0" r="r" b="b"/>
              <a:pathLst>
                <a:path w="1800" h="7200" fill="norm" stroke="1" extrusionOk="0">
                  <a:moveTo>
                    <a:pt x="0" y="2000"/>
                  </a:moveTo>
                  <a:lnTo>
                    <a:pt x="1800" y="0"/>
                  </a:lnTo>
                  <a:lnTo>
                    <a:pt x="1800" y="5200"/>
                  </a:lnTo>
                  <a:lnTo>
                    <a:pt x="0" y="7200"/>
                  </a:lnTo>
                  <a:lnTo>
                    <a:pt x="0" y="2000"/>
                  </a:lnTo>
                  <a:close/>
                </a:path>
              </a:pathLst>
            </a:custGeom>
            <a:solidFill>
              <a:srgbClr val="B3CDB9"/>
            </a:solidFill>
            <a:ln w="7620" cap="flat">
              <a:solidFill>
                <a:srgbClr val="161719"/>
              </a:solidFill>
              <a:round/>
            </a:ln>
          </p:spPr>
        </p:sp>
        <p:sp>
          <p:nvSpPr>
            <p:cNvPr id="262" name="pixel-scale-3-edge-0"/>
            <p:cNvSpPr/>
            <p:nvPr/>
          </p:nvSpPr>
          <p:spPr>
            <a:xfrm>
              <a:off x="6172200" y="1762125"/>
              <a:ext cx="95250" cy="495300"/>
            </a:xfrm>
            <a:prstGeom prst="rect">
              <a:avLst/>
            </a:prstGeom>
            <a:solidFill>
              <a:srgbClr val="CDE2CD"/>
            </a:solidFill>
            <a:ln w="7620" cap="flat">
              <a:solidFill>
                <a:srgbClr val="161719"/>
              </a:solidFill>
              <a:miter/>
            </a:ln>
          </p:spPr>
        </p:sp>
      </p:grpSp>
      <p:sp>
        <p:nvSpPr>
          <p:cNvPr id="263" name="pixel-arrow1"/>
          <p:cNvSpPr/>
          <p:nvPr/>
        </p:nvSpPr>
        <p:spPr>
          <a:xfrm>
            <a:off x="5324475" y="2000250"/>
            <a:ext cx="133350" cy="10"/>
          </a:xfrm>
          <a:custGeom>
            <a:avLst/>
            <a:gdLst/>
            <a:ahLst/>
            <a:cxnLst/>
            <a:rect l="0" t="0" r="r" b="b"/>
            <a:pathLst>
              <a:path w="1400" h="1" fill="none" stroke="1" extrusionOk="0">
                <a:moveTo>
                  <a:pt x="0" y="0"/>
                </a:moveTo>
                <a:lnTo>
                  <a:pt x="1400" y="0"/>
                </a:lnTo>
              </a:path>
            </a:pathLst>
          </a:custGeom>
          <a:noFill/>
          <a:ln w="9525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264" name="pixel-arrow2"/>
          <p:cNvSpPr/>
          <p:nvPr/>
        </p:nvSpPr>
        <p:spPr>
          <a:xfrm>
            <a:off x="5619750" y="2000250"/>
            <a:ext cx="133350" cy="10"/>
          </a:xfrm>
          <a:custGeom>
            <a:avLst/>
            <a:gdLst/>
            <a:ahLst/>
            <a:cxnLst/>
            <a:rect l="0" t="0" r="r" b="b"/>
            <a:pathLst>
              <a:path w="1400" h="1" fill="none" stroke="1" extrusionOk="0">
                <a:moveTo>
                  <a:pt x="0" y="0"/>
                </a:moveTo>
                <a:lnTo>
                  <a:pt x="1400" y="0"/>
                </a:lnTo>
              </a:path>
            </a:pathLst>
          </a:custGeom>
          <a:noFill/>
          <a:ln w="9525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265" name="pixel-arrow3"/>
          <p:cNvSpPr/>
          <p:nvPr/>
        </p:nvSpPr>
        <p:spPr>
          <a:xfrm>
            <a:off x="6019800" y="2000250"/>
            <a:ext cx="123825" cy="10"/>
          </a:xfrm>
          <a:custGeom>
            <a:avLst/>
            <a:gdLst/>
            <a:ahLst/>
            <a:cxnLst/>
            <a:rect l="0" t="0" r="r" b="b"/>
            <a:pathLst>
              <a:path w="1300" h="1" fill="none" stroke="1" extrusionOk="0">
                <a:moveTo>
                  <a:pt x="0" y="0"/>
                </a:moveTo>
                <a:lnTo>
                  <a:pt x="1300" y="0"/>
                </a:lnTo>
              </a:path>
            </a:pathLst>
          </a:custGeom>
          <a:noFill/>
          <a:ln w="9525" cap="rnd">
            <a:solidFill>
              <a:srgbClr val="161719"/>
            </a:solidFill>
            <a:round/>
            <a:tailEnd type="triangle" w="med" len="med"/>
          </a:ln>
        </p:spPr>
      </p:sp>
      <p:sp>
        <p:nvSpPr>
          <p:cNvPr id="266" name="pixel-skip-right"/>
          <p:cNvSpPr/>
          <p:nvPr/>
        </p:nvSpPr>
        <p:spPr>
          <a:xfrm>
            <a:off x="6362700" y="1876425"/>
            <a:ext cx="171450" cy="609600"/>
          </a:xfrm>
          <a:custGeom>
            <a:avLst/>
            <a:gdLst/>
            <a:ahLst/>
            <a:cxnLst/>
            <a:rect l="0" t="0" r="r" b="b"/>
            <a:pathLst>
              <a:path w="1800" h="6400" fill="none" stroke="1" extrusionOk="0">
                <a:moveTo>
                  <a:pt x="800" y="0"/>
                </a:moveTo>
                <a:lnTo>
                  <a:pt x="1800" y="0"/>
                </a:lnTo>
                <a:lnTo>
                  <a:pt x="1800" y="6400"/>
                </a:lnTo>
                <a:lnTo>
                  <a:pt x="0" y="6400"/>
                </a:lnTo>
              </a:path>
            </a:pathLst>
          </a:custGeom>
          <a:noFill/>
          <a:ln w="9525" cap="rnd">
            <a:solidFill>
              <a:srgbClr val="659FA9"/>
            </a:solidFill>
            <a:round/>
          </a:ln>
        </p:spPr>
      </p:sp>
      <p:sp>
        <p:nvSpPr>
          <p:cNvPr id="267" name="pixel-skip-up"/>
          <p:cNvSpPr/>
          <p:nvPr/>
        </p:nvSpPr>
        <p:spPr>
          <a:xfrm>
            <a:off x="5495925" y="2152650"/>
            <a:ext cx="152400" cy="333375"/>
          </a:xfrm>
          <a:custGeom>
            <a:avLst/>
            <a:gdLst/>
            <a:ahLst/>
            <a:cxnLst/>
            <a:rect l="0" t="0" r="r" b="b"/>
            <a:pathLst>
              <a:path w="1600" h="3500" fill="none" stroke="1" extrusionOk="0">
                <a:moveTo>
                  <a:pt x="1600" y="3500"/>
                </a:moveTo>
                <a:lnTo>
                  <a:pt x="0" y="3500"/>
                </a:lnTo>
                <a:lnTo>
                  <a:pt x="0" y="0"/>
                </a:lnTo>
              </a:path>
            </a:pathLst>
          </a:custGeom>
          <a:noFill/>
          <a:ln w="9525" cap="rnd">
            <a:solidFill>
              <a:srgbClr val="659FA9"/>
            </a:solidFill>
            <a:round/>
            <a:tailEnd type="triangle" w="med" len="med"/>
          </a:ln>
        </p:spPr>
      </p:sp>
      <p:grpSp>
        <p:nvGrpSpPr>
          <p:cNvPr id="268" name="query-conditioned-refiner"/>
          <p:cNvGrpSpPr/>
          <p:nvPr/>
        </p:nvGrpSpPr>
        <p:grpSpPr>
          <a:xfrm>
            <a:off x="6572250" y="3038475"/>
            <a:ext cx="912781" cy="933450"/>
            <a:chOff x="6572250" y="3038475"/>
            <a:chExt cx="912781" cy="933450"/>
          </a:xfrm>
        </p:grpSpPr>
        <p:sp>
          <p:nvSpPr>
            <p:cNvPr id="269" name="refiner-plane-0"/>
            <p:cNvSpPr/>
            <p:nvPr/>
          </p:nvSpPr>
          <p:spPr>
            <a:xfrm>
              <a:off x="6572250" y="3038475"/>
              <a:ext cx="781050" cy="771525"/>
            </a:xfrm>
            <a:custGeom>
              <a:avLst/>
              <a:gdLst/>
              <a:ahLst/>
              <a:cxnLst/>
              <a:rect l="0" t="0" r="r" b="b"/>
              <a:pathLst>
                <a:path w="8200" h="8100" fill="norm" stroke="1" extrusionOk="0">
                  <a:moveTo>
                    <a:pt x="300" y="0"/>
                  </a:moveTo>
                  <a:lnTo>
                    <a:pt x="7900" y="0"/>
                  </a:lnTo>
                  <a:cubicBezTo>
                    <a:pt x="8066" y="0"/>
                    <a:pt x="8200" y="134"/>
                    <a:pt x="8200" y="300"/>
                  </a:cubicBezTo>
                  <a:lnTo>
                    <a:pt x="8200" y="7800"/>
                  </a:lnTo>
                  <a:cubicBezTo>
                    <a:pt x="8200" y="7966"/>
                    <a:pt x="8066" y="8100"/>
                    <a:pt x="7900" y="8100"/>
                  </a:cubicBezTo>
                  <a:lnTo>
                    <a:pt x="300" y="8100"/>
                  </a:lnTo>
                  <a:cubicBezTo>
                    <a:pt x="134" y="8100"/>
                    <a:pt x="0" y="7966"/>
                    <a:pt x="0" y="7800"/>
                  </a:cubicBezTo>
                  <a:lnTo>
                    <a:pt x="0" y="300"/>
                  </a:lnTo>
                  <a:cubicBezTo>
                    <a:pt x="0" y="134"/>
                    <a:pt x="134" y="0"/>
                    <a:pt x="300" y="0"/>
                  </a:cubicBezTo>
                  <a:close/>
                </a:path>
              </a:pathLst>
            </a:custGeom>
            <a:solidFill>
              <a:srgbClr val="F8E7B9"/>
            </a:solidFill>
            <a:ln w="8096" cap="flat">
              <a:solidFill>
                <a:srgbClr val="161719"/>
              </a:solidFill>
              <a:miter/>
            </a:ln>
          </p:spPr>
        </p:sp>
        <p:sp>
          <p:nvSpPr>
            <p:cNvPr id="270" name="refiner-plane-1"/>
            <p:cNvSpPr/>
            <p:nvPr/>
          </p:nvSpPr>
          <p:spPr>
            <a:xfrm>
              <a:off x="6619875" y="3086100"/>
              <a:ext cx="790575" cy="790575"/>
            </a:xfrm>
            <a:custGeom>
              <a:avLst/>
              <a:gdLst/>
              <a:ahLst/>
              <a:cxnLst/>
              <a:rect l="0" t="0" r="r" b="b"/>
              <a:pathLst>
                <a:path w="8300" h="8300" fill="norm" stroke="1" extrusionOk="0">
                  <a:moveTo>
                    <a:pt x="300" y="0"/>
                  </a:moveTo>
                  <a:lnTo>
                    <a:pt x="8000" y="0"/>
                  </a:lnTo>
                  <a:cubicBezTo>
                    <a:pt x="8166" y="0"/>
                    <a:pt x="8300" y="134"/>
                    <a:pt x="8300" y="300"/>
                  </a:cubicBezTo>
                  <a:lnTo>
                    <a:pt x="8300" y="8000"/>
                  </a:lnTo>
                  <a:cubicBezTo>
                    <a:pt x="8300" y="8166"/>
                    <a:pt x="8166" y="8300"/>
                    <a:pt x="8000" y="8300"/>
                  </a:cubicBezTo>
                  <a:lnTo>
                    <a:pt x="300" y="8300"/>
                  </a:lnTo>
                  <a:cubicBezTo>
                    <a:pt x="134" y="8300"/>
                    <a:pt x="0" y="8166"/>
                    <a:pt x="0" y="8000"/>
                  </a:cubicBezTo>
                  <a:lnTo>
                    <a:pt x="0" y="300"/>
                  </a:lnTo>
                  <a:cubicBezTo>
                    <a:pt x="0" y="134"/>
                    <a:pt x="134" y="0"/>
                    <a:pt x="300" y="0"/>
                  </a:cubicBezTo>
                  <a:close/>
                </a:path>
              </a:pathLst>
            </a:custGeom>
            <a:solidFill>
              <a:srgbClr val="D5E9D3"/>
            </a:solidFill>
            <a:ln w="8096" cap="flat">
              <a:solidFill>
                <a:srgbClr val="161719"/>
              </a:solidFill>
              <a:miter/>
            </a:ln>
          </p:spPr>
        </p:sp>
        <p:sp>
          <p:nvSpPr>
            <p:cNvPr id="271" name="refiner-plane-2"/>
            <p:cNvSpPr/>
            <p:nvPr/>
          </p:nvSpPr>
          <p:spPr>
            <a:xfrm>
              <a:off x="6667500" y="3152775"/>
              <a:ext cx="752475" cy="733425"/>
            </a:xfrm>
            <a:custGeom>
              <a:avLst/>
              <a:gdLst/>
              <a:ahLst/>
              <a:cxnLst/>
              <a:rect l="0" t="0" r="r" b="b"/>
              <a:pathLst>
                <a:path w="7900" h="7700" fill="norm" stroke="1" extrusionOk="0">
                  <a:moveTo>
                    <a:pt x="300" y="0"/>
                  </a:moveTo>
                  <a:lnTo>
                    <a:pt x="7600" y="0"/>
                  </a:lnTo>
                  <a:cubicBezTo>
                    <a:pt x="7766" y="0"/>
                    <a:pt x="7900" y="134"/>
                    <a:pt x="7900" y="300"/>
                  </a:cubicBezTo>
                  <a:lnTo>
                    <a:pt x="7900" y="7400"/>
                  </a:lnTo>
                  <a:cubicBezTo>
                    <a:pt x="7900" y="7566"/>
                    <a:pt x="7766" y="7700"/>
                    <a:pt x="7600" y="7700"/>
                  </a:cubicBezTo>
                  <a:lnTo>
                    <a:pt x="300" y="7700"/>
                  </a:lnTo>
                  <a:cubicBezTo>
                    <a:pt x="134" y="7700"/>
                    <a:pt x="0" y="7566"/>
                    <a:pt x="0" y="7400"/>
                  </a:cubicBezTo>
                  <a:lnTo>
                    <a:pt x="0" y="300"/>
                  </a:lnTo>
                  <a:cubicBezTo>
                    <a:pt x="0" y="134"/>
                    <a:pt x="134" y="0"/>
                    <a:pt x="300" y="0"/>
                  </a:cubicBezTo>
                  <a:close/>
                </a:path>
              </a:pathLst>
            </a:custGeom>
            <a:solidFill>
              <a:srgbClr val="C6DFCE"/>
            </a:solidFill>
            <a:ln w="8096" cap="flat">
              <a:solidFill>
                <a:srgbClr val="161719"/>
              </a:solidFill>
              <a:miter/>
            </a:ln>
          </p:spPr>
        </p:sp>
        <p:sp>
          <p:nvSpPr>
            <p:cNvPr id="272" name="refiner-plane-3"/>
            <p:cNvSpPr/>
            <p:nvPr/>
          </p:nvSpPr>
          <p:spPr>
            <a:xfrm>
              <a:off x="6715125" y="3238500"/>
              <a:ext cx="762000" cy="733425"/>
            </a:xfrm>
            <a:custGeom>
              <a:avLst/>
              <a:gdLst/>
              <a:ahLst/>
              <a:cxnLst/>
              <a:rect l="0" t="0" r="r" b="b"/>
              <a:pathLst>
                <a:path w="8000" h="7700" fill="norm" stroke="1" extrusionOk="0">
                  <a:moveTo>
                    <a:pt x="300" y="0"/>
                  </a:moveTo>
                  <a:lnTo>
                    <a:pt x="7700" y="0"/>
                  </a:lnTo>
                  <a:cubicBezTo>
                    <a:pt x="7866" y="0"/>
                    <a:pt x="8000" y="134"/>
                    <a:pt x="8000" y="300"/>
                  </a:cubicBezTo>
                  <a:lnTo>
                    <a:pt x="8000" y="7400"/>
                  </a:lnTo>
                  <a:cubicBezTo>
                    <a:pt x="8000" y="7566"/>
                    <a:pt x="7866" y="7700"/>
                    <a:pt x="7700" y="7700"/>
                  </a:cubicBezTo>
                  <a:lnTo>
                    <a:pt x="300" y="7700"/>
                  </a:lnTo>
                  <a:cubicBezTo>
                    <a:pt x="134" y="7700"/>
                    <a:pt x="0" y="7566"/>
                    <a:pt x="0" y="7400"/>
                  </a:cubicBezTo>
                  <a:lnTo>
                    <a:pt x="0" y="300"/>
                  </a:lnTo>
                  <a:cubicBezTo>
                    <a:pt x="0" y="134"/>
                    <a:pt x="134" y="0"/>
                    <a:pt x="300" y="0"/>
                  </a:cubicBezTo>
                  <a:close/>
                </a:path>
              </a:pathLst>
            </a:custGeom>
            <a:solidFill>
              <a:srgbClr val="C7E5D0"/>
            </a:solidFill>
            <a:ln w="8096" cap="flat">
              <a:solidFill>
                <a:srgbClr val="161719"/>
              </a:solidFill>
              <a:miter/>
            </a:ln>
          </p:spPr>
        </p:sp>
        <p:grpSp>
          <p:nvGrpSpPr>
            <p:cNvPr id="273" name="refiner-label-text"/>
            <p:cNvGrpSpPr/>
            <p:nvPr/>
          </p:nvGrpSpPr>
          <p:grpSpPr>
            <a:xfrm>
              <a:off x="6749272" y="3301651"/>
              <a:ext cx="703231" cy="482156"/>
              <a:chOff x="6749272" y="3301651"/>
              <a:chExt cx="703231" cy="482156"/>
            </a:xfrm>
          </p:grpSpPr>
          <p:sp>
            <p:nvSpPr>
              <p:cNvPr id="56" name="refiner-label-0"/>
              <p:cNvSpPr txBox="1"/>
              <p:nvPr/>
            </p:nvSpPr>
            <p:spPr>
              <a:xfrm>
                <a:off x="6884241" y="3301651"/>
                <a:ext cx="433292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Query-</a:t>
                </a:r>
                <a:endParaRPr lang="en-US"/>
              </a:p>
            </p:txBody>
          </p:sp>
          <p:sp>
            <p:nvSpPr>
              <p:cNvPr id="57" name="refiner-label-1"/>
              <p:cNvSpPr txBox="1"/>
              <p:nvPr/>
            </p:nvSpPr>
            <p:spPr>
              <a:xfrm>
                <a:off x="6749272" y="3454051"/>
                <a:ext cx="703231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conditioned</a:t>
                </a:r>
                <a:endParaRPr lang="en-US"/>
              </a:p>
            </p:txBody>
          </p:sp>
          <p:sp>
            <p:nvSpPr>
              <p:cNvPr id="58" name="refiner-label-2"/>
              <p:cNvSpPr txBox="1"/>
              <p:nvPr/>
            </p:nvSpPr>
            <p:spPr>
              <a:xfrm>
                <a:off x="6896148" y="3606451"/>
                <a:ext cx="409480" cy="177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25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refiner</a:t>
                </a:r>
                <a:endParaRPr lang="en-US"/>
              </a:p>
            </p:txBody>
          </p:sp>
        </p:grpSp>
        <p:grpSp>
          <p:nvGrpSpPr>
            <p:cNvPr id="274" name="refiner-stride-text"/>
            <p:cNvGrpSpPr/>
            <p:nvPr/>
          </p:nvGrpSpPr>
          <p:grpSpPr>
            <a:xfrm>
              <a:off x="6735794" y="3784282"/>
              <a:ext cx="749236" cy="145733"/>
              <a:chOff x="6735794" y="3784282"/>
              <a:chExt cx="749236" cy="145733"/>
            </a:xfrm>
          </p:grpSpPr>
          <p:sp>
            <p:nvSpPr>
              <p:cNvPr id="59" name="refiner-stride-0"/>
              <p:cNvSpPr txBox="1"/>
              <p:nvPr/>
            </p:nvSpPr>
            <p:spPr>
              <a:xfrm>
                <a:off x="6735794" y="3784282"/>
                <a:ext cx="749236" cy="145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Stride 2 · FiLM</a:t>
                </a:r>
                <a:endParaRPr lang="en-US"/>
              </a:p>
            </p:txBody>
          </p:sp>
        </p:grpSp>
      </p:grpSp>
      <p:grpSp>
        <p:nvGrpSpPr>
          <p:cNvPr id="275" name="learned-query-tokens"/>
          <p:cNvGrpSpPr/>
          <p:nvPr/>
        </p:nvGrpSpPr>
        <p:grpSpPr>
          <a:xfrm>
            <a:off x="1181100" y="4324350"/>
            <a:ext cx="1019175" cy="200025"/>
            <a:chOff x="1181100" y="4324350"/>
            <a:chExt cx="1019175" cy="200025"/>
          </a:xfrm>
        </p:grpSpPr>
        <p:sp>
          <p:nvSpPr>
            <p:cNvPr id="276" name="query-strip-2-cell-0"/>
            <p:cNvSpPr/>
            <p:nvPr/>
          </p:nvSpPr>
          <p:spPr>
            <a:xfrm>
              <a:off x="1257300" y="4419600"/>
              <a:ext cx="104775" cy="104775"/>
            </a:xfrm>
            <a:prstGeom prst="rect">
              <a:avLst/>
            </a:prstGeom>
            <a:solidFill>
              <a:srgbClr val="EADDCB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77" name="query-strip-2-cell-1"/>
            <p:cNvSpPr/>
            <p:nvPr/>
          </p:nvSpPr>
          <p:spPr>
            <a:xfrm>
              <a:off x="1362075" y="4419600"/>
              <a:ext cx="104775" cy="104775"/>
            </a:xfrm>
            <a:prstGeom prst="rect">
              <a:avLst/>
            </a:prstGeom>
            <a:solidFill>
              <a:srgbClr val="E2E7DB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78" name="query-strip-2-cell-2"/>
            <p:cNvSpPr/>
            <p:nvPr/>
          </p:nvSpPr>
          <p:spPr>
            <a:xfrm>
              <a:off x="1466850" y="4419600"/>
              <a:ext cx="104775" cy="104775"/>
            </a:xfrm>
            <a:prstGeom prst="rect">
              <a:avLst/>
            </a:prstGeom>
            <a:solidFill>
              <a:srgbClr val="EAE4C8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79" name="query-strip-2-cell-3"/>
            <p:cNvSpPr/>
            <p:nvPr/>
          </p:nvSpPr>
          <p:spPr>
            <a:xfrm>
              <a:off x="1571625" y="4419600"/>
              <a:ext cx="104775" cy="104775"/>
            </a:xfrm>
            <a:prstGeom prst="rect">
              <a:avLst/>
            </a:prstGeom>
            <a:solidFill>
              <a:srgbClr val="CEE2DC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80" name="query-strip-2-cell-4"/>
            <p:cNvSpPr/>
            <p:nvPr/>
          </p:nvSpPr>
          <p:spPr>
            <a:xfrm>
              <a:off x="1676400" y="4419600"/>
              <a:ext cx="104775" cy="104775"/>
            </a:xfrm>
            <a:prstGeom prst="rect">
              <a:avLst/>
            </a:prstGeom>
            <a:solidFill>
              <a:srgbClr val="E4D8C5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81" name="query-strip-2-cell-5"/>
            <p:cNvSpPr/>
            <p:nvPr/>
          </p:nvSpPr>
          <p:spPr>
            <a:xfrm>
              <a:off x="1781175" y="4419600"/>
              <a:ext cx="104775" cy="104775"/>
            </a:xfrm>
            <a:prstGeom prst="rect">
              <a:avLst/>
            </a:prstGeom>
            <a:solidFill>
              <a:srgbClr val="F2E8C8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82" name="query-strip-2-cell-6"/>
            <p:cNvSpPr/>
            <p:nvPr/>
          </p:nvSpPr>
          <p:spPr>
            <a:xfrm>
              <a:off x="1885950" y="4419600"/>
              <a:ext cx="104775" cy="104775"/>
            </a:xfrm>
            <a:prstGeom prst="rect">
              <a:avLst/>
            </a:prstGeom>
            <a:solidFill>
              <a:srgbClr val="DDE5D3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83" name="query-strip-2-cell-7"/>
            <p:cNvSpPr/>
            <p:nvPr/>
          </p:nvSpPr>
          <p:spPr>
            <a:xfrm>
              <a:off x="1990725" y="4419600"/>
              <a:ext cx="104775" cy="104775"/>
            </a:xfrm>
            <a:prstGeom prst="rect">
              <a:avLst/>
            </a:prstGeom>
            <a:solidFill>
              <a:srgbClr val="EAE3CF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84" name="query-strip-2-cell-8"/>
            <p:cNvSpPr/>
            <p:nvPr/>
          </p:nvSpPr>
          <p:spPr>
            <a:xfrm>
              <a:off x="2095500" y="4419600"/>
              <a:ext cx="104775" cy="104775"/>
            </a:xfrm>
            <a:prstGeom prst="rect">
              <a:avLst/>
            </a:prstGeom>
            <a:solidFill>
              <a:srgbClr val="D5DBC9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85" name="query-strip-1-cell-0"/>
            <p:cNvSpPr/>
            <p:nvPr/>
          </p:nvSpPr>
          <p:spPr>
            <a:xfrm>
              <a:off x="1219200" y="4371975"/>
              <a:ext cx="104775" cy="104775"/>
            </a:xfrm>
            <a:prstGeom prst="rect">
              <a:avLst/>
            </a:prstGeom>
            <a:solidFill>
              <a:srgbClr val="EADDCB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86" name="query-strip-1-cell-1"/>
            <p:cNvSpPr/>
            <p:nvPr/>
          </p:nvSpPr>
          <p:spPr>
            <a:xfrm>
              <a:off x="1323975" y="4371975"/>
              <a:ext cx="104775" cy="104775"/>
            </a:xfrm>
            <a:prstGeom prst="rect">
              <a:avLst/>
            </a:prstGeom>
            <a:solidFill>
              <a:srgbClr val="E2E7DB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87" name="query-strip-1-cell-2"/>
            <p:cNvSpPr/>
            <p:nvPr/>
          </p:nvSpPr>
          <p:spPr>
            <a:xfrm>
              <a:off x="1428750" y="4371975"/>
              <a:ext cx="104775" cy="104775"/>
            </a:xfrm>
            <a:prstGeom prst="rect">
              <a:avLst/>
            </a:prstGeom>
            <a:solidFill>
              <a:srgbClr val="EAE4C8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88" name="query-strip-1-cell-3"/>
            <p:cNvSpPr/>
            <p:nvPr/>
          </p:nvSpPr>
          <p:spPr>
            <a:xfrm>
              <a:off x="1533525" y="4371975"/>
              <a:ext cx="104775" cy="104775"/>
            </a:xfrm>
            <a:prstGeom prst="rect">
              <a:avLst/>
            </a:prstGeom>
            <a:solidFill>
              <a:srgbClr val="CEE2DC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89" name="query-strip-1-cell-4"/>
            <p:cNvSpPr/>
            <p:nvPr/>
          </p:nvSpPr>
          <p:spPr>
            <a:xfrm>
              <a:off x="1638300" y="4371975"/>
              <a:ext cx="104775" cy="104775"/>
            </a:xfrm>
            <a:prstGeom prst="rect">
              <a:avLst/>
            </a:prstGeom>
            <a:solidFill>
              <a:srgbClr val="E4D8C5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90" name="query-strip-1-cell-5"/>
            <p:cNvSpPr/>
            <p:nvPr/>
          </p:nvSpPr>
          <p:spPr>
            <a:xfrm>
              <a:off x="1743075" y="4371975"/>
              <a:ext cx="104775" cy="104775"/>
            </a:xfrm>
            <a:prstGeom prst="rect">
              <a:avLst/>
            </a:prstGeom>
            <a:solidFill>
              <a:srgbClr val="F2E8C8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91" name="query-strip-1-cell-6"/>
            <p:cNvSpPr/>
            <p:nvPr/>
          </p:nvSpPr>
          <p:spPr>
            <a:xfrm>
              <a:off x="1847850" y="4371975"/>
              <a:ext cx="104775" cy="104775"/>
            </a:xfrm>
            <a:prstGeom prst="rect">
              <a:avLst/>
            </a:prstGeom>
            <a:solidFill>
              <a:srgbClr val="DDE5D3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92" name="query-strip-1-cell-7"/>
            <p:cNvSpPr/>
            <p:nvPr/>
          </p:nvSpPr>
          <p:spPr>
            <a:xfrm>
              <a:off x="1952625" y="4371975"/>
              <a:ext cx="104775" cy="104775"/>
            </a:xfrm>
            <a:prstGeom prst="rect">
              <a:avLst/>
            </a:prstGeom>
            <a:solidFill>
              <a:srgbClr val="EAE3CF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93" name="query-strip-1-cell-8"/>
            <p:cNvSpPr/>
            <p:nvPr/>
          </p:nvSpPr>
          <p:spPr>
            <a:xfrm>
              <a:off x="2057400" y="4371975"/>
              <a:ext cx="104775" cy="104775"/>
            </a:xfrm>
            <a:prstGeom prst="rect">
              <a:avLst/>
            </a:prstGeom>
            <a:solidFill>
              <a:srgbClr val="D5DBC9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94" name="query-strip-0-cell-0"/>
            <p:cNvSpPr/>
            <p:nvPr/>
          </p:nvSpPr>
          <p:spPr>
            <a:xfrm>
              <a:off x="1181100" y="4324350"/>
              <a:ext cx="104775" cy="104775"/>
            </a:xfrm>
            <a:prstGeom prst="rect">
              <a:avLst/>
            </a:prstGeom>
            <a:solidFill>
              <a:srgbClr val="EADDCB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95" name="query-strip-0-cell-1"/>
            <p:cNvSpPr/>
            <p:nvPr/>
          </p:nvSpPr>
          <p:spPr>
            <a:xfrm>
              <a:off x="1285875" y="4324350"/>
              <a:ext cx="104775" cy="104775"/>
            </a:xfrm>
            <a:prstGeom prst="rect">
              <a:avLst/>
            </a:prstGeom>
            <a:solidFill>
              <a:srgbClr val="E2E7DB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96" name="query-strip-0-cell-2"/>
            <p:cNvSpPr/>
            <p:nvPr/>
          </p:nvSpPr>
          <p:spPr>
            <a:xfrm>
              <a:off x="1390650" y="4324350"/>
              <a:ext cx="104775" cy="104775"/>
            </a:xfrm>
            <a:prstGeom prst="rect">
              <a:avLst/>
            </a:prstGeom>
            <a:solidFill>
              <a:srgbClr val="EAE4C8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97" name="query-strip-0-cell-3"/>
            <p:cNvSpPr/>
            <p:nvPr/>
          </p:nvSpPr>
          <p:spPr>
            <a:xfrm>
              <a:off x="1495425" y="4324350"/>
              <a:ext cx="104775" cy="104775"/>
            </a:xfrm>
            <a:prstGeom prst="rect">
              <a:avLst/>
            </a:prstGeom>
            <a:solidFill>
              <a:srgbClr val="CEE2DC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98" name="query-strip-0-cell-4"/>
            <p:cNvSpPr/>
            <p:nvPr/>
          </p:nvSpPr>
          <p:spPr>
            <a:xfrm>
              <a:off x="1600200" y="4324350"/>
              <a:ext cx="104775" cy="104775"/>
            </a:xfrm>
            <a:prstGeom prst="rect">
              <a:avLst/>
            </a:prstGeom>
            <a:solidFill>
              <a:srgbClr val="E4D8C5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299" name="query-strip-0-cell-5"/>
            <p:cNvSpPr/>
            <p:nvPr/>
          </p:nvSpPr>
          <p:spPr>
            <a:xfrm>
              <a:off x="1704975" y="4324350"/>
              <a:ext cx="104775" cy="104775"/>
            </a:xfrm>
            <a:prstGeom prst="rect">
              <a:avLst/>
            </a:prstGeom>
            <a:solidFill>
              <a:srgbClr val="F2E8C8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300" name="query-strip-0-cell-6"/>
            <p:cNvSpPr/>
            <p:nvPr/>
          </p:nvSpPr>
          <p:spPr>
            <a:xfrm>
              <a:off x="1809750" y="4324350"/>
              <a:ext cx="104775" cy="104775"/>
            </a:xfrm>
            <a:prstGeom prst="rect">
              <a:avLst/>
            </a:prstGeom>
            <a:solidFill>
              <a:srgbClr val="DDE5D3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301" name="query-strip-0-cell-7"/>
            <p:cNvSpPr/>
            <p:nvPr/>
          </p:nvSpPr>
          <p:spPr>
            <a:xfrm>
              <a:off x="1914525" y="4324350"/>
              <a:ext cx="104775" cy="104775"/>
            </a:xfrm>
            <a:prstGeom prst="rect">
              <a:avLst/>
            </a:prstGeom>
            <a:solidFill>
              <a:srgbClr val="EAE3CF"/>
            </a:solidFill>
            <a:ln w="6191" cap="flat">
              <a:solidFill>
                <a:srgbClr val="161719"/>
              </a:solidFill>
              <a:miter/>
            </a:ln>
          </p:spPr>
        </p:sp>
        <p:sp>
          <p:nvSpPr>
            <p:cNvPr id="302" name="query-strip-0-cell-8"/>
            <p:cNvSpPr/>
            <p:nvPr/>
          </p:nvSpPr>
          <p:spPr>
            <a:xfrm>
              <a:off x="2019300" y="4324350"/>
              <a:ext cx="104775" cy="104775"/>
            </a:xfrm>
            <a:prstGeom prst="rect">
              <a:avLst/>
            </a:prstGeom>
            <a:solidFill>
              <a:srgbClr val="D5DBC9"/>
            </a:solidFill>
            <a:ln w="6191" cap="flat">
              <a:solidFill>
                <a:srgbClr val="161719"/>
              </a:solidFill>
              <a:miter/>
            </a:ln>
          </p:spPr>
        </p:sp>
      </p:grpSp>
      <p:sp>
        <p:nvSpPr>
          <p:cNvPr id="303" name="sigmoid-curve-top"/>
          <p:cNvSpPr/>
          <p:nvPr/>
        </p:nvSpPr>
        <p:spPr>
          <a:xfrm>
            <a:off x="8058150" y="1857375"/>
            <a:ext cx="171450" cy="152400"/>
          </a:xfrm>
          <a:custGeom>
            <a:avLst/>
            <a:gdLst/>
            <a:ahLst/>
            <a:cxnLst/>
            <a:rect l="0" t="0" r="r" b="b"/>
            <a:pathLst>
              <a:path w="1800" h="1600" fill="none" stroke="1" extrusionOk="0">
                <a:moveTo>
                  <a:pt x="0" y="1600"/>
                </a:moveTo>
                <a:cubicBezTo>
                  <a:pt x="1080" y="1600"/>
                  <a:pt x="540" y="0"/>
                  <a:pt x="1800" y="0"/>
                </a:cubicBezTo>
              </a:path>
            </a:pathLst>
          </a:custGeom>
          <a:noFill/>
          <a:ln w="10954" cap="rnd">
            <a:solidFill>
              <a:srgbClr val="161719"/>
            </a:solidFill>
            <a:round/>
          </a:ln>
        </p:spPr>
      </p:sp>
      <p:sp>
        <p:nvSpPr>
          <p:cNvPr id="304" name="sigmoid-curve-score"/>
          <p:cNvSpPr/>
          <p:nvPr/>
        </p:nvSpPr>
        <p:spPr>
          <a:xfrm>
            <a:off x="6162675" y="4943475"/>
            <a:ext cx="114300" cy="104775"/>
          </a:xfrm>
          <a:custGeom>
            <a:avLst/>
            <a:gdLst/>
            <a:ahLst/>
            <a:cxnLst/>
            <a:rect l="0" t="0" r="r" b="b"/>
            <a:pathLst>
              <a:path w="1200" h="1100" fill="none" stroke="1" extrusionOk="0">
                <a:moveTo>
                  <a:pt x="0" y="1100"/>
                </a:moveTo>
                <a:cubicBezTo>
                  <a:pt x="720" y="1100"/>
                  <a:pt x="360" y="0"/>
                  <a:pt x="1200" y="0"/>
                </a:cubicBezTo>
              </a:path>
            </a:pathLst>
          </a:custGeom>
          <a:noFill/>
          <a:ln w="10954" cap="rnd">
            <a:solidFill>
              <a:srgbClr val="161719"/>
            </a:solidFill>
            <a:round/>
          </a:ln>
        </p:spPr>
      </p:sp>
      <p:grpSp>
        <p:nvGrpSpPr>
          <p:cNvPr id="305" name="input-handwriting"/>
          <p:cNvGrpSpPr/>
          <p:nvPr/>
        </p:nvGrpSpPr>
        <p:grpSpPr>
          <a:xfrm>
            <a:off x="257175" y="1095375"/>
            <a:ext cx="333375" cy="2400300"/>
            <a:chOff x="257175" y="1095375"/>
            <a:chExt cx="333375" cy="2400300"/>
          </a:xfrm>
        </p:grpSpPr>
        <p:sp>
          <p:nvSpPr>
            <p:cNvPr id="306" name="MiT-B0-180"/>
            <p:cNvSpPr/>
            <p:nvPr/>
          </p:nvSpPr>
          <p:spPr>
            <a:xfrm>
              <a:off x="257175" y="1095375"/>
              <a:ext cx="333375" cy="2400300"/>
            </a:xfrm>
            <a:prstGeom prst="rect">
              <a:avLst/>
            </a:prstGeom>
            <a:solidFill>
              <a:srgbClr val="FFFFFF"/>
            </a:solidFill>
            <a:ln w="7620" cap="flat">
              <a:solidFill>
                <a:srgbClr val="767676"/>
              </a:solidFill>
              <a:miter/>
            </a:ln>
          </p:spPr>
        </p:sp>
        <p:sp>
          <p:nvSpPr>
            <p:cNvPr id="307" name="source-handwritten-math"/>
            <p:cNvSpPr/>
            <p:nvPr/>
          </p:nvSpPr>
          <p:spPr>
            <a:xfrm>
              <a:off x="295275" y="1209675"/>
              <a:ext cx="257175" cy="2200275"/>
            </a:xfrm>
            <a:custGeom>
              <a:avLst/>
              <a:gdLst/>
              <a:ahLst/>
              <a:cxnLst/>
              <a:rect l="0" t="0" r="r" b="b"/>
              <a:pathLst>
                <a:path w="2700" h="23100" fill="norm" stroke="0" extrusionOk="0">
                  <a:moveTo>
                    <a:pt x="1100" y="0"/>
                  </a:moveTo>
                  <a:lnTo>
                    <a:pt x="1200" y="0"/>
                  </a:lnTo>
                  <a:lnTo>
                    <a:pt x="1200" y="900"/>
                  </a:lnTo>
                  <a:lnTo>
                    <a:pt x="1100" y="900"/>
                  </a:lnTo>
                  <a:lnTo>
                    <a:pt x="1100" y="0"/>
                  </a:lnTo>
                  <a:close/>
                  <a:moveTo>
                    <a:pt x="1400" y="0"/>
                  </a:moveTo>
                  <a:lnTo>
                    <a:pt x="1500" y="0"/>
                  </a:lnTo>
                  <a:lnTo>
                    <a:pt x="1500" y="900"/>
                  </a:lnTo>
                  <a:lnTo>
                    <a:pt x="1400" y="900"/>
                  </a:lnTo>
                  <a:lnTo>
                    <a:pt x="1400" y="0"/>
                  </a:lnTo>
                  <a:close/>
                  <a:moveTo>
                    <a:pt x="1300" y="1400"/>
                  </a:moveTo>
                  <a:lnTo>
                    <a:pt x="1400" y="1400"/>
                  </a:lnTo>
                  <a:lnTo>
                    <a:pt x="1400" y="2100"/>
                  </a:lnTo>
                  <a:lnTo>
                    <a:pt x="1300" y="2100"/>
                  </a:lnTo>
                  <a:lnTo>
                    <a:pt x="1300" y="1400"/>
                  </a:lnTo>
                  <a:close/>
                  <a:moveTo>
                    <a:pt x="1700" y="2600"/>
                  </a:moveTo>
                  <a:lnTo>
                    <a:pt x="1800" y="2600"/>
                  </a:lnTo>
                  <a:lnTo>
                    <a:pt x="1800" y="2800"/>
                  </a:lnTo>
                  <a:lnTo>
                    <a:pt x="2000" y="2800"/>
                  </a:lnTo>
                  <a:lnTo>
                    <a:pt x="2000" y="2900"/>
                  </a:lnTo>
                  <a:lnTo>
                    <a:pt x="1900" y="2900"/>
                  </a:lnTo>
                  <a:lnTo>
                    <a:pt x="1900" y="3000"/>
                  </a:lnTo>
                  <a:lnTo>
                    <a:pt x="1800" y="3000"/>
                  </a:lnTo>
                  <a:lnTo>
                    <a:pt x="1800" y="3100"/>
                  </a:lnTo>
                  <a:lnTo>
                    <a:pt x="1700" y="3100"/>
                  </a:lnTo>
                  <a:lnTo>
                    <a:pt x="1700" y="2900"/>
                  </a:lnTo>
                  <a:lnTo>
                    <a:pt x="1500" y="2900"/>
                  </a:lnTo>
                  <a:lnTo>
                    <a:pt x="1500" y="2800"/>
                  </a:lnTo>
                  <a:lnTo>
                    <a:pt x="1700" y="2800"/>
                  </a:lnTo>
                  <a:lnTo>
                    <a:pt x="1700" y="2600"/>
                  </a:lnTo>
                  <a:close/>
                  <a:moveTo>
                    <a:pt x="700" y="3300"/>
                  </a:moveTo>
                  <a:lnTo>
                    <a:pt x="800" y="3300"/>
                  </a:lnTo>
                  <a:lnTo>
                    <a:pt x="800" y="3400"/>
                  </a:lnTo>
                  <a:lnTo>
                    <a:pt x="1100" y="3400"/>
                  </a:lnTo>
                  <a:lnTo>
                    <a:pt x="1100" y="3500"/>
                  </a:lnTo>
                  <a:lnTo>
                    <a:pt x="1500" y="3500"/>
                  </a:lnTo>
                  <a:lnTo>
                    <a:pt x="1500" y="3600"/>
                  </a:lnTo>
                  <a:lnTo>
                    <a:pt x="1900" y="3600"/>
                  </a:lnTo>
                  <a:lnTo>
                    <a:pt x="1900" y="3700"/>
                  </a:lnTo>
                  <a:lnTo>
                    <a:pt x="2100" y="3700"/>
                  </a:lnTo>
                  <a:lnTo>
                    <a:pt x="2100" y="3800"/>
                  </a:lnTo>
                  <a:lnTo>
                    <a:pt x="1800" y="3800"/>
                  </a:lnTo>
                  <a:lnTo>
                    <a:pt x="1800" y="3700"/>
                  </a:lnTo>
                  <a:lnTo>
                    <a:pt x="1500" y="3700"/>
                  </a:lnTo>
                  <a:lnTo>
                    <a:pt x="1500" y="3600"/>
                  </a:lnTo>
                  <a:lnTo>
                    <a:pt x="1400" y="3600"/>
                  </a:lnTo>
                  <a:lnTo>
                    <a:pt x="1400" y="4100"/>
                  </a:lnTo>
                  <a:lnTo>
                    <a:pt x="1300" y="4100"/>
                  </a:lnTo>
                  <a:lnTo>
                    <a:pt x="1300" y="4200"/>
                  </a:lnTo>
                  <a:lnTo>
                    <a:pt x="1100" y="4200"/>
                  </a:lnTo>
                  <a:lnTo>
                    <a:pt x="1100" y="4100"/>
                  </a:lnTo>
                  <a:lnTo>
                    <a:pt x="1300" y="4100"/>
                  </a:lnTo>
                  <a:lnTo>
                    <a:pt x="1300" y="3700"/>
                  </a:lnTo>
                  <a:lnTo>
                    <a:pt x="1200" y="3700"/>
                  </a:lnTo>
                  <a:lnTo>
                    <a:pt x="1200" y="3600"/>
                  </a:lnTo>
                  <a:lnTo>
                    <a:pt x="1100" y="3600"/>
                  </a:lnTo>
                  <a:lnTo>
                    <a:pt x="1100" y="3500"/>
                  </a:lnTo>
                  <a:lnTo>
                    <a:pt x="700" y="3500"/>
                  </a:lnTo>
                  <a:lnTo>
                    <a:pt x="700" y="3600"/>
                  </a:lnTo>
                  <a:lnTo>
                    <a:pt x="800" y="3600"/>
                  </a:lnTo>
                  <a:lnTo>
                    <a:pt x="800" y="3800"/>
                  </a:lnTo>
                  <a:lnTo>
                    <a:pt x="900" y="3800"/>
                  </a:lnTo>
                  <a:lnTo>
                    <a:pt x="900" y="3900"/>
                  </a:lnTo>
                  <a:lnTo>
                    <a:pt x="1000" y="3900"/>
                  </a:lnTo>
                  <a:lnTo>
                    <a:pt x="1000" y="4000"/>
                  </a:lnTo>
                  <a:lnTo>
                    <a:pt x="1100" y="4000"/>
                  </a:lnTo>
                  <a:lnTo>
                    <a:pt x="1100" y="4100"/>
                  </a:lnTo>
                  <a:lnTo>
                    <a:pt x="1000" y="4100"/>
                  </a:lnTo>
                  <a:lnTo>
                    <a:pt x="1000" y="4000"/>
                  </a:lnTo>
                  <a:lnTo>
                    <a:pt x="900" y="4000"/>
                  </a:lnTo>
                  <a:lnTo>
                    <a:pt x="900" y="3900"/>
                  </a:lnTo>
                  <a:lnTo>
                    <a:pt x="800" y="3900"/>
                  </a:lnTo>
                  <a:lnTo>
                    <a:pt x="800" y="3800"/>
                  </a:lnTo>
                  <a:lnTo>
                    <a:pt x="700" y="3800"/>
                  </a:lnTo>
                  <a:lnTo>
                    <a:pt x="700" y="3600"/>
                  </a:lnTo>
                  <a:lnTo>
                    <a:pt x="600" y="3600"/>
                  </a:lnTo>
                  <a:lnTo>
                    <a:pt x="600" y="3400"/>
                  </a:lnTo>
                  <a:lnTo>
                    <a:pt x="700" y="3400"/>
                  </a:lnTo>
                  <a:lnTo>
                    <a:pt x="700" y="3300"/>
                  </a:lnTo>
                  <a:close/>
                  <a:moveTo>
                    <a:pt x="400" y="4300"/>
                  </a:moveTo>
                  <a:lnTo>
                    <a:pt x="500" y="4300"/>
                  </a:lnTo>
                  <a:lnTo>
                    <a:pt x="500" y="4400"/>
                  </a:lnTo>
                  <a:lnTo>
                    <a:pt x="800" y="4400"/>
                  </a:lnTo>
                  <a:lnTo>
                    <a:pt x="800" y="4500"/>
                  </a:lnTo>
                  <a:lnTo>
                    <a:pt x="1100" y="4500"/>
                  </a:lnTo>
                  <a:lnTo>
                    <a:pt x="1100" y="4600"/>
                  </a:lnTo>
                  <a:lnTo>
                    <a:pt x="1400" y="4600"/>
                  </a:lnTo>
                  <a:lnTo>
                    <a:pt x="1400" y="4700"/>
                  </a:lnTo>
                  <a:lnTo>
                    <a:pt x="1700" y="4700"/>
                  </a:lnTo>
                  <a:lnTo>
                    <a:pt x="1700" y="4800"/>
                  </a:lnTo>
                  <a:lnTo>
                    <a:pt x="2100" y="4800"/>
                  </a:lnTo>
                  <a:lnTo>
                    <a:pt x="2100" y="5000"/>
                  </a:lnTo>
                  <a:lnTo>
                    <a:pt x="2000" y="5000"/>
                  </a:lnTo>
                  <a:lnTo>
                    <a:pt x="2000" y="4900"/>
                  </a:lnTo>
                  <a:lnTo>
                    <a:pt x="1700" y="4900"/>
                  </a:lnTo>
                  <a:lnTo>
                    <a:pt x="1700" y="4800"/>
                  </a:lnTo>
                  <a:lnTo>
                    <a:pt x="1300" y="4800"/>
                  </a:lnTo>
                  <a:lnTo>
                    <a:pt x="1300" y="4700"/>
                  </a:lnTo>
                  <a:lnTo>
                    <a:pt x="1000" y="4700"/>
                  </a:lnTo>
                  <a:lnTo>
                    <a:pt x="1000" y="4600"/>
                  </a:lnTo>
                  <a:lnTo>
                    <a:pt x="800" y="4600"/>
                  </a:lnTo>
                  <a:lnTo>
                    <a:pt x="800" y="4500"/>
                  </a:lnTo>
                  <a:lnTo>
                    <a:pt x="400" y="4500"/>
                  </a:lnTo>
                  <a:lnTo>
                    <a:pt x="400" y="4300"/>
                  </a:lnTo>
                  <a:close/>
                  <a:moveTo>
                    <a:pt x="1400" y="5400"/>
                  </a:moveTo>
                  <a:lnTo>
                    <a:pt x="1500" y="5400"/>
                  </a:lnTo>
                  <a:lnTo>
                    <a:pt x="1500" y="6300"/>
                  </a:lnTo>
                  <a:lnTo>
                    <a:pt x="1400" y="6300"/>
                  </a:lnTo>
                  <a:lnTo>
                    <a:pt x="1400" y="5400"/>
                  </a:lnTo>
                  <a:close/>
                  <a:moveTo>
                    <a:pt x="1100" y="5500"/>
                  </a:moveTo>
                  <a:lnTo>
                    <a:pt x="1200" y="5500"/>
                  </a:lnTo>
                  <a:lnTo>
                    <a:pt x="1200" y="6200"/>
                  </a:lnTo>
                  <a:lnTo>
                    <a:pt x="1100" y="6200"/>
                  </a:lnTo>
                  <a:lnTo>
                    <a:pt x="1100" y="5500"/>
                  </a:lnTo>
                  <a:close/>
                  <a:moveTo>
                    <a:pt x="900" y="6600"/>
                  </a:moveTo>
                  <a:lnTo>
                    <a:pt x="1000" y="6600"/>
                  </a:lnTo>
                  <a:lnTo>
                    <a:pt x="1000" y="6800"/>
                  </a:lnTo>
                  <a:lnTo>
                    <a:pt x="800" y="6800"/>
                  </a:lnTo>
                  <a:lnTo>
                    <a:pt x="800" y="6700"/>
                  </a:lnTo>
                  <a:lnTo>
                    <a:pt x="900" y="6700"/>
                  </a:lnTo>
                  <a:lnTo>
                    <a:pt x="900" y="6600"/>
                  </a:lnTo>
                  <a:close/>
                  <a:moveTo>
                    <a:pt x="0" y="6900"/>
                  </a:moveTo>
                  <a:lnTo>
                    <a:pt x="400" y="6900"/>
                  </a:lnTo>
                  <a:lnTo>
                    <a:pt x="400" y="7000"/>
                  </a:lnTo>
                  <a:lnTo>
                    <a:pt x="600" y="7000"/>
                  </a:lnTo>
                  <a:lnTo>
                    <a:pt x="600" y="7100"/>
                  </a:lnTo>
                  <a:lnTo>
                    <a:pt x="700" y="7100"/>
                  </a:lnTo>
                  <a:lnTo>
                    <a:pt x="700" y="6900"/>
                  </a:lnTo>
                  <a:lnTo>
                    <a:pt x="800" y="6900"/>
                  </a:lnTo>
                  <a:lnTo>
                    <a:pt x="800" y="7100"/>
                  </a:lnTo>
                  <a:lnTo>
                    <a:pt x="900" y="7100"/>
                  </a:lnTo>
                  <a:lnTo>
                    <a:pt x="900" y="7200"/>
                  </a:lnTo>
                  <a:lnTo>
                    <a:pt x="1100" y="7200"/>
                  </a:lnTo>
                  <a:lnTo>
                    <a:pt x="1100" y="7100"/>
                  </a:lnTo>
                  <a:lnTo>
                    <a:pt x="1200" y="7100"/>
                  </a:lnTo>
                  <a:lnTo>
                    <a:pt x="1200" y="7000"/>
                  </a:lnTo>
                  <a:lnTo>
                    <a:pt x="1400" y="7000"/>
                  </a:lnTo>
                  <a:lnTo>
                    <a:pt x="1400" y="7100"/>
                  </a:lnTo>
                  <a:lnTo>
                    <a:pt x="1700" y="7100"/>
                  </a:lnTo>
                  <a:lnTo>
                    <a:pt x="1700" y="7200"/>
                  </a:lnTo>
                  <a:lnTo>
                    <a:pt x="1800" y="7200"/>
                  </a:lnTo>
                  <a:lnTo>
                    <a:pt x="1800" y="7300"/>
                  </a:lnTo>
                  <a:lnTo>
                    <a:pt x="1900" y="7300"/>
                  </a:lnTo>
                  <a:lnTo>
                    <a:pt x="1900" y="7400"/>
                  </a:lnTo>
                  <a:lnTo>
                    <a:pt x="2000" y="7400"/>
                  </a:lnTo>
                  <a:lnTo>
                    <a:pt x="2000" y="7500"/>
                  </a:lnTo>
                  <a:lnTo>
                    <a:pt x="2100" y="7500"/>
                  </a:lnTo>
                  <a:lnTo>
                    <a:pt x="2100" y="7600"/>
                  </a:lnTo>
                  <a:lnTo>
                    <a:pt x="1900" y="7600"/>
                  </a:lnTo>
                  <a:lnTo>
                    <a:pt x="1900" y="7500"/>
                  </a:lnTo>
                  <a:lnTo>
                    <a:pt x="1800" y="7500"/>
                  </a:lnTo>
                  <a:lnTo>
                    <a:pt x="1800" y="7400"/>
                  </a:lnTo>
                  <a:lnTo>
                    <a:pt x="1700" y="7400"/>
                  </a:lnTo>
                  <a:lnTo>
                    <a:pt x="1700" y="7300"/>
                  </a:lnTo>
                  <a:lnTo>
                    <a:pt x="1600" y="7300"/>
                  </a:lnTo>
                  <a:lnTo>
                    <a:pt x="1600" y="7200"/>
                  </a:lnTo>
                  <a:lnTo>
                    <a:pt x="1300" y="7200"/>
                  </a:lnTo>
                  <a:lnTo>
                    <a:pt x="1300" y="7400"/>
                  </a:lnTo>
                  <a:lnTo>
                    <a:pt x="1400" y="7400"/>
                  </a:lnTo>
                  <a:lnTo>
                    <a:pt x="1400" y="7500"/>
                  </a:lnTo>
                  <a:lnTo>
                    <a:pt x="1500" y="7500"/>
                  </a:lnTo>
                  <a:lnTo>
                    <a:pt x="1500" y="7600"/>
                  </a:lnTo>
                  <a:lnTo>
                    <a:pt x="1600" y="7600"/>
                  </a:lnTo>
                  <a:lnTo>
                    <a:pt x="1600" y="7700"/>
                  </a:lnTo>
                  <a:lnTo>
                    <a:pt x="1700" y="7700"/>
                  </a:lnTo>
                  <a:lnTo>
                    <a:pt x="1700" y="7800"/>
                  </a:lnTo>
                  <a:lnTo>
                    <a:pt x="1800" y="7800"/>
                  </a:lnTo>
                  <a:lnTo>
                    <a:pt x="1800" y="7900"/>
                  </a:lnTo>
                  <a:lnTo>
                    <a:pt x="1900" y="7900"/>
                  </a:lnTo>
                  <a:lnTo>
                    <a:pt x="1900" y="8100"/>
                  </a:lnTo>
                  <a:lnTo>
                    <a:pt x="2000" y="8100"/>
                  </a:lnTo>
                  <a:lnTo>
                    <a:pt x="2000" y="8300"/>
                  </a:lnTo>
                  <a:lnTo>
                    <a:pt x="2100" y="8300"/>
                  </a:lnTo>
                  <a:lnTo>
                    <a:pt x="2100" y="8400"/>
                  </a:lnTo>
                  <a:lnTo>
                    <a:pt x="2300" y="8400"/>
                  </a:lnTo>
                  <a:lnTo>
                    <a:pt x="2300" y="8500"/>
                  </a:lnTo>
                  <a:lnTo>
                    <a:pt x="2400" y="8500"/>
                  </a:lnTo>
                  <a:lnTo>
                    <a:pt x="2400" y="8700"/>
                  </a:lnTo>
                  <a:lnTo>
                    <a:pt x="2300" y="8700"/>
                  </a:lnTo>
                  <a:lnTo>
                    <a:pt x="2300" y="8800"/>
                  </a:lnTo>
                  <a:lnTo>
                    <a:pt x="2100" y="8800"/>
                  </a:lnTo>
                  <a:lnTo>
                    <a:pt x="2100" y="9100"/>
                  </a:lnTo>
                  <a:lnTo>
                    <a:pt x="2200" y="9100"/>
                  </a:lnTo>
                  <a:lnTo>
                    <a:pt x="2200" y="9200"/>
                  </a:lnTo>
                  <a:lnTo>
                    <a:pt x="2300" y="9200"/>
                  </a:lnTo>
                  <a:lnTo>
                    <a:pt x="2300" y="9400"/>
                  </a:lnTo>
                  <a:lnTo>
                    <a:pt x="2400" y="9400"/>
                  </a:lnTo>
                  <a:lnTo>
                    <a:pt x="2400" y="9500"/>
                  </a:lnTo>
                  <a:lnTo>
                    <a:pt x="2300" y="9500"/>
                  </a:lnTo>
                  <a:lnTo>
                    <a:pt x="2300" y="9900"/>
                  </a:lnTo>
                  <a:lnTo>
                    <a:pt x="2400" y="9900"/>
                  </a:lnTo>
                  <a:lnTo>
                    <a:pt x="2400" y="10100"/>
                  </a:lnTo>
                  <a:lnTo>
                    <a:pt x="2500" y="10100"/>
                  </a:lnTo>
                  <a:lnTo>
                    <a:pt x="2500" y="10400"/>
                  </a:lnTo>
                  <a:lnTo>
                    <a:pt x="2600" y="10400"/>
                  </a:lnTo>
                  <a:lnTo>
                    <a:pt x="2600" y="10800"/>
                  </a:lnTo>
                  <a:lnTo>
                    <a:pt x="2700" y="10800"/>
                  </a:lnTo>
                  <a:lnTo>
                    <a:pt x="2700" y="11000"/>
                  </a:lnTo>
                  <a:lnTo>
                    <a:pt x="2600" y="11000"/>
                  </a:lnTo>
                  <a:lnTo>
                    <a:pt x="2600" y="11100"/>
                  </a:lnTo>
                  <a:lnTo>
                    <a:pt x="2500" y="11100"/>
                  </a:lnTo>
                  <a:lnTo>
                    <a:pt x="2500" y="11200"/>
                  </a:lnTo>
                  <a:lnTo>
                    <a:pt x="2300" y="11200"/>
                  </a:lnTo>
                  <a:lnTo>
                    <a:pt x="2300" y="11100"/>
                  </a:lnTo>
                  <a:lnTo>
                    <a:pt x="2000" y="11100"/>
                  </a:lnTo>
                  <a:lnTo>
                    <a:pt x="2000" y="11000"/>
                  </a:lnTo>
                  <a:lnTo>
                    <a:pt x="1800" y="11000"/>
                  </a:lnTo>
                  <a:lnTo>
                    <a:pt x="1800" y="10900"/>
                  </a:lnTo>
                  <a:lnTo>
                    <a:pt x="1500" y="10900"/>
                  </a:lnTo>
                  <a:lnTo>
                    <a:pt x="1500" y="10800"/>
                  </a:lnTo>
                  <a:lnTo>
                    <a:pt x="1200" y="10800"/>
                  </a:lnTo>
                  <a:lnTo>
                    <a:pt x="1200" y="10700"/>
                  </a:lnTo>
                  <a:lnTo>
                    <a:pt x="1100" y="10700"/>
                  </a:lnTo>
                  <a:lnTo>
                    <a:pt x="1100" y="10600"/>
                  </a:lnTo>
                  <a:lnTo>
                    <a:pt x="1000" y="10600"/>
                  </a:lnTo>
                  <a:lnTo>
                    <a:pt x="1000" y="10500"/>
                  </a:lnTo>
                  <a:lnTo>
                    <a:pt x="800" y="10500"/>
                  </a:lnTo>
                  <a:lnTo>
                    <a:pt x="800" y="10400"/>
                  </a:lnTo>
                  <a:lnTo>
                    <a:pt x="500" y="10400"/>
                  </a:lnTo>
                  <a:lnTo>
                    <a:pt x="500" y="10700"/>
                  </a:lnTo>
                  <a:lnTo>
                    <a:pt x="600" y="10700"/>
                  </a:lnTo>
                  <a:lnTo>
                    <a:pt x="600" y="10900"/>
                  </a:lnTo>
                  <a:lnTo>
                    <a:pt x="700" y="10900"/>
                  </a:lnTo>
                  <a:lnTo>
                    <a:pt x="700" y="11000"/>
                  </a:lnTo>
                  <a:lnTo>
                    <a:pt x="600" y="11000"/>
                  </a:lnTo>
                  <a:lnTo>
                    <a:pt x="600" y="10900"/>
                  </a:lnTo>
                  <a:lnTo>
                    <a:pt x="500" y="10900"/>
                  </a:lnTo>
                  <a:lnTo>
                    <a:pt x="500" y="10800"/>
                  </a:lnTo>
                  <a:lnTo>
                    <a:pt x="400" y="10800"/>
                  </a:lnTo>
                  <a:lnTo>
                    <a:pt x="400" y="10400"/>
                  </a:lnTo>
                  <a:lnTo>
                    <a:pt x="500" y="10400"/>
                  </a:lnTo>
                  <a:lnTo>
                    <a:pt x="500" y="10300"/>
                  </a:lnTo>
                  <a:lnTo>
                    <a:pt x="400" y="10300"/>
                  </a:lnTo>
                  <a:lnTo>
                    <a:pt x="400" y="10200"/>
                  </a:lnTo>
                  <a:lnTo>
                    <a:pt x="300" y="10200"/>
                  </a:lnTo>
                  <a:lnTo>
                    <a:pt x="300" y="10100"/>
                  </a:lnTo>
                  <a:lnTo>
                    <a:pt x="200" y="10100"/>
                  </a:lnTo>
                  <a:lnTo>
                    <a:pt x="200" y="10000"/>
                  </a:lnTo>
                  <a:lnTo>
                    <a:pt x="100" y="10000"/>
                  </a:lnTo>
                  <a:lnTo>
                    <a:pt x="100" y="9900"/>
                  </a:lnTo>
                  <a:lnTo>
                    <a:pt x="500" y="9900"/>
                  </a:lnTo>
                  <a:lnTo>
                    <a:pt x="500" y="10000"/>
                  </a:lnTo>
                  <a:lnTo>
                    <a:pt x="600" y="10000"/>
                  </a:lnTo>
                  <a:lnTo>
                    <a:pt x="600" y="10100"/>
                  </a:lnTo>
                  <a:lnTo>
                    <a:pt x="700" y="10100"/>
                  </a:lnTo>
                  <a:lnTo>
                    <a:pt x="700" y="9900"/>
                  </a:lnTo>
                  <a:lnTo>
                    <a:pt x="600" y="9900"/>
                  </a:lnTo>
                  <a:lnTo>
                    <a:pt x="600" y="9800"/>
                  </a:lnTo>
                  <a:lnTo>
                    <a:pt x="500" y="9800"/>
                  </a:lnTo>
                  <a:lnTo>
                    <a:pt x="500" y="9700"/>
                  </a:lnTo>
                  <a:lnTo>
                    <a:pt x="400" y="9700"/>
                  </a:lnTo>
                  <a:lnTo>
                    <a:pt x="400" y="9600"/>
                  </a:lnTo>
                  <a:lnTo>
                    <a:pt x="300" y="9600"/>
                  </a:lnTo>
                  <a:lnTo>
                    <a:pt x="300" y="9500"/>
                  </a:lnTo>
                  <a:lnTo>
                    <a:pt x="100" y="9500"/>
                  </a:lnTo>
                  <a:lnTo>
                    <a:pt x="100" y="9300"/>
                  </a:lnTo>
                  <a:lnTo>
                    <a:pt x="0" y="9300"/>
                  </a:lnTo>
                  <a:lnTo>
                    <a:pt x="0" y="9200"/>
                  </a:lnTo>
                  <a:lnTo>
                    <a:pt x="300" y="9200"/>
                  </a:lnTo>
                  <a:lnTo>
                    <a:pt x="300" y="9300"/>
                  </a:lnTo>
                  <a:lnTo>
                    <a:pt x="500" y="9300"/>
                  </a:lnTo>
                  <a:lnTo>
                    <a:pt x="500" y="9200"/>
                  </a:lnTo>
                  <a:lnTo>
                    <a:pt x="400" y="9200"/>
                  </a:lnTo>
                  <a:lnTo>
                    <a:pt x="400" y="9100"/>
                  </a:lnTo>
                  <a:lnTo>
                    <a:pt x="500" y="9100"/>
                  </a:lnTo>
                  <a:lnTo>
                    <a:pt x="500" y="9000"/>
                  </a:lnTo>
                  <a:lnTo>
                    <a:pt x="400" y="9000"/>
                  </a:lnTo>
                  <a:lnTo>
                    <a:pt x="400" y="8700"/>
                  </a:lnTo>
                  <a:lnTo>
                    <a:pt x="300" y="8700"/>
                  </a:lnTo>
                  <a:lnTo>
                    <a:pt x="300" y="8400"/>
                  </a:lnTo>
                  <a:lnTo>
                    <a:pt x="200" y="8400"/>
                  </a:lnTo>
                  <a:lnTo>
                    <a:pt x="200" y="8100"/>
                  </a:lnTo>
                  <a:lnTo>
                    <a:pt x="100" y="8100"/>
                  </a:lnTo>
                  <a:lnTo>
                    <a:pt x="100" y="7700"/>
                  </a:lnTo>
                  <a:lnTo>
                    <a:pt x="0" y="7700"/>
                  </a:lnTo>
                  <a:lnTo>
                    <a:pt x="0" y="6900"/>
                  </a:lnTo>
                  <a:close/>
                  <a:moveTo>
                    <a:pt x="100" y="7100"/>
                  </a:moveTo>
                  <a:lnTo>
                    <a:pt x="100" y="7500"/>
                  </a:lnTo>
                  <a:lnTo>
                    <a:pt x="200" y="7500"/>
                  </a:lnTo>
                  <a:lnTo>
                    <a:pt x="200" y="7700"/>
                  </a:lnTo>
                  <a:lnTo>
                    <a:pt x="300" y="7700"/>
                  </a:lnTo>
                  <a:lnTo>
                    <a:pt x="300" y="7600"/>
                  </a:lnTo>
                  <a:lnTo>
                    <a:pt x="400" y="7600"/>
                  </a:lnTo>
                  <a:lnTo>
                    <a:pt x="400" y="7400"/>
                  </a:lnTo>
                  <a:lnTo>
                    <a:pt x="500" y="7400"/>
                  </a:lnTo>
                  <a:lnTo>
                    <a:pt x="500" y="7500"/>
                  </a:lnTo>
                  <a:lnTo>
                    <a:pt x="600" y="7500"/>
                  </a:lnTo>
                  <a:lnTo>
                    <a:pt x="600" y="7200"/>
                  </a:lnTo>
                  <a:lnTo>
                    <a:pt x="400" y="7200"/>
                  </a:lnTo>
                  <a:lnTo>
                    <a:pt x="400" y="7100"/>
                  </a:lnTo>
                  <a:lnTo>
                    <a:pt x="100" y="7100"/>
                  </a:lnTo>
                  <a:close/>
                  <a:moveTo>
                    <a:pt x="1100" y="7600"/>
                  </a:moveTo>
                  <a:lnTo>
                    <a:pt x="1000" y="7600"/>
                  </a:lnTo>
                  <a:lnTo>
                    <a:pt x="1000" y="7700"/>
                  </a:lnTo>
                  <a:lnTo>
                    <a:pt x="1100" y="7700"/>
                  </a:lnTo>
                  <a:lnTo>
                    <a:pt x="1100" y="7800"/>
                  </a:lnTo>
                  <a:lnTo>
                    <a:pt x="1200" y="7800"/>
                  </a:lnTo>
                  <a:lnTo>
                    <a:pt x="1200" y="8000"/>
                  </a:lnTo>
                  <a:lnTo>
                    <a:pt x="1300" y="8000"/>
                  </a:lnTo>
                  <a:lnTo>
                    <a:pt x="1300" y="8100"/>
                  </a:lnTo>
                  <a:lnTo>
                    <a:pt x="1400" y="8100"/>
                  </a:lnTo>
                  <a:lnTo>
                    <a:pt x="1400" y="8000"/>
                  </a:lnTo>
                  <a:lnTo>
                    <a:pt x="1300" y="8000"/>
                  </a:lnTo>
                  <a:lnTo>
                    <a:pt x="1300" y="7800"/>
                  </a:lnTo>
                  <a:lnTo>
                    <a:pt x="1200" y="7800"/>
                  </a:lnTo>
                  <a:lnTo>
                    <a:pt x="1200" y="7700"/>
                  </a:lnTo>
                  <a:lnTo>
                    <a:pt x="1100" y="7700"/>
                  </a:lnTo>
                  <a:lnTo>
                    <a:pt x="1100" y="7600"/>
                  </a:lnTo>
                  <a:close/>
                  <a:moveTo>
                    <a:pt x="200" y="7800"/>
                  </a:moveTo>
                  <a:lnTo>
                    <a:pt x="200" y="7900"/>
                  </a:lnTo>
                  <a:lnTo>
                    <a:pt x="300" y="7900"/>
                  </a:lnTo>
                  <a:lnTo>
                    <a:pt x="300" y="8000"/>
                  </a:lnTo>
                  <a:lnTo>
                    <a:pt x="400" y="8000"/>
                  </a:lnTo>
                  <a:lnTo>
                    <a:pt x="400" y="7800"/>
                  </a:lnTo>
                  <a:lnTo>
                    <a:pt x="200" y="7800"/>
                  </a:lnTo>
                  <a:close/>
                  <a:moveTo>
                    <a:pt x="700" y="7900"/>
                  </a:moveTo>
                  <a:lnTo>
                    <a:pt x="600" y="7900"/>
                  </a:lnTo>
                  <a:lnTo>
                    <a:pt x="600" y="8000"/>
                  </a:lnTo>
                  <a:lnTo>
                    <a:pt x="700" y="8000"/>
                  </a:lnTo>
                  <a:lnTo>
                    <a:pt x="700" y="8100"/>
                  </a:lnTo>
                  <a:lnTo>
                    <a:pt x="800" y="8100"/>
                  </a:lnTo>
                  <a:lnTo>
                    <a:pt x="800" y="8200"/>
                  </a:lnTo>
                  <a:lnTo>
                    <a:pt x="900" y="8200"/>
                  </a:lnTo>
                  <a:lnTo>
                    <a:pt x="900" y="8300"/>
                  </a:lnTo>
                  <a:lnTo>
                    <a:pt x="1000" y="8300"/>
                  </a:lnTo>
                  <a:lnTo>
                    <a:pt x="1000" y="8200"/>
                  </a:lnTo>
                  <a:lnTo>
                    <a:pt x="900" y="8200"/>
                  </a:lnTo>
                  <a:lnTo>
                    <a:pt x="900" y="8000"/>
                  </a:lnTo>
                  <a:lnTo>
                    <a:pt x="700" y="8000"/>
                  </a:lnTo>
                  <a:lnTo>
                    <a:pt x="700" y="7900"/>
                  </a:lnTo>
                  <a:close/>
                  <a:moveTo>
                    <a:pt x="500" y="8100"/>
                  </a:moveTo>
                  <a:lnTo>
                    <a:pt x="400" y="8100"/>
                  </a:lnTo>
                  <a:lnTo>
                    <a:pt x="400" y="8200"/>
                  </a:lnTo>
                  <a:lnTo>
                    <a:pt x="500" y="8200"/>
                  </a:lnTo>
                  <a:lnTo>
                    <a:pt x="500" y="8300"/>
                  </a:lnTo>
                  <a:lnTo>
                    <a:pt x="600" y="8300"/>
                  </a:lnTo>
                  <a:lnTo>
                    <a:pt x="600" y="8400"/>
                  </a:lnTo>
                  <a:lnTo>
                    <a:pt x="700" y="8400"/>
                  </a:lnTo>
                  <a:lnTo>
                    <a:pt x="700" y="8500"/>
                  </a:lnTo>
                  <a:lnTo>
                    <a:pt x="800" y="8500"/>
                  </a:lnTo>
                  <a:lnTo>
                    <a:pt x="800" y="8600"/>
                  </a:lnTo>
                  <a:lnTo>
                    <a:pt x="900" y="8600"/>
                  </a:lnTo>
                  <a:lnTo>
                    <a:pt x="900" y="8400"/>
                  </a:lnTo>
                  <a:lnTo>
                    <a:pt x="700" y="8400"/>
                  </a:lnTo>
                  <a:lnTo>
                    <a:pt x="700" y="8300"/>
                  </a:lnTo>
                  <a:lnTo>
                    <a:pt x="600" y="8300"/>
                  </a:lnTo>
                  <a:lnTo>
                    <a:pt x="600" y="8200"/>
                  </a:lnTo>
                  <a:lnTo>
                    <a:pt x="500" y="8200"/>
                  </a:lnTo>
                  <a:lnTo>
                    <a:pt x="500" y="8100"/>
                  </a:lnTo>
                  <a:close/>
                  <a:moveTo>
                    <a:pt x="1800" y="8200"/>
                  </a:moveTo>
                  <a:lnTo>
                    <a:pt x="1700" y="8200"/>
                  </a:lnTo>
                  <a:lnTo>
                    <a:pt x="1700" y="8300"/>
                  </a:lnTo>
                  <a:lnTo>
                    <a:pt x="1800" y="8300"/>
                  </a:lnTo>
                  <a:lnTo>
                    <a:pt x="1800" y="8400"/>
                  </a:lnTo>
                  <a:lnTo>
                    <a:pt x="1900" y="8400"/>
                  </a:lnTo>
                  <a:lnTo>
                    <a:pt x="1900" y="8500"/>
                  </a:lnTo>
                  <a:lnTo>
                    <a:pt x="2100" y="8500"/>
                  </a:lnTo>
                  <a:lnTo>
                    <a:pt x="2100" y="8400"/>
                  </a:lnTo>
                  <a:lnTo>
                    <a:pt x="2000" y="8400"/>
                  </a:lnTo>
                  <a:lnTo>
                    <a:pt x="2000" y="8300"/>
                  </a:lnTo>
                  <a:lnTo>
                    <a:pt x="1800" y="8300"/>
                  </a:lnTo>
                  <a:lnTo>
                    <a:pt x="1800" y="8200"/>
                  </a:lnTo>
                  <a:close/>
                  <a:moveTo>
                    <a:pt x="700" y="8700"/>
                  </a:moveTo>
                  <a:lnTo>
                    <a:pt x="600" y="8700"/>
                  </a:lnTo>
                  <a:lnTo>
                    <a:pt x="600" y="8900"/>
                  </a:lnTo>
                  <a:lnTo>
                    <a:pt x="700" y="8900"/>
                  </a:lnTo>
                  <a:lnTo>
                    <a:pt x="700" y="9000"/>
                  </a:lnTo>
                  <a:lnTo>
                    <a:pt x="800" y="9000"/>
                  </a:lnTo>
                  <a:lnTo>
                    <a:pt x="800" y="9100"/>
                  </a:lnTo>
                  <a:lnTo>
                    <a:pt x="1000" y="9100"/>
                  </a:lnTo>
                  <a:lnTo>
                    <a:pt x="1000" y="9200"/>
                  </a:lnTo>
                  <a:lnTo>
                    <a:pt x="1100" y="9200"/>
                  </a:lnTo>
                  <a:lnTo>
                    <a:pt x="1100" y="9300"/>
                  </a:lnTo>
                  <a:lnTo>
                    <a:pt x="1200" y="9300"/>
                  </a:lnTo>
                  <a:lnTo>
                    <a:pt x="1200" y="9200"/>
                  </a:lnTo>
                  <a:lnTo>
                    <a:pt x="1100" y="9200"/>
                  </a:lnTo>
                  <a:lnTo>
                    <a:pt x="1100" y="9000"/>
                  </a:lnTo>
                  <a:lnTo>
                    <a:pt x="900" y="9000"/>
                  </a:lnTo>
                  <a:lnTo>
                    <a:pt x="900" y="8900"/>
                  </a:lnTo>
                  <a:lnTo>
                    <a:pt x="800" y="8900"/>
                  </a:lnTo>
                  <a:lnTo>
                    <a:pt x="800" y="8800"/>
                  </a:lnTo>
                  <a:lnTo>
                    <a:pt x="700" y="8800"/>
                  </a:lnTo>
                  <a:lnTo>
                    <a:pt x="700" y="8700"/>
                  </a:lnTo>
                  <a:close/>
                  <a:moveTo>
                    <a:pt x="900" y="9300"/>
                  </a:moveTo>
                  <a:lnTo>
                    <a:pt x="800" y="9300"/>
                  </a:lnTo>
                  <a:lnTo>
                    <a:pt x="800" y="9400"/>
                  </a:lnTo>
                  <a:lnTo>
                    <a:pt x="900" y="9400"/>
                  </a:lnTo>
                  <a:lnTo>
                    <a:pt x="900" y="9600"/>
                  </a:lnTo>
                  <a:lnTo>
                    <a:pt x="1000" y="9600"/>
                  </a:lnTo>
                  <a:lnTo>
                    <a:pt x="1000" y="9700"/>
                  </a:lnTo>
                  <a:lnTo>
                    <a:pt x="1200" y="9700"/>
                  </a:lnTo>
                  <a:lnTo>
                    <a:pt x="1200" y="9800"/>
                  </a:lnTo>
                  <a:lnTo>
                    <a:pt x="1300" y="9800"/>
                  </a:lnTo>
                  <a:lnTo>
                    <a:pt x="1300" y="9700"/>
                  </a:lnTo>
                  <a:lnTo>
                    <a:pt x="1200" y="9700"/>
                  </a:lnTo>
                  <a:lnTo>
                    <a:pt x="1200" y="9600"/>
                  </a:lnTo>
                  <a:lnTo>
                    <a:pt x="1100" y="9600"/>
                  </a:lnTo>
                  <a:lnTo>
                    <a:pt x="1100" y="9500"/>
                  </a:lnTo>
                  <a:lnTo>
                    <a:pt x="1000" y="9500"/>
                  </a:lnTo>
                  <a:lnTo>
                    <a:pt x="1000" y="9400"/>
                  </a:lnTo>
                  <a:lnTo>
                    <a:pt x="900" y="9400"/>
                  </a:lnTo>
                  <a:lnTo>
                    <a:pt x="900" y="9300"/>
                  </a:lnTo>
                  <a:close/>
                  <a:moveTo>
                    <a:pt x="1400" y="9300"/>
                  </a:moveTo>
                  <a:lnTo>
                    <a:pt x="1300" y="9300"/>
                  </a:lnTo>
                  <a:lnTo>
                    <a:pt x="1300" y="9400"/>
                  </a:lnTo>
                  <a:lnTo>
                    <a:pt x="1400" y="9400"/>
                  </a:lnTo>
                  <a:lnTo>
                    <a:pt x="1400" y="9300"/>
                  </a:lnTo>
                  <a:close/>
                  <a:moveTo>
                    <a:pt x="2000" y="9300"/>
                  </a:moveTo>
                  <a:lnTo>
                    <a:pt x="1900" y="9300"/>
                  </a:lnTo>
                  <a:lnTo>
                    <a:pt x="1900" y="9400"/>
                  </a:lnTo>
                  <a:lnTo>
                    <a:pt x="2000" y="9400"/>
                  </a:lnTo>
                  <a:lnTo>
                    <a:pt x="2000" y="9300"/>
                  </a:lnTo>
                  <a:close/>
                  <a:moveTo>
                    <a:pt x="2200" y="9900"/>
                  </a:moveTo>
                  <a:lnTo>
                    <a:pt x="2100" y="9900"/>
                  </a:lnTo>
                  <a:lnTo>
                    <a:pt x="2100" y="10300"/>
                  </a:lnTo>
                  <a:lnTo>
                    <a:pt x="2200" y="10300"/>
                  </a:lnTo>
                  <a:lnTo>
                    <a:pt x="2200" y="10500"/>
                  </a:lnTo>
                  <a:lnTo>
                    <a:pt x="2000" y="10500"/>
                  </a:lnTo>
                  <a:lnTo>
                    <a:pt x="2000" y="10600"/>
                  </a:lnTo>
                  <a:lnTo>
                    <a:pt x="2200" y="10600"/>
                  </a:lnTo>
                  <a:lnTo>
                    <a:pt x="2200" y="10700"/>
                  </a:lnTo>
                  <a:lnTo>
                    <a:pt x="2300" y="10700"/>
                  </a:lnTo>
                  <a:lnTo>
                    <a:pt x="2300" y="10900"/>
                  </a:lnTo>
                  <a:lnTo>
                    <a:pt x="2200" y="10900"/>
                  </a:lnTo>
                  <a:lnTo>
                    <a:pt x="2200" y="11000"/>
                  </a:lnTo>
                  <a:lnTo>
                    <a:pt x="2500" y="11000"/>
                  </a:lnTo>
                  <a:lnTo>
                    <a:pt x="2500" y="10500"/>
                  </a:lnTo>
                  <a:lnTo>
                    <a:pt x="2400" y="10500"/>
                  </a:lnTo>
                  <a:lnTo>
                    <a:pt x="2400" y="10300"/>
                  </a:lnTo>
                  <a:lnTo>
                    <a:pt x="2300" y="10300"/>
                  </a:lnTo>
                  <a:lnTo>
                    <a:pt x="2300" y="10000"/>
                  </a:lnTo>
                  <a:lnTo>
                    <a:pt x="2200" y="10000"/>
                  </a:lnTo>
                  <a:lnTo>
                    <a:pt x="2200" y="9900"/>
                  </a:lnTo>
                  <a:close/>
                  <a:moveTo>
                    <a:pt x="1200" y="10100"/>
                  </a:moveTo>
                  <a:lnTo>
                    <a:pt x="1100" y="10100"/>
                  </a:lnTo>
                  <a:lnTo>
                    <a:pt x="1100" y="10200"/>
                  </a:lnTo>
                  <a:lnTo>
                    <a:pt x="1200" y="10200"/>
                  </a:lnTo>
                  <a:lnTo>
                    <a:pt x="1200" y="10300"/>
                  </a:lnTo>
                  <a:lnTo>
                    <a:pt x="1300" y="10300"/>
                  </a:lnTo>
                  <a:lnTo>
                    <a:pt x="1300" y="10400"/>
                  </a:lnTo>
                  <a:lnTo>
                    <a:pt x="1500" y="10400"/>
                  </a:lnTo>
                  <a:lnTo>
                    <a:pt x="1500" y="10500"/>
                  </a:lnTo>
                  <a:lnTo>
                    <a:pt x="1600" y="10500"/>
                  </a:lnTo>
                  <a:lnTo>
                    <a:pt x="1600" y="10600"/>
                  </a:lnTo>
                  <a:lnTo>
                    <a:pt x="1700" y="10600"/>
                  </a:lnTo>
                  <a:lnTo>
                    <a:pt x="1700" y="10500"/>
                  </a:lnTo>
                  <a:lnTo>
                    <a:pt x="1600" y="10500"/>
                  </a:lnTo>
                  <a:lnTo>
                    <a:pt x="1600" y="10400"/>
                  </a:lnTo>
                  <a:lnTo>
                    <a:pt x="1500" y="10400"/>
                  </a:lnTo>
                  <a:lnTo>
                    <a:pt x="1500" y="10300"/>
                  </a:lnTo>
                  <a:lnTo>
                    <a:pt x="1400" y="10300"/>
                  </a:lnTo>
                  <a:lnTo>
                    <a:pt x="1400" y="10200"/>
                  </a:lnTo>
                  <a:lnTo>
                    <a:pt x="1200" y="10200"/>
                  </a:lnTo>
                  <a:lnTo>
                    <a:pt x="1200" y="10100"/>
                  </a:lnTo>
                  <a:close/>
                  <a:moveTo>
                    <a:pt x="1300" y="11600"/>
                  </a:moveTo>
                  <a:lnTo>
                    <a:pt x="1400" y="11600"/>
                  </a:lnTo>
                  <a:lnTo>
                    <a:pt x="1400" y="12600"/>
                  </a:lnTo>
                  <a:lnTo>
                    <a:pt x="1300" y="12600"/>
                  </a:lnTo>
                  <a:lnTo>
                    <a:pt x="1300" y="11800"/>
                  </a:lnTo>
                  <a:lnTo>
                    <a:pt x="1200" y="11800"/>
                  </a:lnTo>
                  <a:lnTo>
                    <a:pt x="1200" y="11700"/>
                  </a:lnTo>
                  <a:lnTo>
                    <a:pt x="1300" y="11700"/>
                  </a:lnTo>
                  <a:lnTo>
                    <a:pt x="1300" y="11600"/>
                  </a:lnTo>
                  <a:close/>
                  <a:moveTo>
                    <a:pt x="1200" y="12900"/>
                  </a:moveTo>
                  <a:lnTo>
                    <a:pt x="1400" y="12900"/>
                  </a:lnTo>
                  <a:lnTo>
                    <a:pt x="1400" y="13000"/>
                  </a:lnTo>
                  <a:lnTo>
                    <a:pt x="1700" y="13000"/>
                  </a:lnTo>
                  <a:lnTo>
                    <a:pt x="1700" y="13100"/>
                  </a:lnTo>
                  <a:lnTo>
                    <a:pt x="1900" y="13100"/>
                  </a:lnTo>
                  <a:lnTo>
                    <a:pt x="1900" y="13200"/>
                  </a:lnTo>
                  <a:lnTo>
                    <a:pt x="2000" y="13200"/>
                  </a:lnTo>
                  <a:lnTo>
                    <a:pt x="2000" y="13300"/>
                  </a:lnTo>
                  <a:lnTo>
                    <a:pt x="2200" y="13300"/>
                  </a:lnTo>
                  <a:lnTo>
                    <a:pt x="2200" y="13400"/>
                  </a:lnTo>
                  <a:lnTo>
                    <a:pt x="2300" y="13400"/>
                  </a:lnTo>
                  <a:lnTo>
                    <a:pt x="2300" y="13600"/>
                  </a:lnTo>
                  <a:lnTo>
                    <a:pt x="2400" y="13600"/>
                  </a:lnTo>
                  <a:lnTo>
                    <a:pt x="2400" y="13800"/>
                  </a:lnTo>
                  <a:lnTo>
                    <a:pt x="2300" y="13800"/>
                  </a:lnTo>
                  <a:lnTo>
                    <a:pt x="2300" y="13600"/>
                  </a:lnTo>
                  <a:lnTo>
                    <a:pt x="2200" y="13600"/>
                  </a:lnTo>
                  <a:lnTo>
                    <a:pt x="2200" y="13400"/>
                  </a:lnTo>
                  <a:lnTo>
                    <a:pt x="2000" y="13400"/>
                  </a:lnTo>
                  <a:lnTo>
                    <a:pt x="2000" y="13300"/>
                  </a:lnTo>
                  <a:lnTo>
                    <a:pt x="1900" y="13300"/>
                  </a:lnTo>
                  <a:lnTo>
                    <a:pt x="1900" y="13200"/>
                  </a:lnTo>
                  <a:lnTo>
                    <a:pt x="1700" y="13200"/>
                  </a:lnTo>
                  <a:lnTo>
                    <a:pt x="1700" y="13100"/>
                  </a:lnTo>
                  <a:lnTo>
                    <a:pt x="1400" y="13100"/>
                  </a:lnTo>
                  <a:lnTo>
                    <a:pt x="1400" y="13000"/>
                  </a:lnTo>
                  <a:lnTo>
                    <a:pt x="1300" y="13000"/>
                  </a:lnTo>
                  <a:lnTo>
                    <a:pt x="1300" y="13100"/>
                  </a:lnTo>
                  <a:lnTo>
                    <a:pt x="900" y="13100"/>
                  </a:lnTo>
                  <a:lnTo>
                    <a:pt x="900" y="13200"/>
                  </a:lnTo>
                  <a:lnTo>
                    <a:pt x="800" y="13200"/>
                  </a:lnTo>
                  <a:lnTo>
                    <a:pt x="800" y="13300"/>
                  </a:lnTo>
                  <a:lnTo>
                    <a:pt x="600" y="13300"/>
                  </a:lnTo>
                  <a:lnTo>
                    <a:pt x="600" y="13500"/>
                  </a:lnTo>
                  <a:lnTo>
                    <a:pt x="500" y="13500"/>
                  </a:lnTo>
                  <a:lnTo>
                    <a:pt x="500" y="13600"/>
                  </a:lnTo>
                  <a:lnTo>
                    <a:pt x="700" y="13600"/>
                  </a:lnTo>
                  <a:lnTo>
                    <a:pt x="700" y="13700"/>
                  </a:lnTo>
                  <a:lnTo>
                    <a:pt x="800" y="13700"/>
                  </a:lnTo>
                  <a:lnTo>
                    <a:pt x="800" y="13800"/>
                  </a:lnTo>
                  <a:lnTo>
                    <a:pt x="900" y="13800"/>
                  </a:lnTo>
                  <a:lnTo>
                    <a:pt x="900" y="13700"/>
                  </a:lnTo>
                  <a:lnTo>
                    <a:pt x="800" y="13700"/>
                  </a:lnTo>
                  <a:lnTo>
                    <a:pt x="800" y="13500"/>
                  </a:lnTo>
                  <a:lnTo>
                    <a:pt x="1200" y="13500"/>
                  </a:lnTo>
                  <a:lnTo>
                    <a:pt x="1200" y="13600"/>
                  </a:lnTo>
                  <a:lnTo>
                    <a:pt x="1300" y="13600"/>
                  </a:lnTo>
                  <a:lnTo>
                    <a:pt x="1300" y="13700"/>
                  </a:lnTo>
                  <a:lnTo>
                    <a:pt x="1400" y="13700"/>
                  </a:lnTo>
                  <a:lnTo>
                    <a:pt x="1400" y="13800"/>
                  </a:lnTo>
                  <a:lnTo>
                    <a:pt x="1500" y="13800"/>
                  </a:lnTo>
                  <a:lnTo>
                    <a:pt x="1500" y="13700"/>
                  </a:lnTo>
                  <a:lnTo>
                    <a:pt x="1400" y="13700"/>
                  </a:lnTo>
                  <a:lnTo>
                    <a:pt x="1400" y="13500"/>
                  </a:lnTo>
                  <a:lnTo>
                    <a:pt x="1300" y="13500"/>
                  </a:lnTo>
                  <a:lnTo>
                    <a:pt x="1300" y="13400"/>
                  </a:lnTo>
                  <a:lnTo>
                    <a:pt x="1400" y="13400"/>
                  </a:lnTo>
                  <a:lnTo>
                    <a:pt x="1400" y="13300"/>
                  </a:lnTo>
                  <a:lnTo>
                    <a:pt x="1500" y="13300"/>
                  </a:lnTo>
                  <a:lnTo>
                    <a:pt x="1500" y="13400"/>
                  </a:lnTo>
                  <a:lnTo>
                    <a:pt x="1700" y="13400"/>
                  </a:lnTo>
                  <a:lnTo>
                    <a:pt x="1700" y="13500"/>
                  </a:lnTo>
                  <a:lnTo>
                    <a:pt x="1800" y="13500"/>
                  </a:lnTo>
                  <a:lnTo>
                    <a:pt x="1800" y="13700"/>
                  </a:lnTo>
                  <a:lnTo>
                    <a:pt x="1900" y="13700"/>
                  </a:lnTo>
                  <a:lnTo>
                    <a:pt x="1900" y="13800"/>
                  </a:lnTo>
                  <a:lnTo>
                    <a:pt x="2000" y="13800"/>
                  </a:lnTo>
                  <a:lnTo>
                    <a:pt x="2000" y="14200"/>
                  </a:lnTo>
                  <a:lnTo>
                    <a:pt x="2100" y="14200"/>
                  </a:lnTo>
                  <a:lnTo>
                    <a:pt x="2100" y="14500"/>
                  </a:lnTo>
                  <a:lnTo>
                    <a:pt x="2200" y="14500"/>
                  </a:lnTo>
                  <a:lnTo>
                    <a:pt x="2200" y="14600"/>
                  </a:lnTo>
                  <a:lnTo>
                    <a:pt x="2300" y="14600"/>
                  </a:lnTo>
                  <a:lnTo>
                    <a:pt x="2300" y="14800"/>
                  </a:lnTo>
                  <a:lnTo>
                    <a:pt x="2400" y="14800"/>
                  </a:lnTo>
                  <a:lnTo>
                    <a:pt x="2400" y="15000"/>
                  </a:lnTo>
                  <a:lnTo>
                    <a:pt x="2200" y="15000"/>
                  </a:lnTo>
                  <a:lnTo>
                    <a:pt x="2200" y="14900"/>
                  </a:lnTo>
                  <a:lnTo>
                    <a:pt x="2000" y="14900"/>
                  </a:lnTo>
                  <a:lnTo>
                    <a:pt x="2000" y="15100"/>
                  </a:lnTo>
                  <a:lnTo>
                    <a:pt x="2100" y="15100"/>
                  </a:lnTo>
                  <a:lnTo>
                    <a:pt x="2100" y="15200"/>
                  </a:lnTo>
                  <a:lnTo>
                    <a:pt x="2200" y="15200"/>
                  </a:lnTo>
                  <a:lnTo>
                    <a:pt x="2200" y="15600"/>
                  </a:lnTo>
                  <a:lnTo>
                    <a:pt x="2300" y="15600"/>
                  </a:lnTo>
                  <a:lnTo>
                    <a:pt x="2300" y="15700"/>
                  </a:lnTo>
                  <a:lnTo>
                    <a:pt x="2400" y="15700"/>
                  </a:lnTo>
                  <a:lnTo>
                    <a:pt x="2400" y="16000"/>
                  </a:lnTo>
                  <a:lnTo>
                    <a:pt x="2300" y="16000"/>
                  </a:lnTo>
                  <a:lnTo>
                    <a:pt x="2300" y="15900"/>
                  </a:lnTo>
                  <a:lnTo>
                    <a:pt x="2100" y="15900"/>
                  </a:lnTo>
                  <a:lnTo>
                    <a:pt x="2100" y="16000"/>
                  </a:lnTo>
                  <a:lnTo>
                    <a:pt x="2200" y="16000"/>
                  </a:lnTo>
                  <a:lnTo>
                    <a:pt x="2200" y="16100"/>
                  </a:lnTo>
                  <a:lnTo>
                    <a:pt x="2300" y="16100"/>
                  </a:lnTo>
                  <a:lnTo>
                    <a:pt x="2300" y="16400"/>
                  </a:lnTo>
                  <a:lnTo>
                    <a:pt x="2400" y="16400"/>
                  </a:lnTo>
                  <a:lnTo>
                    <a:pt x="2400" y="16600"/>
                  </a:lnTo>
                  <a:lnTo>
                    <a:pt x="2500" y="16600"/>
                  </a:lnTo>
                  <a:lnTo>
                    <a:pt x="2500" y="16700"/>
                  </a:lnTo>
                  <a:lnTo>
                    <a:pt x="2400" y="16700"/>
                  </a:lnTo>
                  <a:lnTo>
                    <a:pt x="2400" y="16800"/>
                  </a:lnTo>
                  <a:lnTo>
                    <a:pt x="2300" y="16800"/>
                  </a:lnTo>
                  <a:lnTo>
                    <a:pt x="2300" y="16700"/>
                  </a:lnTo>
                  <a:lnTo>
                    <a:pt x="2200" y="16700"/>
                  </a:lnTo>
                  <a:lnTo>
                    <a:pt x="2200" y="16600"/>
                  </a:lnTo>
                  <a:lnTo>
                    <a:pt x="2000" y="16600"/>
                  </a:lnTo>
                  <a:lnTo>
                    <a:pt x="2000" y="16500"/>
                  </a:lnTo>
                  <a:lnTo>
                    <a:pt x="1900" y="16500"/>
                  </a:lnTo>
                  <a:lnTo>
                    <a:pt x="1900" y="16700"/>
                  </a:lnTo>
                  <a:lnTo>
                    <a:pt x="1700" y="16700"/>
                  </a:lnTo>
                  <a:lnTo>
                    <a:pt x="1700" y="16600"/>
                  </a:lnTo>
                  <a:lnTo>
                    <a:pt x="1500" y="16600"/>
                  </a:lnTo>
                  <a:lnTo>
                    <a:pt x="1500" y="16700"/>
                  </a:lnTo>
                  <a:lnTo>
                    <a:pt x="1300" y="16700"/>
                  </a:lnTo>
                  <a:lnTo>
                    <a:pt x="1300" y="16900"/>
                  </a:lnTo>
                  <a:lnTo>
                    <a:pt x="1200" y="16900"/>
                  </a:lnTo>
                  <a:lnTo>
                    <a:pt x="1200" y="17000"/>
                  </a:lnTo>
                  <a:lnTo>
                    <a:pt x="1100" y="17000"/>
                  </a:lnTo>
                  <a:lnTo>
                    <a:pt x="1100" y="16900"/>
                  </a:lnTo>
                  <a:lnTo>
                    <a:pt x="1000" y="16900"/>
                  </a:lnTo>
                  <a:lnTo>
                    <a:pt x="1000" y="16800"/>
                  </a:lnTo>
                  <a:lnTo>
                    <a:pt x="900" y="16800"/>
                  </a:lnTo>
                  <a:lnTo>
                    <a:pt x="900" y="16600"/>
                  </a:lnTo>
                  <a:lnTo>
                    <a:pt x="800" y="16600"/>
                  </a:lnTo>
                  <a:lnTo>
                    <a:pt x="800" y="16900"/>
                  </a:lnTo>
                  <a:lnTo>
                    <a:pt x="700" y="16900"/>
                  </a:lnTo>
                  <a:lnTo>
                    <a:pt x="700" y="16700"/>
                  </a:lnTo>
                  <a:lnTo>
                    <a:pt x="600" y="16700"/>
                  </a:lnTo>
                  <a:lnTo>
                    <a:pt x="600" y="16500"/>
                  </a:lnTo>
                  <a:lnTo>
                    <a:pt x="500" y="16500"/>
                  </a:lnTo>
                  <a:lnTo>
                    <a:pt x="500" y="16200"/>
                  </a:lnTo>
                  <a:lnTo>
                    <a:pt x="700" y="16200"/>
                  </a:lnTo>
                  <a:lnTo>
                    <a:pt x="700" y="16000"/>
                  </a:lnTo>
                  <a:lnTo>
                    <a:pt x="600" y="16000"/>
                  </a:lnTo>
                  <a:lnTo>
                    <a:pt x="600" y="15900"/>
                  </a:lnTo>
                  <a:lnTo>
                    <a:pt x="500" y="15900"/>
                  </a:lnTo>
                  <a:lnTo>
                    <a:pt x="500" y="15800"/>
                  </a:lnTo>
                  <a:lnTo>
                    <a:pt x="400" y="15800"/>
                  </a:lnTo>
                  <a:lnTo>
                    <a:pt x="400" y="15600"/>
                  </a:lnTo>
                  <a:lnTo>
                    <a:pt x="500" y="15600"/>
                  </a:lnTo>
                  <a:lnTo>
                    <a:pt x="500" y="15500"/>
                  </a:lnTo>
                  <a:lnTo>
                    <a:pt x="600" y="15500"/>
                  </a:lnTo>
                  <a:lnTo>
                    <a:pt x="600" y="15400"/>
                  </a:lnTo>
                  <a:lnTo>
                    <a:pt x="500" y="15400"/>
                  </a:lnTo>
                  <a:lnTo>
                    <a:pt x="500" y="15200"/>
                  </a:lnTo>
                  <a:lnTo>
                    <a:pt x="400" y="15200"/>
                  </a:lnTo>
                  <a:lnTo>
                    <a:pt x="400" y="15100"/>
                  </a:lnTo>
                  <a:lnTo>
                    <a:pt x="300" y="15100"/>
                  </a:lnTo>
                  <a:lnTo>
                    <a:pt x="300" y="14900"/>
                  </a:lnTo>
                  <a:lnTo>
                    <a:pt x="400" y="14900"/>
                  </a:lnTo>
                  <a:lnTo>
                    <a:pt x="400" y="14600"/>
                  </a:lnTo>
                  <a:lnTo>
                    <a:pt x="300" y="14600"/>
                  </a:lnTo>
                  <a:lnTo>
                    <a:pt x="300" y="14400"/>
                  </a:lnTo>
                  <a:lnTo>
                    <a:pt x="200" y="14400"/>
                  </a:lnTo>
                  <a:lnTo>
                    <a:pt x="200" y="14100"/>
                  </a:lnTo>
                  <a:lnTo>
                    <a:pt x="100" y="14100"/>
                  </a:lnTo>
                  <a:lnTo>
                    <a:pt x="100" y="13900"/>
                  </a:lnTo>
                  <a:lnTo>
                    <a:pt x="200" y="13900"/>
                  </a:lnTo>
                  <a:lnTo>
                    <a:pt x="200" y="13800"/>
                  </a:lnTo>
                  <a:lnTo>
                    <a:pt x="400" y="13800"/>
                  </a:lnTo>
                  <a:lnTo>
                    <a:pt x="400" y="13900"/>
                  </a:lnTo>
                  <a:lnTo>
                    <a:pt x="300" y="13900"/>
                  </a:lnTo>
                  <a:lnTo>
                    <a:pt x="300" y="14200"/>
                  </a:lnTo>
                  <a:lnTo>
                    <a:pt x="400" y="14200"/>
                  </a:lnTo>
                  <a:lnTo>
                    <a:pt x="400" y="14300"/>
                  </a:lnTo>
                  <a:lnTo>
                    <a:pt x="500" y="14300"/>
                  </a:lnTo>
                  <a:lnTo>
                    <a:pt x="500" y="14500"/>
                  </a:lnTo>
                  <a:lnTo>
                    <a:pt x="700" y="14500"/>
                  </a:lnTo>
                  <a:lnTo>
                    <a:pt x="700" y="14400"/>
                  </a:lnTo>
                  <a:lnTo>
                    <a:pt x="600" y="14400"/>
                  </a:lnTo>
                  <a:lnTo>
                    <a:pt x="600" y="14000"/>
                  </a:lnTo>
                  <a:lnTo>
                    <a:pt x="500" y="14000"/>
                  </a:lnTo>
                  <a:lnTo>
                    <a:pt x="500" y="13800"/>
                  </a:lnTo>
                  <a:lnTo>
                    <a:pt x="400" y="13800"/>
                  </a:lnTo>
                  <a:lnTo>
                    <a:pt x="400" y="13700"/>
                  </a:lnTo>
                  <a:lnTo>
                    <a:pt x="300" y="13700"/>
                  </a:lnTo>
                  <a:lnTo>
                    <a:pt x="300" y="13500"/>
                  </a:lnTo>
                  <a:lnTo>
                    <a:pt x="400" y="13500"/>
                  </a:lnTo>
                  <a:lnTo>
                    <a:pt x="400" y="13400"/>
                  </a:lnTo>
                  <a:lnTo>
                    <a:pt x="500" y="13400"/>
                  </a:lnTo>
                  <a:lnTo>
                    <a:pt x="500" y="13300"/>
                  </a:lnTo>
                  <a:lnTo>
                    <a:pt x="600" y="13300"/>
                  </a:lnTo>
                  <a:lnTo>
                    <a:pt x="600" y="13200"/>
                  </a:lnTo>
                  <a:lnTo>
                    <a:pt x="700" y="13200"/>
                  </a:lnTo>
                  <a:lnTo>
                    <a:pt x="700" y="13100"/>
                  </a:lnTo>
                  <a:lnTo>
                    <a:pt x="900" y="13100"/>
                  </a:lnTo>
                  <a:lnTo>
                    <a:pt x="900" y="13000"/>
                  </a:lnTo>
                  <a:lnTo>
                    <a:pt x="1200" y="13000"/>
                  </a:lnTo>
                  <a:lnTo>
                    <a:pt x="1200" y="12900"/>
                  </a:lnTo>
                  <a:close/>
                  <a:moveTo>
                    <a:pt x="1700" y="13900"/>
                  </a:moveTo>
                  <a:lnTo>
                    <a:pt x="1600" y="13900"/>
                  </a:lnTo>
                  <a:lnTo>
                    <a:pt x="1600" y="14000"/>
                  </a:lnTo>
                  <a:lnTo>
                    <a:pt x="1700" y="14000"/>
                  </a:lnTo>
                  <a:lnTo>
                    <a:pt x="1700" y="13900"/>
                  </a:lnTo>
                  <a:close/>
                  <a:moveTo>
                    <a:pt x="1400" y="14400"/>
                  </a:moveTo>
                  <a:lnTo>
                    <a:pt x="1300" y="14400"/>
                  </a:lnTo>
                  <a:lnTo>
                    <a:pt x="1300" y="14500"/>
                  </a:lnTo>
                  <a:lnTo>
                    <a:pt x="1400" y="14500"/>
                  </a:lnTo>
                  <a:lnTo>
                    <a:pt x="1400" y="14600"/>
                  </a:lnTo>
                  <a:lnTo>
                    <a:pt x="1500" y="14600"/>
                  </a:lnTo>
                  <a:lnTo>
                    <a:pt x="1500" y="14800"/>
                  </a:lnTo>
                  <a:lnTo>
                    <a:pt x="1600" y="14800"/>
                  </a:lnTo>
                  <a:lnTo>
                    <a:pt x="1600" y="14900"/>
                  </a:lnTo>
                  <a:lnTo>
                    <a:pt x="1700" y="14900"/>
                  </a:lnTo>
                  <a:lnTo>
                    <a:pt x="1700" y="15000"/>
                  </a:lnTo>
                  <a:lnTo>
                    <a:pt x="1800" y="15000"/>
                  </a:lnTo>
                  <a:lnTo>
                    <a:pt x="1800" y="14900"/>
                  </a:lnTo>
                  <a:lnTo>
                    <a:pt x="1700" y="14900"/>
                  </a:lnTo>
                  <a:lnTo>
                    <a:pt x="1700" y="14700"/>
                  </a:lnTo>
                  <a:lnTo>
                    <a:pt x="1600" y="14700"/>
                  </a:lnTo>
                  <a:lnTo>
                    <a:pt x="1600" y="14600"/>
                  </a:lnTo>
                  <a:lnTo>
                    <a:pt x="1500" y="14600"/>
                  </a:lnTo>
                  <a:lnTo>
                    <a:pt x="1500" y="14500"/>
                  </a:lnTo>
                  <a:lnTo>
                    <a:pt x="1400" y="14500"/>
                  </a:lnTo>
                  <a:lnTo>
                    <a:pt x="1400" y="14400"/>
                  </a:lnTo>
                  <a:close/>
                  <a:moveTo>
                    <a:pt x="2000" y="14800"/>
                  </a:moveTo>
                  <a:lnTo>
                    <a:pt x="1900" y="14800"/>
                  </a:lnTo>
                  <a:lnTo>
                    <a:pt x="1900" y="14900"/>
                  </a:lnTo>
                  <a:lnTo>
                    <a:pt x="2000" y="14900"/>
                  </a:lnTo>
                  <a:lnTo>
                    <a:pt x="2000" y="14800"/>
                  </a:lnTo>
                  <a:close/>
                  <a:moveTo>
                    <a:pt x="900" y="15000"/>
                  </a:moveTo>
                  <a:lnTo>
                    <a:pt x="800" y="15000"/>
                  </a:lnTo>
                  <a:lnTo>
                    <a:pt x="800" y="15100"/>
                  </a:lnTo>
                  <a:lnTo>
                    <a:pt x="900" y="15100"/>
                  </a:lnTo>
                  <a:lnTo>
                    <a:pt x="900" y="15000"/>
                  </a:lnTo>
                  <a:close/>
                  <a:moveTo>
                    <a:pt x="900" y="15400"/>
                  </a:moveTo>
                  <a:lnTo>
                    <a:pt x="800" y="15400"/>
                  </a:lnTo>
                  <a:lnTo>
                    <a:pt x="800" y="15600"/>
                  </a:lnTo>
                  <a:lnTo>
                    <a:pt x="900" y="15600"/>
                  </a:lnTo>
                  <a:lnTo>
                    <a:pt x="900" y="15700"/>
                  </a:lnTo>
                  <a:lnTo>
                    <a:pt x="1000" y="15700"/>
                  </a:lnTo>
                  <a:lnTo>
                    <a:pt x="1000" y="15800"/>
                  </a:lnTo>
                  <a:lnTo>
                    <a:pt x="1100" y="15800"/>
                  </a:lnTo>
                  <a:lnTo>
                    <a:pt x="1100" y="15900"/>
                  </a:lnTo>
                  <a:lnTo>
                    <a:pt x="1200" y="15900"/>
                  </a:lnTo>
                  <a:lnTo>
                    <a:pt x="1200" y="15800"/>
                  </a:lnTo>
                  <a:lnTo>
                    <a:pt x="1100" y="15800"/>
                  </a:lnTo>
                  <a:lnTo>
                    <a:pt x="1100" y="15700"/>
                  </a:lnTo>
                  <a:lnTo>
                    <a:pt x="1000" y="15700"/>
                  </a:lnTo>
                  <a:lnTo>
                    <a:pt x="1000" y="15600"/>
                  </a:lnTo>
                  <a:lnTo>
                    <a:pt x="900" y="15600"/>
                  </a:lnTo>
                  <a:lnTo>
                    <a:pt x="900" y="15400"/>
                  </a:lnTo>
                  <a:close/>
                  <a:moveTo>
                    <a:pt x="1900" y="15500"/>
                  </a:moveTo>
                  <a:lnTo>
                    <a:pt x="1800" y="15500"/>
                  </a:lnTo>
                  <a:lnTo>
                    <a:pt x="1800" y="15600"/>
                  </a:lnTo>
                  <a:lnTo>
                    <a:pt x="1900" y="15600"/>
                  </a:lnTo>
                  <a:lnTo>
                    <a:pt x="1900" y="15500"/>
                  </a:lnTo>
                  <a:close/>
                  <a:moveTo>
                    <a:pt x="1300" y="16100"/>
                  </a:moveTo>
                  <a:lnTo>
                    <a:pt x="1200" y="16100"/>
                  </a:lnTo>
                  <a:lnTo>
                    <a:pt x="1200" y="16200"/>
                  </a:lnTo>
                  <a:lnTo>
                    <a:pt x="1300" y="16200"/>
                  </a:lnTo>
                  <a:lnTo>
                    <a:pt x="1300" y="16300"/>
                  </a:lnTo>
                  <a:lnTo>
                    <a:pt x="1400" y="16300"/>
                  </a:lnTo>
                  <a:lnTo>
                    <a:pt x="1400" y="16200"/>
                  </a:lnTo>
                  <a:lnTo>
                    <a:pt x="1300" y="16200"/>
                  </a:lnTo>
                  <a:lnTo>
                    <a:pt x="1300" y="16100"/>
                  </a:lnTo>
                  <a:close/>
                  <a:moveTo>
                    <a:pt x="2000" y="16100"/>
                  </a:moveTo>
                  <a:lnTo>
                    <a:pt x="1900" y="16100"/>
                  </a:lnTo>
                  <a:lnTo>
                    <a:pt x="1900" y="16200"/>
                  </a:lnTo>
                  <a:lnTo>
                    <a:pt x="2000" y="16200"/>
                  </a:lnTo>
                  <a:lnTo>
                    <a:pt x="2000" y="16100"/>
                  </a:lnTo>
                  <a:close/>
                  <a:moveTo>
                    <a:pt x="1000" y="16200"/>
                  </a:moveTo>
                  <a:lnTo>
                    <a:pt x="900" y="16200"/>
                  </a:lnTo>
                  <a:lnTo>
                    <a:pt x="900" y="16400"/>
                  </a:lnTo>
                  <a:lnTo>
                    <a:pt x="1000" y="16400"/>
                  </a:lnTo>
                  <a:lnTo>
                    <a:pt x="1000" y="16200"/>
                  </a:lnTo>
                  <a:close/>
                  <a:moveTo>
                    <a:pt x="2200" y="16200"/>
                  </a:moveTo>
                  <a:lnTo>
                    <a:pt x="2100" y="16200"/>
                  </a:lnTo>
                  <a:lnTo>
                    <a:pt x="2100" y="16400"/>
                  </a:lnTo>
                  <a:lnTo>
                    <a:pt x="2200" y="16400"/>
                  </a:lnTo>
                  <a:lnTo>
                    <a:pt x="2200" y="16200"/>
                  </a:lnTo>
                  <a:close/>
                  <a:moveTo>
                    <a:pt x="800" y="16500"/>
                  </a:moveTo>
                  <a:lnTo>
                    <a:pt x="700" y="16500"/>
                  </a:lnTo>
                  <a:lnTo>
                    <a:pt x="700" y="16600"/>
                  </a:lnTo>
                  <a:lnTo>
                    <a:pt x="800" y="16600"/>
                  </a:lnTo>
                  <a:lnTo>
                    <a:pt x="800" y="16500"/>
                  </a:lnTo>
                  <a:close/>
                  <a:moveTo>
                    <a:pt x="1100" y="17400"/>
                  </a:moveTo>
                  <a:lnTo>
                    <a:pt x="1200" y="17400"/>
                  </a:lnTo>
                  <a:lnTo>
                    <a:pt x="1200" y="18400"/>
                  </a:lnTo>
                  <a:lnTo>
                    <a:pt x="1100" y="18400"/>
                  </a:lnTo>
                  <a:lnTo>
                    <a:pt x="1100" y="17400"/>
                  </a:lnTo>
                  <a:close/>
                  <a:moveTo>
                    <a:pt x="1400" y="17400"/>
                  </a:moveTo>
                  <a:lnTo>
                    <a:pt x="1500" y="17400"/>
                  </a:lnTo>
                  <a:lnTo>
                    <a:pt x="1500" y="18300"/>
                  </a:lnTo>
                  <a:lnTo>
                    <a:pt x="1400" y="18300"/>
                  </a:lnTo>
                  <a:lnTo>
                    <a:pt x="1400" y="17400"/>
                  </a:lnTo>
                  <a:close/>
                  <a:moveTo>
                    <a:pt x="1900" y="19200"/>
                  </a:moveTo>
                  <a:lnTo>
                    <a:pt x="2000" y="19200"/>
                  </a:lnTo>
                  <a:lnTo>
                    <a:pt x="2000" y="20000"/>
                  </a:lnTo>
                  <a:lnTo>
                    <a:pt x="1900" y="20000"/>
                  </a:lnTo>
                  <a:lnTo>
                    <a:pt x="1900" y="19900"/>
                  </a:lnTo>
                  <a:lnTo>
                    <a:pt x="1800" y="19900"/>
                  </a:lnTo>
                  <a:lnTo>
                    <a:pt x="1800" y="19800"/>
                  </a:lnTo>
                  <a:lnTo>
                    <a:pt x="1700" y="19800"/>
                  </a:lnTo>
                  <a:lnTo>
                    <a:pt x="1700" y="19700"/>
                  </a:lnTo>
                  <a:lnTo>
                    <a:pt x="1900" y="19700"/>
                  </a:lnTo>
                  <a:lnTo>
                    <a:pt x="1900" y="19200"/>
                  </a:lnTo>
                  <a:close/>
                  <a:moveTo>
                    <a:pt x="900" y="19300"/>
                  </a:moveTo>
                  <a:lnTo>
                    <a:pt x="1200" y="19300"/>
                  </a:lnTo>
                  <a:lnTo>
                    <a:pt x="1200" y="19400"/>
                  </a:lnTo>
                  <a:lnTo>
                    <a:pt x="1400" y="19400"/>
                  </a:lnTo>
                  <a:lnTo>
                    <a:pt x="1400" y="19500"/>
                  </a:lnTo>
                  <a:lnTo>
                    <a:pt x="1600" y="19500"/>
                  </a:lnTo>
                  <a:lnTo>
                    <a:pt x="1600" y="19600"/>
                  </a:lnTo>
                  <a:lnTo>
                    <a:pt x="1700" y="19600"/>
                  </a:lnTo>
                  <a:lnTo>
                    <a:pt x="1700" y="19700"/>
                  </a:lnTo>
                  <a:lnTo>
                    <a:pt x="1500" y="19700"/>
                  </a:lnTo>
                  <a:lnTo>
                    <a:pt x="1500" y="19600"/>
                  </a:lnTo>
                  <a:lnTo>
                    <a:pt x="1400" y="19600"/>
                  </a:lnTo>
                  <a:lnTo>
                    <a:pt x="1400" y="19500"/>
                  </a:lnTo>
                  <a:lnTo>
                    <a:pt x="800" y="19500"/>
                  </a:lnTo>
                  <a:lnTo>
                    <a:pt x="800" y="19700"/>
                  </a:lnTo>
                  <a:lnTo>
                    <a:pt x="900" y="19700"/>
                  </a:lnTo>
                  <a:lnTo>
                    <a:pt x="900" y="19800"/>
                  </a:lnTo>
                  <a:lnTo>
                    <a:pt x="1000" y="19800"/>
                  </a:lnTo>
                  <a:lnTo>
                    <a:pt x="1000" y="19900"/>
                  </a:lnTo>
                  <a:lnTo>
                    <a:pt x="800" y="19900"/>
                  </a:lnTo>
                  <a:lnTo>
                    <a:pt x="800" y="19700"/>
                  </a:lnTo>
                  <a:lnTo>
                    <a:pt x="700" y="19700"/>
                  </a:lnTo>
                  <a:lnTo>
                    <a:pt x="700" y="19400"/>
                  </a:lnTo>
                  <a:lnTo>
                    <a:pt x="900" y="19400"/>
                  </a:lnTo>
                  <a:lnTo>
                    <a:pt x="900" y="19300"/>
                  </a:lnTo>
                  <a:close/>
                  <a:moveTo>
                    <a:pt x="1300" y="20400"/>
                  </a:moveTo>
                  <a:lnTo>
                    <a:pt x="1500" y="20400"/>
                  </a:lnTo>
                  <a:lnTo>
                    <a:pt x="1500" y="20600"/>
                  </a:lnTo>
                  <a:lnTo>
                    <a:pt x="1800" y="20600"/>
                  </a:lnTo>
                  <a:lnTo>
                    <a:pt x="1800" y="20700"/>
                  </a:lnTo>
                  <a:lnTo>
                    <a:pt x="1500" y="20700"/>
                  </a:lnTo>
                  <a:lnTo>
                    <a:pt x="1500" y="21000"/>
                  </a:lnTo>
                  <a:lnTo>
                    <a:pt x="1400" y="21000"/>
                  </a:lnTo>
                  <a:lnTo>
                    <a:pt x="1400" y="20900"/>
                  </a:lnTo>
                  <a:lnTo>
                    <a:pt x="1300" y="20900"/>
                  </a:lnTo>
                  <a:lnTo>
                    <a:pt x="1300" y="20700"/>
                  </a:lnTo>
                  <a:lnTo>
                    <a:pt x="1000" y="20700"/>
                  </a:lnTo>
                  <a:lnTo>
                    <a:pt x="1000" y="20600"/>
                  </a:lnTo>
                  <a:lnTo>
                    <a:pt x="1300" y="20600"/>
                  </a:lnTo>
                  <a:lnTo>
                    <a:pt x="1300" y="20400"/>
                  </a:lnTo>
                  <a:close/>
                  <a:moveTo>
                    <a:pt x="200" y="21100"/>
                  </a:moveTo>
                  <a:lnTo>
                    <a:pt x="400" y="21100"/>
                  </a:lnTo>
                  <a:lnTo>
                    <a:pt x="400" y="21200"/>
                  </a:lnTo>
                  <a:lnTo>
                    <a:pt x="500" y="21200"/>
                  </a:lnTo>
                  <a:lnTo>
                    <a:pt x="500" y="21300"/>
                  </a:lnTo>
                  <a:lnTo>
                    <a:pt x="700" y="21300"/>
                  </a:lnTo>
                  <a:lnTo>
                    <a:pt x="700" y="21400"/>
                  </a:lnTo>
                  <a:lnTo>
                    <a:pt x="1000" y="21400"/>
                  </a:lnTo>
                  <a:lnTo>
                    <a:pt x="1000" y="21500"/>
                  </a:lnTo>
                  <a:lnTo>
                    <a:pt x="1500" y="21500"/>
                  </a:lnTo>
                  <a:lnTo>
                    <a:pt x="1500" y="21600"/>
                  </a:lnTo>
                  <a:lnTo>
                    <a:pt x="1600" y="21600"/>
                  </a:lnTo>
                  <a:lnTo>
                    <a:pt x="1600" y="21500"/>
                  </a:lnTo>
                  <a:lnTo>
                    <a:pt x="2100" y="21500"/>
                  </a:lnTo>
                  <a:lnTo>
                    <a:pt x="2100" y="21600"/>
                  </a:lnTo>
                  <a:lnTo>
                    <a:pt x="1700" y="21600"/>
                  </a:lnTo>
                  <a:lnTo>
                    <a:pt x="1700" y="21700"/>
                  </a:lnTo>
                  <a:lnTo>
                    <a:pt x="1400" y="21700"/>
                  </a:lnTo>
                  <a:lnTo>
                    <a:pt x="1400" y="21600"/>
                  </a:lnTo>
                  <a:lnTo>
                    <a:pt x="1000" y="21600"/>
                  </a:lnTo>
                  <a:lnTo>
                    <a:pt x="1000" y="21500"/>
                  </a:lnTo>
                  <a:lnTo>
                    <a:pt x="700" y="21500"/>
                  </a:lnTo>
                  <a:lnTo>
                    <a:pt x="700" y="21400"/>
                  </a:lnTo>
                  <a:lnTo>
                    <a:pt x="500" y="21400"/>
                  </a:lnTo>
                  <a:lnTo>
                    <a:pt x="500" y="21300"/>
                  </a:lnTo>
                  <a:lnTo>
                    <a:pt x="300" y="21300"/>
                  </a:lnTo>
                  <a:lnTo>
                    <a:pt x="300" y="21200"/>
                  </a:lnTo>
                  <a:lnTo>
                    <a:pt x="200" y="21200"/>
                  </a:lnTo>
                  <a:lnTo>
                    <a:pt x="200" y="21100"/>
                  </a:lnTo>
                  <a:close/>
                  <a:moveTo>
                    <a:pt x="2200" y="21400"/>
                  </a:moveTo>
                  <a:lnTo>
                    <a:pt x="2300" y="21400"/>
                  </a:lnTo>
                  <a:lnTo>
                    <a:pt x="2300" y="21500"/>
                  </a:lnTo>
                  <a:lnTo>
                    <a:pt x="2200" y="21500"/>
                  </a:lnTo>
                  <a:lnTo>
                    <a:pt x="2200" y="21400"/>
                  </a:lnTo>
                  <a:close/>
                  <a:moveTo>
                    <a:pt x="900" y="22000"/>
                  </a:moveTo>
                  <a:lnTo>
                    <a:pt x="1100" y="22000"/>
                  </a:lnTo>
                  <a:lnTo>
                    <a:pt x="1100" y="22100"/>
                  </a:lnTo>
                  <a:lnTo>
                    <a:pt x="1000" y="22100"/>
                  </a:lnTo>
                  <a:lnTo>
                    <a:pt x="1000" y="22300"/>
                  </a:lnTo>
                  <a:lnTo>
                    <a:pt x="1100" y="22300"/>
                  </a:lnTo>
                  <a:lnTo>
                    <a:pt x="1100" y="22400"/>
                  </a:lnTo>
                  <a:lnTo>
                    <a:pt x="1400" y="22400"/>
                  </a:lnTo>
                  <a:lnTo>
                    <a:pt x="1400" y="22500"/>
                  </a:lnTo>
                  <a:lnTo>
                    <a:pt x="1800" y="22500"/>
                  </a:lnTo>
                  <a:lnTo>
                    <a:pt x="1800" y="22700"/>
                  </a:lnTo>
                  <a:lnTo>
                    <a:pt x="1900" y="22700"/>
                  </a:lnTo>
                  <a:lnTo>
                    <a:pt x="1900" y="22800"/>
                  </a:lnTo>
                  <a:lnTo>
                    <a:pt x="2000" y="22800"/>
                  </a:lnTo>
                  <a:lnTo>
                    <a:pt x="2000" y="22900"/>
                  </a:lnTo>
                  <a:lnTo>
                    <a:pt x="2100" y="22900"/>
                  </a:lnTo>
                  <a:lnTo>
                    <a:pt x="2100" y="23000"/>
                  </a:lnTo>
                  <a:lnTo>
                    <a:pt x="2000" y="23000"/>
                  </a:lnTo>
                  <a:lnTo>
                    <a:pt x="2000" y="23100"/>
                  </a:lnTo>
                  <a:lnTo>
                    <a:pt x="1900" y="23100"/>
                  </a:lnTo>
                  <a:lnTo>
                    <a:pt x="1900" y="22800"/>
                  </a:lnTo>
                  <a:lnTo>
                    <a:pt x="1700" y="22800"/>
                  </a:lnTo>
                  <a:lnTo>
                    <a:pt x="1700" y="22700"/>
                  </a:lnTo>
                  <a:lnTo>
                    <a:pt x="1500" y="22700"/>
                  </a:lnTo>
                  <a:lnTo>
                    <a:pt x="1500" y="22600"/>
                  </a:lnTo>
                  <a:lnTo>
                    <a:pt x="1000" y="22600"/>
                  </a:lnTo>
                  <a:lnTo>
                    <a:pt x="1000" y="22900"/>
                  </a:lnTo>
                  <a:lnTo>
                    <a:pt x="1100" y="22900"/>
                  </a:lnTo>
                  <a:lnTo>
                    <a:pt x="1100" y="23000"/>
                  </a:lnTo>
                  <a:lnTo>
                    <a:pt x="1000" y="23000"/>
                  </a:lnTo>
                  <a:lnTo>
                    <a:pt x="1000" y="22900"/>
                  </a:lnTo>
                  <a:lnTo>
                    <a:pt x="900" y="22900"/>
                  </a:lnTo>
                  <a:lnTo>
                    <a:pt x="900" y="22600"/>
                  </a:lnTo>
                  <a:lnTo>
                    <a:pt x="1000" y="22600"/>
                  </a:lnTo>
                  <a:lnTo>
                    <a:pt x="1000" y="22500"/>
                  </a:lnTo>
                  <a:lnTo>
                    <a:pt x="1100" y="22500"/>
                  </a:lnTo>
                  <a:lnTo>
                    <a:pt x="1100" y="22400"/>
                  </a:lnTo>
                  <a:lnTo>
                    <a:pt x="900" y="22400"/>
                  </a:lnTo>
                  <a:lnTo>
                    <a:pt x="900" y="22200"/>
                  </a:lnTo>
                  <a:lnTo>
                    <a:pt x="800" y="22200"/>
                  </a:lnTo>
                  <a:lnTo>
                    <a:pt x="800" y="22100"/>
                  </a:lnTo>
                  <a:lnTo>
                    <a:pt x="900" y="22100"/>
                  </a:lnTo>
                  <a:lnTo>
                    <a:pt x="900" y="22000"/>
                  </a:lnTo>
                  <a:close/>
                  <a:moveTo>
                    <a:pt x="1800" y="22100"/>
                  </a:moveTo>
                  <a:lnTo>
                    <a:pt x="1900" y="22100"/>
                  </a:lnTo>
                  <a:lnTo>
                    <a:pt x="1900" y="22200"/>
                  </a:lnTo>
                  <a:lnTo>
                    <a:pt x="2000" y="22200"/>
                  </a:lnTo>
                  <a:lnTo>
                    <a:pt x="2000" y="22400"/>
                  </a:lnTo>
                  <a:lnTo>
                    <a:pt x="1900" y="22400"/>
                  </a:lnTo>
                  <a:lnTo>
                    <a:pt x="1900" y="22500"/>
                  </a:lnTo>
                  <a:lnTo>
                    <a:pt x="1800" y="22500"/>
                  </a:lnTo>
                  <a:lnTo>
                    <a:pt x="1800" y="22400"/>
                  </a:lnTo>
                  <a:lnTo>
                    <a:pt x="1900" y="22400"/>
                  </a:lnTo>
                  <a:lnTo>
                    <a:pt x="1900" y="22200"/>
                  </a:lnTo>
                  <a:lnTo>
                    <a:pt x="1800" y="22200"/>
                  </a:lnTo>
                  <a:lnTo>
                    <a:pt x="1800" y="22100"/>
                  </a:lnTo>
                  <a:close/>
                </a:path>
              </a:pathLst>
            </a:custGeom>
            <a:solidFill>
              <a:srgbClr val="333333"/>
            </a:solidFill>
            <a:ln w="9525" cap="rnd">
              <a:noFill/>
              <a:round/>
            </a:ln>
          </p:spPr>
        </p:sp>
      </p:grpSp>
      <p:grpSp>
        <p:nvGrpSpPr>
          <p:cNvPr id="308" name="instance-mask-stack"/>
          <p:cNvGrpSpPr/>
          <p:nvPr/>
        </p:nvGrpSpPr>
        <p:grpSpPr>
          <a:xfrm>
            <a:off x="8763000" y="1571625"/>
            <a:ext cx="781050" cy="828675"/>
            <a:chOff x="8763000" y="1571625"/>
            <a:chExt cx="781050" cy="828675"/>
          </a:xfrm>
        </p:grpSpPr>
        <p:sp>
          <p:nvSpPr>
            <p:cNvPr id="309" name="instance-card-0"/>
            <p:cNvSpPr/>
            <p:nvPr/>
          </p:nvSpPr>
          <p:spPr>
            <a:xfrm>
              <a:off x="8763000" y="1571625"/>
              <a:ext cx="695325" cy="695325"/>
            </a:xfrm>
            <a:prstGeom prst="rect">
              <a:avLst/>
            </a:prstGeom>
            <a:solidFill>
              <a:srgbClr val="010706"/>
            </a:solidFill>
            <a:ln w="6668" cap="flat">
              <a:solidFill>
                <a:srgbClr val="D5AE63"/>
              </a:solidFill>
              <a:miter/>
            </a:ln>
          </p:spPr>
        </p:sp>
        <p:sp>
          <p:nvSpPr>
            <p:cNvPr id="310" name="instance-card-1"/>
            <p:cNvSpPr/>
            <p:nvPr/>
          </p:nvSpPr>
          <p:spPr>
            <a:xfrm>
              <a:off x="8810625" y="1628775"/>
              <a:ext cx="685800" cy="695325"/>
            </a:xfrm>
            <a:prstGeom prst="rect">
              <a:avLst/>
            </a:prstGeom>
            <a:solidFill>
              <a:srgbClr val="010706"/>
            </a:solidFill>
            <a:ln w="6668" cap="flat">
              <a:solidFill>
                <a:srgbClr val="A0B3A1"/>
              </a:solidFill>
              <a:miter/>
            </a:ln>
          </p:spPr>
        </p:sp>
        <p:sp>
          <p:nvSpPr>
            <p:cNvPr id="311" name="instance-card-2"/>
            <p:cNvSpPr/>
            <p:nvPr/>
          </p:nvSpPr>
          <p:spPr>
            <a:xfrm>
              <a:off x="8858250" y="1685925"/>
              <a:ext cx="685800" cy="714375"/>
            </a:xfrm>
            <a:prstGeom prst="rect">
              <a:avLst/>
            </a:prstGeom>
            <a:solidFill>
              <a:srgbClr val="010706"/>
            </a:solidFill>
            <a:ln w="6668" cap="flat">
              <a:solidFill>
                <a:srgbClr val="79BCC0"/>
              </a:solidFill>
              <a:miter/>
            </a:ln>
          </p:spPr>
        </p:sp>
        <p:sp>
          <p:nvSpPr>
            <p:cNvPr id="312" name="instance-yellow-mask"/>
            <p:cNvSpPr/>
            <p:nvPr/>
          </p:nvSpPr>
          <p:spPr>
            <a:xfrm>
              <a:off x="8924925" y="1752600"/>
              <a:ext cx="314325" cy="266700"/>
            </a:xfrm>
            <a:custGeom>
              <a:avLst/>
              <a:gdLst/>
              <a:ahLst/>
              <a:cxnLst/>
              <a:rect l="0" t="0" r="r" b="b"/>
              <a:pathLst>
                <a:path w="3300" h="2800" fill="norm" stroke="0" extrusionOk="0">
                  <a:moveTo>
                    <a:pt x="2900" y="0"/>
                  </a:moveTo>
                  <a:lnTo>
                    <a:pt x="3100" y="0"/>
                  </a:lnTo>
                  <a:lnTo>
                    <a:pt x="3100" y="100"/>
                  </a:lnTo>
                  <a:lnTo>
                    <a:pt x="3300" y="100"/>
                  </a:lnTo>
                  <a:lnTo>
                    <a:pt x="3300" y="200"/>
                  </a:lnTo>
                  <a:lnTo>
                    <a:pt x="3000" y="200"/>
                  </a:lnTo>
                  <a:lnTo>
                    <a:pt x="3000" y="100"/>
                  </a:lnTo>
                  <a:lnTo>
                    <a:pt x="2900" y="100"/>
                  </a:lnTo>
                  <a:lnTo>
                    <a:pt x="2900" y="0"/>
                  </a:lnTo>
                  <a:close/>
                  <a:moveTo>
                    <a:pt x="2600" y="200"/>
                  </a:moveTo>
                  <a:lnTo>
                    <a:pt x="2700" y="200"/>
                  </a:lnTo>
                  <a:lnTo>
                    <a:pt x="2700" y="300"/>
                  </a:lnTo>
                  <a:lnTo>
                    <a:pt x="2800" y="300"/>
                  </a:lnTo>
                  <a:lnTo>
                    <a:pt x="2800" y="600"/>
                  </a:lnTo>
                  <a:lnTo>
                    <a:pt x="2900" y="600"/>
                  </a:lnTo>
                  <a:lnTo>
                    <a:pt x="2900" y="700"/>
                  </a:lnTo>
                  <a:lnTo>
                    <a:pt x="3000" y="700"/>
                  </a:lnTo>
                  <a:lnTo>
                    <a:pt x="3000" y="800"/>
                  </a:lnTo>
                  <a:lnTo>
                    <a:pt x="3100" y="800"/>
                  </a:lnTo>
                  <a:lnTo>
                    <a:pt x="3100" y="1200"/>
                  </a:lnTo>
                  <a:lnTo>
                    <a:pt x="3200" y="1200"/>
                  </a:lnTo>
                  <a:lnTo>
                    <a:pt x="3200" y="1300"/>
                  </a:lnTo>
                  <a:lnTo>
                    <a:pt x="3300" y="1300"/>
                  </a:lnTo>
                  <a:lnTo>
                    <a:pt x="3300" y="1700"/>
                  </a:lnTo>
                  <a:lnTo>
                    <a:pt x="3000" y="1700"/>
                  </a:lnTo>
                  <a:lnTo>
                    <a:pt x="3000" y="1800"/>
                  </a:lnTo>
                  <a:lnTo>
                    <a:pt x="2900" y="1800"/>
                  </a:lnTo>
                  <a:lnTo>
                    <a:pt x="2900" y="1900"/>
                  </a:lnTo>
                  <a:lnTo>
                    <a:pt x="2800" y="1900"/>
                  </a:lnTo>
                  <a:lnTo>
                    <a:pt x="2800" y="2000"/>
                  </a:lnTo>
                  <a:lnTo>
                    <a:pt x="3200" y="2000"/>
                  </a:lnTo>
                  <a:lnTo>
                    <a:pt x="3200" y="2200"/>
                  </a:lnTo>
                  <a:lnTo>
                    <a:pt x="2700" y="2200"/>
                  </a:lnTo>
                  <a:lnTo>
                    <a:pt x="2700" y="2300"/>
                  </a:lnTo>
                  <a:lnTo>
                    <a:pt x="2200" y="2300"/>
                  </a:lnTo>
                  <a:lnTo>
                    <a:pt x="2200" y="2200"/>
                  </a:lnTo>
                  <a:lnTo>
                    <a:pt x="2000" y="2200"/>
                  </a:lnTo>
                  <a:lnTo>
                    <a:pt x="2000" y="2300"/>
                  </a:lnTo>
                  <a:lnTo>
                    <a:pt x="1700" y="2300"/>
                  </a:lnTo>
                  <a:lnTo>
                    <a:pt x="1700" y="2400"/>
                  </a:lnTo>
                  <a:lnTo>
                    <a:pt x="1600" y="2400"/>
                  </a:lnTo>
                  <a:lnTo>
                    <a:pt x="1600" y="2500"/>
                  </a:lnTo>
                  <a:lnTo>
                    <a:pt x="1500" y="2500"/>
                  </a:lnTo>
                  <a:lnTo>
                    <a:pt x="1500" y="2600"/>
                  </a:lnTo>
                  <a:lnTo>
                    <a:pt x="1400" y="2600"/>
                  </a:lnTo>
                  <a:lnTo>
                    <a:pt x="1400" y="2700"/>
                  </a:lnTo>
                  <a:lnTo>
                    <a:pt x="1300" y="2700"/>
                  </a:lnTo>
                  <a:lnTo>
                    <a:pt x="1300" y="2800"/>
                  </a:lnTo>
                  <a:lnTo>
                    <a:pt x="1200" y="2800"/>
                  </a:lnTo>
                  <a:lnTo>
                    <a:pt x="1200" y="2700"/>
                  </a:lnTo>
                  <a:lnTo>
                    <a:pt x="1100" y="2700"/>
                  </a:lnTo>
                  <a:lnTo>
                    <a:pt x="1100" y="2500"/>
                  </a:lnTo>
                  <a:lnTo>
                    <a:pt x="900" y="2500"/>
                  </a:lnTo>
                  <a:lnTo>
                    <a:pt x="900" y="2600"/>
                  </a:lnTo>
                  <a:lnTo>
                    <a:pt x="800" y="2600"/>
                  </a:lnTo>
                  <a:lnTo>
                    <a:pt x="800" y="2700"/>
                  </a:lnTo>
                  <a:lnTo>
                    <a:pt x="600" y="2700"/>
                  </a:lnTo>
                  <a:lnTo>
                    <a:pt x="600" y="2800"/>
                  </a:lnTo>
                  <a:lnTo>
                    <a:pt x="300" y="2800"/>
                  </a:lnTo>
                  <a:lnTo>
                    <a:pt x="300" y="2500"/>
                  </a:lnTo>
                  <a:lnTo>
                    <a:pt x="200" y="2500"/>
                  </a:lnTo>
                  <a:lnTo>
                    <a:pt x="200" y="2600"/>
                  </a:lnTo>
                  <a:lnTo>
                    <a:pt x="0" y="2600"/>
                  </a:lnTo>
                  <a:lnTo>
                    <a:pt x="0" y="2100"/>
                  </a:lnTo>
                  <a:lnTo>
                    <a:pt x="100" y="2100"/>
                  </a:lnTo>
                  <a:lnTo>
                    <a:pt x="100" y="2000"/>
                  </a:lnTo>
                  <a:lnTo>
                    <a:pt x="200" y="2000"/>
                  </a:lnTo>
                  <a:lnTo>
                    <a:pt x="200" y="1600"/>
                  </a:lnTo>
                  <a:lnTo>
                    <a:pt x="100" y="1600"/>
                  </a:lnTo>
                  <a:lnTo>
                    <a:pt x="100" y="1400"/>
                  </a:lnTo>
                  <a:lnTo>
                    <a:pt x="200" y="1400"/>
                  </a:lnTo>
                  <a:lnTo>
                    <a:pt x="200" y="1300"/>
                  </a:lnTo>
                  <a:lnTo>
                    <a:pt x="300" y="1300"/>
                  </a:lnTo>
                  <a:lnTo>
                    <a:pt x="300" y="1200"/>
                  </a:lnTo>
                  <a:lnTo>
                    <a:pt x="400" y="1200"/>
                  </a:lnTo>
                  <a:lnTo>
                    <a:pt x="400" y="1100"/>
                  </a:lnTo>
                  <a:lnTo>
                    <a:pt x="500" y="1100"/>
                  </a:lnTo>
                  <a:lnTo>
                    <a:pt x="500" y="1200"/>
                  </a:lnTo>
                  <a:lnTo>
                    <a:pt x="600" y="1200"/>
                  </a:lnTo>
                  <a:lnTo>
                    <a:pt x="600" y="1300"/>
                  </a:lnTo>
                  <a:lnTo>
                    <a:pt x="500" y="1300"/>
                  </a:lnTo>
                  <a:lnTo>
                    <a:pt x="500" y="1400"/>
                  </a:lnTo>
                  <a:lnTo>
                    <a:pt x="700" y="1400"/>
                  </a:lnTo>
                  <a:lnTo>
                    <a:pt x="700" y="1300"/>
                  </a:lnTo>
                  <a:lnTo>
                    <a:pt x="800" y="1300"/>
                  </a:lnTo>
                  <a:lnTo>
                    <a:pt x="800" y="1200"/>
                  </a:lnTo>
                  <a:lnTo>
                    <a:pt x="900" y="1200"/>
                  </a:lnTo>
                  <a:lnTo>
                    <a:pt x="900" y="1100"/>
                  </a:lnTo>
                  <a:lnTo>
                    <a:pt x="800" y="1100"/>
                  </a:lnTo>
                  <a:lnTo>
                    <a:pt x="800" y="1200"/>
                  </a:lnTo>
                  <a:lnTo>
                    <a:pt x="600" y="1200"/>
                  </a:lnTo>
                  <a:lnTo>
                    <a:pt x="600" y="1100"/>
                  </a:lnTo>
                  <a:lnTo>
                    <a:pt x="700" y="1100"/>
                  </a:lnTo>
                  <a:lnTo>
                    <a:pt x="700" y="900"/>
                  </a:lnTo>
                  <a:lnTo>
                    <a:pt x="1000" y="900"/>
                  </a:lnTo>
                  <a:lnTo>
                    <a:pt x="1000" y="800"/>
                  </a:lnTo>
                  <a:lnTo>
                    <a:pt x="1100" y="800"/>
                  </a:lnTo>
                  <a:lnTo>
                    <a:pt x="1100" y="700"/>
                  </a:lnTo>
                  <a:lnTo>
                    <a:pt x="1300" y="700"/>
                  </a:lnTo>
                  <a:lnTo>
                    <a:pt x="1300" y="600"/>
                  </a:lnTo>
                  <a:lnTo>
                    <a:pt x="1500" y="600"/>
                  </a:lnTo>
                  <a:lnTo>
                    <a:pt x="1500" y="500"/>
                  </a:lnTo>
                  <a:lnTo>
                    <a:pt x="1700" y="500"/>
                  </a:lnTo>
                  <a:lnTo>
                    <a:pt x="1700" y="400"/>
                  </a:lnTo>
                  <a:lnTo>
                    <a:pt x="2100" y="400"/>
                  </a:lnTo>
                  <a:lnTo>
                    <a:pt x="2100" y="500"/>
                  </a:lnTo>
                  <a:lnTo>
                    <a:pt x="2200" y="500"/>
                  </a:lnTo>
                  <a:lnTo>
                    <a:pt x="2200" y="400"/>
                  </a:lnTo>
                  <a:lnTo>
                    <a:pt x="2300" y="400"/>
                  </a:lnTo>
                  <a:lnTo>
                    <a:pt x="2300" y="300"/>
                  </a:lnTo>
                  <a:lnTo>
                    <a:pt x="2600" y="300"/>
                  </a:lnTo>
                  <a:lnTo>
                    <a:pt x="2600" y="200"/>
                  </a:lnTo>
                  <a:close/>
                  <a:moveTo>
                    <a:pt x="2500" y="500"/>
                  </a:moveTo>
                  <a:lnTo>
                    <a:pt x="2400" y="500"/>
                  </a:lnTo>
                  <a:lnTo>
                    <a:pt x="2400" y="600"/>
                  </a:lnTo>
                  <a:lnTo>
                    <a:pt x="2500" y="600"/>
                  </a:lnTo>
                  <a:lnTo>
                    <a:pt x="2500" y="500"/>
                  </a:lnTo>
                  <a:close/>
                  <a:moveTo>
                    <a:pt x="2900" y="500"/>
                  </a:moveTo>
                  <a:lnTo>
                    <a:pt x="3000" y="500"/>
                  </a:lnTo>
                  <a:lnTo>
                    <a:pt x="3000" y="600"/>
                  </a:lnTo>
                  <a:lnTo>
                    <a:pt x="3100" y="600"/>
                  </a:lnTo>
                  <a:lnTo>
                    <a:pt x="3100" y="700"/>
                  </a:lnTo>
                  <a:lnTo>
                    <a:pt x="3000" y="700"/>
                  </a:lnTo>
                  <a:lnTo>
                    <a:pt x="3000" y="600"/>
                  </a:lnTo>
                  <a:lnTo>
                    <a:pt x="2900" y="600"/>
                  </a:lnTo>
                  <a:lnTo>
                    <a:pt x="2900" y="500"/>
                  </a:lnTo>
                  <a:close/>
                  <a:moveTo>
                    <a:pt x="1800" y="800"/>
                  </a:moveTo>
                  <a:lnTo>
                    <a:pt x="1700" y="800"/>
                  </a:lnTo>
                  <a:lnTo>
                    <a:pt x="1700" y="900"/>
                  </a:lnTo>
                  <a:lnTo>
                    <a:pt x="1800" y="900"/>
                  </a:lnTo>
                  <a:lnTo>
                    <a:pt x="1800" y="800"/>
                  </a:lnTo>
                  <a:close/>
                  <a:moveTo>
                    <a:pt x="1700" y="900"/>
                  </a:moveTo>
                  <a:lnTo>
                    <a:pt x="1600" y="900"/>
                  </a:lnTo>
                  <a:lnTo>
                    <a:pt x="1600" y="1000"/>
                  </a:lnTo>
                  <a:lnTo>
                    <a:pt x="1700" y="1000"/>
                  </a:lnTo>
                  <a:lnTo>
                    <a:pt x="1700" y="900"/>
                  </a:lnTo>
                  <a:close/>
                  <a:moveTo>
                    <a:pt x="3200" y="1500"/>
                  </a:moveTo>
                  <a:lnTo>
                    <a:pt x="3100" y="1500"/>
                  </a:lnTo>
                  <a:lnTo>
                    <a:pt x="3100" y="1600"/>
                  </a:lnTo>
                  <a:lnTo>
                    <a:pt x="3200" y="1600"/>
                  </a:lnTo>
                  <a:lnTo>
                    <a:pt x="3200" y="1500"/>
                  </a:lnTo>
                  <a:close/>
                  <a:moveTo>
                    <a:pt x="2800" y="1600"/>
                  </a:moveTo>
                  <a:lnTo>
                    <a:pt x="2800" y="1700"/>
                  </a:lnTo>
                  <a:lnTo>
                    <a:pt x="3000" y="1700"/>
                  </a:lnTo>
                  <a:lnTo>
                    <a:pt x="3000" y="1600"/>
                  </a:lnTo>
                  <a:lnTo>
                    <a:pt x="2800" y="1600"/>
                  </a:lnTo>
                  <a:close/>
                </a:path>
              </a:pathLst>
            </a:custGeom>
            <a:solidFill>
              <a:srgbClr val="D5A34A"/>
            </a:solidFill>
            <a:ln w="9525" cap="rnd">
              <a:noFill/>
              <a:round/>
            </a:ln>
          </p:spPr>
        </p:sp>
        <p:sp>
          <p:nvSpPr>
            <p:cNvPr id="313" name="instance-cyan-mask"/>
            <p:cNvSpPr/>
            <p:nvPr/>
          </p:nvSpPr>
          <p:spPr>
            <a:xfrm>
              <a:off x="9144000" y="2047875"/>
              <a:ext cx="323850" cy="238125"/>
            </a:xfrm>
            <a:custGeom>
              <a:avLst/>
              <a:gdLst/>
              <a:ahLst/>
              <a:cxnLst/>
              <a:rect l="0" t="0" r="r" b="b"/>
              <a:pathLst>
                <a:path w="3400" h="2500" fill="norm" stroke="0" extrusionOk="0">
                  <a:moveTo>
                    <a:pt x="2600" y="0"/>
                  </a:moveTo>
                  <a:lnTo>
                    <a:pt x="2700" y="0"/>
                  </a:lnTo>
                  <a:lnTo>
                    <a:pt x="2700" y="100"/>
                  </a:lnTo>
                  <a:lnTo>
                    <a:pt x="3200" y="100"/>
                  </a:lnTo>
                  <a:lnTo>
                    <a:pt x="3200" y="400"/>
                  </a:lnTo>
                  <a:lnTo>
                    <a:pt x="3100" y="400"/>
                  </a:lnTo>
                  <a:lnTo>
                    <a:pt x="3100" y="500"/>
                  </a:lnTo>
                  <a:lnTo>
                    <a:pt x="3000" y="500"/>
                  </a:lnTo>
                  <a:lnTo>
                    <a:pt x="3000" y="600"/>
                  </a:lnTo>
                  <a:lnTo>
                    <a:pt x="3100" y="600"/>
                  </a:lnTo>
                  <a:lnTo>
                    <a:pt x="3100" y="800"/>
                  </a:lnTo>
                  <a:lnTo>
                    <a:pt x="3200" y="800"/>
                  </a:lnTo>
                  <a:lnTo>
                    <a:pt x="3200" y="1000"/>
                  </a:lnTo>
                  <a:lnTo>
                    <a:pt x="3300" y="1000"/>
                  </a:lnTo>
                  <a:lnTo>
                    <a:pt x="3300" y="1100"/>
                  </a:lnTo>
                  <a:lnTo>
                    <a:pt x="3400" y="1100"/>
                  </a:lnTo>
                  <a:lnTo>
                    <a:pt x="3400" y="1200"/>
                  </a:lnTo>
                  <a:lnTo>
                    <a:pt x="3300" y="1200"/>
                  </a:lnTo>
                  <a:lnTo>
                    <a:pt x="3300" y="1300"/>
                  </a:lnTo>
                  <a:lnTo>
                    <a:pt x="3100" y="1300"/>
                  </a:lnTo>
                  <a:lnTo>
                    <a:pt x="3100" y="1400"/>
                  </a:lnTo>
                  <a:lnTo>
                    <a:pt x="2700" y="1400"/>
                  </a:lnTo>
                  <a:lnTo>
                    <a:pt x="2700" y="1500"/>
                  </a:lnTo>
                  <a:lnTo>
                    <a:pt x="2400" y="1500"/>
                  </a:lnTo>
                  <a:lnTo>
                    <a:pt x="2400" y="1600"/>
                  </a:lnTo>
                  <a:lnTo>
                    <a:pt x="2300" y="1600"/>
                  </a:lnTo>
                  <a:lnTo>
                    <a:pt x="2300" y="1700"/>
                  </a:lnTo>
                  <a:lnTo>
                    <a:pt x="2200" y="1700"/>
                  </a:lnTo>
                  <a:lnTo>
                    <a:pt x="2200" y="1800"/>
                  </a:lnTo>
                  <a:lnTo>
                    <a:pt x="2100" y="1800"/>
                  </a:lnTo>
                  <a:lnTo>
                    <a:pt x="2100" y="1900"/>
                  </a:lnTo>
                  <a:lnTo>
                    <a:pt x="2000" y="1900"/>
                  </a:lnTo>
                  <a:lnTo>
                    <a:pt x="2000" y="2000"/>
                  </a:lnTo>
                  <a:lnTo>
                    <a:pt x="1900" y="2000"/>
                  </a:lnTo>
                  <a:lnTo>
                    <a:pt x="1900" y="2100"/>
                  </a:lnTo>
                  <a:lnTo>
                    <a:pt x="1800" y="2100"/>
                  </a:lnTo>
                  <a:lnTo>
                    <a:pt x="1800" y="2200"/>
                  </a:lnTo>
                  <a:lnTo>
                    <a:pt x="1700" y="2200"/>
                  </a:lnTo>
                  <a:lnTo>
                    <a:pt x="1700" y="2300"/>
                  </a:lnTo>
                  <a:lnTo>
                    <a:pt x="1400" y="2300"/>
                  </a:lnTo>
                  <a:lnTo>
                    <a:pt x="1400" y="2000"/>
                  </a:lnTo>
                  <a:lnTo>
                    <a:pt x="1600" y="2000"/>
                  </a:lnTo>
                  <a:lnTo>
                    <a:pt x="1600" y="1900"/>
                  </a:lnTo>
                  <a:lnTo>
                    <a:pt x="1800" y="1900"/>
                  </a:lnTo>
                  <a:lnTo>
                    <a:pt x="1800" y="1800"/>
                  </a:lnTo>
                  <a:lnTo>
                    <a:pt x="1900" y="1800"/>
                  </a:lnTo>
                  <a:lnTo>
                    <a:pt x="1900" y="1700"/>
                  </a:lnTo>
                  <a:lnTo>
                    <a:pt x="1700" y="1700"/>
                  </a:lnTo>
                  <a:lnTo>
                    <a:pt x="1700" y="1800"/>
                  </a:lnTo>
                  <a:lnTo>
                    <a:pt x="1600" y="1800"/>
                  </a:lnTo>
                  <a:lnTo>
                    <a:pt x="1600" y="1900"/>
                  </a:lnTo>
                  <a:lnTo>
                    <a:pt x="1300" y="1900"/>
                  </a:lnTo>
                  <a:lnTo>
                    <a:pt x="1300" y="2000"/>
                  </a:lnTo>
                  <a:lnTo>
                    <a:pt x="1200" y="2000"/>
                  </a:lnTo>
                  <a:lnTo>
                    <a:pt x="1200" y="2100"/>
                  </a:lnTo>
                  <a:lnTo>
                    <a:pt x="1000" y="2100"/>
                  </a:lnTo>
                  <a:lnTo>
                    <a:pt x="1000" y="2200"/>
                  </a:lnTo>
                  <a:lnTo>
                    <a:pt x="800" y="2200"/>
                  </a:lnTo>
                  <a:lnTo>
                    <a:pt x="800" y="2300"/>
                  </a:lnTo>
                  <a:lnTo>
                    <a:pt x="600" y="2300"/>
                  </a:lnTo>
                  <a:lnTo>
                    <a:pt x="600" y="2400"/>
                  </a:lnTo>
                  <a:lnTo>
                    <a:pt x="500" y="2400"/>
                  </a:lnTo>
                  <a:lnTo>
                    <a:pt x="500" y="2500"/>
                  </a:lnTo>
                  <a:lnTo>
                    <a:pt x="300" y="2500"/>
                  </a:lnTo>
                  <a:lnTo>
                    <a:pt x="300" y="2400"/>
                  </a:lnTo>
                  <a:lnTo>
                    <a:pt x="200" y="2400"/>
                  </a:lnTo>
                  <a:lnTo>
                    <a:pt x="200" y="2500"/>
                  </a:lnTo>
                  <a:lnTo>
                    <a:pt x="100" y="2500"/>
                  </a:lnTo>
                  <a:lnTo>
                    <a:pt x="100" y="2400"/>
                  </a:lnTo>
                  <a:lnTo>
                    <a:pt x="0" y="2400"/>
                  </a:lnTo>
                  <a:lnTo>
                    <a:pt x="0" y="2300"/>
                  </a:lnTo>
                  <a:lnTo>
                    <a:pt x="100" y="2300"/>
                  </a:lnTo>
                  <a:lnTo>
                    <a:pt x="100" y="2100"/>
                  </a:lnTo>
                  <a:lnTo>
                    <a:pt x="200" y="2100"/>
                  </a:lnTo>
                  <a:lnTo>
                    <a:pt x="200" y="2000"/>
                  </a:lnTo>
                  <a:lnTo>
                    <a:pt x="300" y="2000"/>
                  </a:lnTo>
                  <a:lnTo>
                    <a:pt x="300" y="1900"/>
                  </a:lnTo>
                  <a:lnTo>
                    <a:pt x="0" y="1900"/>
                  </a:lnTo>
                  <a:lnTo>
                    <a:pt x="0" y="1700"/>
                  </a:lnTo>
                  <a:lnTo>
                    <a:pt x="100" y="1700"/>
                  </a:lnTo>
                  <a:lnTo>
                    <a:pt x="100" y="1600"/>
                  </a:lnTo>
                  <a:lnTo>
                    <a:pt x="200" y="1600"/>
                  </a:lnTo>
                  <a:lnTo>
                    <a:pt x="200" y="1500"/>
                  </a:lnTo>
                  <a:lnTo>
                    <a:pt x="300" y="1500"/>
                  </a:lnTo>
                  <a:lnTo>
                    <a:pt x="300" y="1400"/>
                  </a:lnTo>
                  <a:lnTo>
                    <a:pt x="400" y="1400"/>
                  </a:lnTo>
                  <a:lnTo>
                    <a:pt x="400" y="1300"/>
                  </a:lnTo>
                  <a:lnTo>
                    <a:pt x="500" y="1300"/>
                  </a:lnTo>
                  <a:lnTo>
                    <a:pt x="500" y="1200"/>
                  </a:lnTo>
                  <a:lnTo>
                    <a:pt x="200" y="1200"/>
                  </a:lnTo>
                  <a:lnTo>
                    <a:pt x="200" y="1000"/>
                  </a:lnTo>
                  <a:lnTo>
                    <a:pt x="300" y="1000"/>
                  </a:lnTo>
                  <a:lnTo>
                    <a:pt x="300" y="900"/>
                  </a:lnTo>
                  <a:lnTo>
                    <a:pt x="500" y="900"/>
                  </a:lnTo>
                  <a:lnTo>
                    <a:pt x="500" y="800"/>
                  </a:lnTo>
                  <a:lnTo>
                    <a:pt x="700" y="800"/>
                  </a:lnTo>
                  <a:lnTo>
                    <a:pt x="700" y="700"/>
                  </a:lnTo>
                  <a:lnTo>
                    <a:pt x="1000" y="700"/>
                  </a:lnTo>
                  <a:lnTo>
                    <a:pt x="1000" y="600"/>
                  </a:lnTo>
                  <a:lnTo>
                    <a:pt x="1100" y="600"/>
                  </a:lnTo>
                  <a:lnTo>
                    <a:pt x="1100" y="500"/>
                  </a:lnTo>
                  <a:lnTo>
                    <a:pt x="1300" y="500"/>
                  </a:lnTo>
                  <a:lnTo>
                    <a:pt x="1300" y="400"/>
                  </a:lnTo>
                  <a:lnTo>
                    <a:pt x="1400" y="400"/>
                  </a:lnTo>
                  <a:lnTo>
                    <a:pt x="1400" y="300"/>
                  </a:lnTo>
                  <a:lnTo>
                    <a:pt x="1500" y="300"/>
                  </a:lnTo>
                  <a:lnTo>
                    <a:pt x="1500" y="200"/>
                  </a:lnTo>
                  <a:lnTo>
                    <a:pt x="1700" y="200"/>
                  </a:lnTo>
                  <a:lnTo>
                    <a:pt x="1700" y="100"/>
                  </a:lnTo>
                  <a:lnTo>
                    <a:pt x="1900" y="100"/>
                  </a:lnTo>
                  <a:lnTo>
                    <a:pt x="1900" y="200"/>
                  </a:lnTo>
                  <a:lnTo>
                    <a:pt x="2200" y="200"/>
                  </a:lnTo>
                  <a:lnTo>
                    <a:pt x="2200" y="100"/>
                  </a:lnTo>
                  <a:lnTo>
                    <a:pt x="2600" y="100"/>
                  </a:lnTo>
                  <a:lnTo>
                    <a:pt x="2600" y="0"/>
                  </a:lnTo>
                  <a:close/>
                  <a:moveTo>
                    <a:pt x="1600" y="300"/>
                  </a:moveTo>
                  <a:lnTo>
                    <a:pt x="1600" y="400"/>
                  </a:lnTo>
                  <a:lnTo>
                    <a:pt x="1500" y="400"/>
                  </a:lnTo>
                  <a:lnTo>
                    <a:pt x="1500" y="500"/>
                  </a:lnTo>
                  <a:lnTo>
                    <a:pt x="1800" y="500"/>
                  </a:lnTo>
                  <a:lnTo>
                    <a:pt x="1800" y="400"/>
                  </a:lnTo>
                  <a:lnTo>
                    <a:pt x="2000" y="400"/>
                  </a:lnTo>
                  <a:lnTo>
                    <a:pt x="2000" y="300"/>
                  </a:lnTo>
                  <a:lnTo>
                    <a:pt x="1600" y="300"/>
                  </a:lnTo>
                  <a:close/>
                  <a:moveTo>
                    <a:pt x="1500" y="500"/>
                  </a:moveTo>
                  <a:lnTo>
                    <a:pt x="1400" y="500"/>
                  </a:lnTo>
                  <a:lnTo>
                    <a:pt x="1400" y="600"/>
                  </a:lnTo>
                  <a:lnTo>
                    <a:pt x="1500" y="600"/>
                  </a:lnTo>
                  <a:lnTo>
                    <a:pt x="1500" y="500"/>
                  </a:lnTo>
                  <a:close/>
                  <a:moveTo>
                    <a:pt x="2900" y="1000"/>
                  </a:moveTo>
                  <a:lnTo>
                    <a:pt x="2900" y="1100"/>
                  </a:lnTo>
                  <a:lnTo>
                    <a:pt x="3100" y="1100"/>
                  </a:lnTo>
                  <a:lnTo>
                    <a:pt x="3100" y="1000"/>
                  </a:lnTo>
                  <a:lnTo>
                    <a:pt x="2900" y="1000"/>
                  </a:lnTo>
                  <a:close/>
                </a:path>
              </a:pathLst>
            </a:custGeom>
            <a:solidFill>
              <a:srgbClr val="69C6CC"/>
            </a:solidFill>
            <a:ln w="9525" cap="rnd">
              <a:noFill/>
              <a:round/>
            </a:ln>
          </p:spPr>
        </p:sp>
      </p:grpSp>
      <p:grpSp>
        <p:nvGrpSpPr>
          <p:cNvPr id="314" name="refined-mask-stack"/>
          <p:cNvGrpSpPr/>
          <p:nvPr/>
        </p:nvGrpSpPr>
        <p:grpSpPr>
          <a:xfrm>
            <a:off x="7858125" y="3162300"/>
            <a:ext cx="619125" cy="657225"/>
            <a:chOff x="7858125" y="3162300"/>
            <a:chExt cx="619125" cy="657225"/>
          </a:xfrm>
        </p:grpSpPr>
        <p:sp>
          <p:nvSpPr>
            <p:cNvPr id="315" name="refined-card-0"/>
            <p:cNvSpPr/>
            <p:nvPr/>
          </p:nvSpPr>
          <p:spPr>
            <a:xfrm>
              <a:off x="7858125" y="3162300"/>
              <a:ext cx="561975" cy="581025"/>
            </a:xfrm>
            <a:prstGeom prst="rect">
              <a:avLst/>
            </a:prstGeom>
            <a:solidFill>
              <a:srgbClr val="000604"/>
            </a:solidFill>
            <a:ln w="6668" cap="flat">
              <a:solidFill>
                <a:srgbClr val="D3AB62"/>
              </a:solidFill>
              <a:miter/>
            </a:ln>
          </p:spPr>
        </p:sp>
        <p:sp>
          <p:nvSpPr>
            <p:cNvPr id="316" name="refined-card-1"/>
            <p:cNvSpPr/>
            <p:nvPr/>
          </p:nvSpPr>
          <p:spPr>
            <a:xfrm>
              <a:off x="7886700" y="3200400"/>
              <a:ext cx="561975" cy="581025"/>
            </a:xfrm>
            <a:prstGeom prst="rect">
              <a:avLst/>
            </a:prstGeom>
            <a:solidFill>
              <a:srgbClr val="000604"/>
            </a:solidFill>
            <a:ln w="6668" cap="flat">
              <a:solidFill>
                <a:srgbClr val="B1D5C8"/>
              </a:solidFill>
              <a:miter/>
            </a:ln>
          </p:spPr>
        </p:sp>
        <p:sp>
          <p:nvSpPr>
            <p:cNvPr id="317" name="refined-card-2"/>
            <p:cNvSpPr/>
            <p:nvPr/>
          </p:nvSpPr>
          <p:spPr>
            <a:xfrm>
              <a:off x="7924800" y="3238500"/>
              <a:ext cx="552450" cy="581025"/>
            </a:xfrm>
            <a:prstGeom prst="rect">
              <a:avLst/>
            </a:prstGeom>
            <a:solidFill>
              <a:srgbClr val="000604"/>
            </a:solidFill>
            <a:ln w="6668" cap="flat">
              <a:solidFill>
                <a:srgbClr val="72ADB1"/>
              </a:solidFill>
              <a:miter/>
            </a:ln>
          </p:spPr>
        </p:sp>
        <p:sp>
          <p:nvSpPr>
            <p:cNvPr id="318" name="refined-yellow-mask"/>
            <p:cNvSpPr/>
            <p:nvPr/>
          </p:nvSpPr>
          <p:spPr>
            <a:xfrm>
              <a:off x="7972425" y="3305175"/>
              <a:ext cx="257175" cy="200025"/>
            </a:xfrm>
            <a:custGeom>
              <a:avLst/>
              <a:gdLst/>
              <a:ahLst/>
              <a:cxnLst/>
              <a:rect l="0" t="0" r="r" b="b"/>
              <a:pathLst>
                <a:path w="2700" h="2100" fill="norm" stroke="0" extrusionOk="0">
                  <a:moveTo>
                    <a:pt x="1900" y="0"/>
                  </a:moveTo>
                  <a:lnTo>
                    <a:pt x="2300" y="0"/>
                  </a:lnTo>
                  <a:lnTo>
                    <a:pt x="2300" y="200"/>
                  </a:lnTo>
                  <a:lnTo>
                    <a:pt x="2400" y="200"/>
                  </a:lnTo>
                  <a:lnTo>
                    <a:pt x="2400" y="100"/>
                  </a:lnTo>
                  <a:lnTo>
                    <a:pt x="2500" y="100"/>
                  </a:lnTo>
                  <a:lnTo>
                    <a:pt x="2500" y="200"/>
                  </a:lnTo>
                  <a:lnTo>
                    <a:pt x="2600" y="200"/>
                  </a:lnTo>
                  <a:lnTo>
                    <a:pt x="2600" y="300"/>
                  </a:lnTo>
                  <a:lnTo>
                    <a:pt x="2500" y="300"/>
                  </a:lnTo>
                  <a:lnTo>
                    <a:pt x="2500" y="400"/>
                  </a:lnTo>
                  <a:lnTo>
                    <a:pt x="2600" y="400"/>
                  </a:lnTo>
                  <a:lnTo>
                    <a:pt x="2600" y="600"/>
                  </a:lnTo>
                  <a:lnTo>
                    <a:pt x="2500" y="600"/>
                  </a:lnTo>
                  <a:lnTo>
                    <a:pt x="2500" y="800"/>
                  </a:lnTo>
                  <a:lnTo>
                    <a:pt x="2700" y="800"/>
                  </a:lnTo>
                  <a:lnTo>
                    <a:pt x="2700" y="1200"/>
                  </a:lnTo>
                  <a:lnTo>
                    <a:pt x="2600" y="1200"/>
                  </a:lnTo>
                  <a:lnTo>
                    <a:pt x="2600" y="1300"/>
                  </a:lnTo>
                  <a:lnTo>
                    <a:pt x="2700" y="1300"/>
                  </a:lnTo>
                  <a:lnTo>
                    <a:pt x="2700" y="1400"/>
                  </a:lnTo>
                  <a:lnTo>
                    <a:pt x="2600" y="1400"/>
                  </a:lnTo>
                  <a:lnTo>
                    <a:pt x="2600" y="1600"/>
                  </a:lnTo>
                  <a:lnTo>
                    <a:pt x="2400" y="1600"/>
                  </a:lnTo>
                  <a:lnTo>
                    <a:pt x="2400" y="1400"/>
                  </a:lnTo>
                  <a:lnTo>
                    <a:pt x="2600" y="1400"/>
                  </a:lnTo>
                  <a:lnTo>
                    <a:pt x="2600" y="1300"/>
                  </a:lnTo>
                  <a:lnTo>
                    <a:pt x="2400" y="1300"/>
                  </a:lnTo>
                  <a:lnTo>
                    <a:pt x="2400" y="1400"/>
                  </a:lnTo>
                  <a:lnTo>
                    <a:pt x="2300" y="1400"/>
                  </a:lnTo>
                  <a:lnTo>
                    <a:pt x="2300" y="1500"/>
                  </a:lnTo>
                  <a:lnTo>
                    <a:pt x="2100" y="1500"/>
                  </a:lnTo>
                  <a:lnTo>
                    <a:pt x="2100" y="1600"/>
                  </a:lnTo>
                  <a:lnTo>
                    <a:pt x="1600" y="1600"/>
                  </a:lnTo>
                  <a:lnTo>
                    <a:pt x="1600" y="1700"/>
                  </a:lnTo>
                  <a:lnTo>
                    <a:pt x="1400" y="1700"/>
                  </a:lnTo>
                  <a:lnTo>
                    <a:pt x="1400" y="1800"/>
                  </a:lnTo>
                  <a:lnTo>
                    <a:pt x="1300" y="1800"/>
                  </a:lnTo>
                  <a:lnTo>
                    <a:pt x="1300" y="1900"/>
                  </a:lnTo>
                  <a:lnTo>
                    <a:pt x="1100" y="1900"/>
                  </a:lnTo>
                  <a:lnTo>
                    <a:pt x="1100" y="2000"/>
                  </a:lnTo>
                  <a:lnTo>
                    <a:pt x="900" y="2000"/>
                  </a:lnTo>
                  <a:lnTo>
                    <a:pt x="900" y="1900"/>
                  </a:lnTo>
                  <a:lnTo>
                    <a:pt x="1000" y="1900"/>
                  </a:lnTo>
                  <a:lnTo>
                    <a:pt x="1000" y="1800"/>
                  </a:lnTo>
                  <a:lnTo>
                    <a:pt x="800" y="1800"/>
                  </a:lnTo>
                  <a:lnTo>
                    <a:pt x="800" y="1900"/>
                  </a:lnTo>
                  <a:lnTo>
                    <a:pt x="700" y="1900"/>
                  </a:lnTo>
                  <a:lnTo>
                    <a:pt x="700" y="2000"/>
                  </a:lnTo>
                  <a:lnTo>
                    <a:pt x="500" y="2000"/>
                  </a:lnTo>
                  <a:lnTo>
                    <a:pt x="500" y="2100"/>
                  </a:lnTo>
                  <a:lnTo>
                    <a:pt x="400" y="2100"/>
                  </a:lnTo>
                  <a:lnTo>
                    <a:pt x="400" y="2000"/>
                  </a:lnTo>
                  <a:lnTo>
                    <a:pt x="300" y="2000"/>
                  </a:lnTo>
                  <a:lnTo>
                    <a:pt x="300" y="1900"/>
                  </a:lnTo>
                  <a:lnTo>
                    <a:pt x="100" y="1900"/>
                  </a:lnTo>
                  <a:lnTo>
                    <a:pt x="100" y="1800"/>
                  </a:lnTo>
                  <a:lnTo>
                    <a:pt x="0" y="1800"/>
                  </a:lnTo>
                  <a:lnTo>
                    <a:pt x="0" y="1600"/>
                  </a:lnTo>
                  <a:lnTo>
                    <a:pt x="100" y="1600"/>
                  </a:lnTo>
                  <a:lnTo>
                    <a:pt x="100" y="1500"/>
                  </a:lnTo>
                  <a:lnTo>
                    <a:pt x="200" y="1500"/>
                  </a:lnTo>
                  <a:lnTo>
                    <a:pt x="200" y="1300"/>
                  </a:lnTo>
                  <a:lnTo>
                    <a:pt x="300" y="1300"/>
                  </a:lnTo>
                  <a:lnTo>
                    <a:pt x="300" y="1200"/>
                  </a:lnTo>
                  <a:lnTo>
                    <a:pt x="200" y="1200"/>
                  </a:lnTo>
                  <a:lnTo>
                    <a:pt x="200" y="1000"/>
                  </a:lnTo>
                  <a:lnTo>
                    <a:pt x="300" y="1000"/>
                  </a:lnTo>
                  <a:lnTo>
                    <a:pt x="300" y="800"/>
                  </a:lnTo>
                  <a:lnTo>
                    <a:pt x="500" y="800"/>
                  </a:lnTo>
                  <a:lnTo>
                    <a:pt x="500" y="900"/>
                  </a:lnTo>
                  <a:lnTo>
                    <a:pt x="600" y="900"/>
                  </a:lnTo>
                  <a:lnTo>
                    <a:pt x="600" y="800"/>
                  </a:lnTo>
                  <a:lnTo>
                    <a:pt x="700" y="800"/>
                  </a:lnTo>
                  <a:lnTo>
                    <a:pt x="700" y="700"/>
                  </a:lnTo>
                  <a:lnTo>
                    <a:pt x="600" y="700"/>
                  </a:lnTo>
                  <a:lnTo>
                    <a:pt x="600" y="800"/>
                  </a:lnTo>
                  <a:lnTo>
                    <a:pt x="500" y="800"/>
                  </a:lnTo>
                  <a:lnTo>
                    <a:pt x="500" y="700"/>
                  </a:lnTo>
                  <a:lnTo>
                    <a:pt x="600" y="700"/>
                  </a:lnTo>
                  <a:lnTo>
                    <a:pt x="600" y="600"/>
                  </a:lnTo>
                  <a:lnTo>
                    <a:pt x="700" y="600"/>
                  </a:lnTo>
                  <a:lnTo>
                    <a:pt x="700" y="500"/>
                  </a:lnTo>
                  <a:lnTo>
                    <a:pt x="900" y="500"/>
                  </a:lnTo>
                  <a:lnTo>
                    <a:pt x="900" y="600"/>
                  </a:lnTo>
                  <a:lnTo>
                    <a:pt x="1000" y="600"/>
                  </a:lnTo>
                  <a:lnTo>
                    <a:pt x="1000" y="400"/>
                  </a:lnTo>
                  <a:lnTo>
                    <a:pt x="1100" y="400"/>
                  </a:lnTo>
                  <a:lnTo>
                    <a:pt x="1100" y="300"/>
                  </a:lnTo>
                  <a:lnTo>
                    <a:pt x="1200" y="300"/>
                  </a:lnTo>
                  <a:lnTo>
                    <a:pt x="1200" y="200"/>
                  </a:lnTo>
                  <a:lnTo>
                    <a:pt x="1400" y="200"/>
                  </a:lnTo>
                  <a:lnTo>
                    <a:pt x="1400" y="100"/>
                  </a:lnTo>
                  <a:lnTo>
                    <a:pt x="1900" y="100"/>
                  </a:lnTo>
                  <a:lnTo>
                    <a:pt x="1900" y="0"/>
                  </a:lnTo>
                  <a:close/>
                  <a:moveTo>
                    <a:pt x="500" y="900"/>
                  </a:moveTo>
                  <a:lnTo>
                    <a:pt x="400" y="900"/>
                  </a:lnTo>
                  <a:lnTo>
                    <a:pt x="400" y="1000"/>
                  </a:lnTo>
                  <a:lnTo>
                    <a:pt x="500" y="1000"/>
                  </a:lnTo>
                  <a:lnTo>
                    <a:pt x="500" y="900"/>
                  </a:lnTo>
                  <a:close/>
                  <a:moveTo>
                    <a:pt x="2500" y="1100"/>
                  </a:moveTo>
                  <a:lnTo>
                    <a:pt x="2400" y="1100"/>
                  </a:lnTo>
                  <a:lnTo>
                    <a:pt x="2400" y="1200"/>
                  </a:lnTo>
                  <a:lnTo>
                    <a:pt x="2500" y="1200"/>
                  </a:lnTo>
                  <a:lnTo>
                    <a:pt x="2500" y="1100"/>
                  </a:lnTo>
                  <a:close/>
                </a:path>
              </a:pathLst>
            </a:custGeom>
            <a:solidFill>
              <a:srgbClr val="CDA04C"/>
            </a:solidFill>
            <a:ln w="9525" cap="rnd">
              <a:noFill/>
              <a:round/>
            </a:ln>
          </p:spPr>
        </p:sp>
        <p:sp>
          <p:nvSpPr>
            <p:cNvPr id="319" name="refined-cyan-mask"/>
            <p:cNvSpPr/>
            <p:nvPr/>
          </p:nvSpPr>
          <p:spPr>
            <a:xfrm>
              <a:off x="8162925" y="3524250"/>
              <a:ext cx="257175" cy="200025"/>
            </a:xfrm>
            <a:custGeom>
              <a:avLst/>
              <a:gdLst/>
              <a:ahLst/>
              <a:cxnLst/>
              <a:rect l="0" t="0" r="r" b="b"/>
              <a:pathLst>
                <a:path w="2700" h="2100" fill="norm" stroke="0" extrusionOk="0">
                  <a:moveTo>
                    <a:pt x="2100" y="0"/>
                  </a:moveTo>
                  <a:lnTo>
                    <a:pt x="2200" y="0"/>
                  </a:lnTo>
                  <a:lnTo>
                    <a:pt x="2200" y="100"/>
                  </a:lnTo>
                  <a:lnTo>
                    <a:pt x="2500" y="100"/>
                  </a:lnTo>
                  <a:lnTo>
                    <a:pt x="2500" y="200"/>
                  </a:lnTo>
                  <a:lnTo>
                    <a:pt x="2600" y="200"/>
                  </a:lnTo>
                  <a:lnTo>
                    <a:pt x="2600" y="300"/>
                  </a:lnTo>
                  <a:lnTo>
                    <a:pt x="2500" y="300"/>
                  </a:lnTo>
                  <a:lnTo>
                    <a:pt x="2500" y="500"/>
                  </a:lnTo>
                  <a:lnTo>
                    <a:pt x="2400" y="500"/>
                  </a:lnTo>
                  <a:lnTo>
                    <a:pt x="2400" y="700"/>
                  </a:lnTo>
                  <a:lnTo>
                    <a:pt x="2500" y="700"/>
                  </a:lnTo>
                  <a:lnTo>
                    <a:pt x="2500" y="800"/>
                  </a:lnTo>
                  <a:lnTo>
                    <a:pt x="2600" y="800"/>
                  </a:lnTo>
                  <a:lnTo>
                    <a:pt x="2600" y="900"/>
                  </a:lnTo>
                  <a:lnTo>
                    <a:pt x="2700" y="900"/>
                  </a:lnTo>
                  <a:lnTo>
                    <a:pt x="2700" y="1000"/>
                  </a:lnTo>
                  <a:lnTo>
                    <a:pt x="2600" y="1000"/>
                  </a:lnTo>
                  <a:lnTo>
                    <a:pt x="2600" y="1100"/>
                  </a:lnTo>
                  <a:lnTo>
                    <a:pt x="2400" y="1100"/>
                  </a:lnTo>
                  <a:lnTo>
                    <a:pt x="2400" y="1200"/>
                  </a:lnTo>
                  <a:lnTo>
                    <a:pt x="2000" y="1200"/>
                  </a:lnTo>
                  <a:lnTo>
                    <a:pt x="2000" y="1300"/>
                  </a:lnTo>
                  <a:lnTo>
                    <a:pt x="1800" y="1300"/>
                  </a:lnTo>
                  <a:lnTo>
                    <a:pt x="1800" y="1500"/>
                  </a:lnTo>
                  <a:lnTo>
                    <a:pt x="1700" y="1500"/>
                  </a:lnTo>
                  <a:lnTo>
                    <a:pt x="1700" y="1600"/>
                  </a:lnTo>
                  <a:lnTo>
                    <a:pt x="1600" y="1600"/>
                  </a:lnTo>
                  <a:lnTo>
                    <a:pt x="1600" y="1700"/>
                  </a:lnTo>
                  <a:lnTo>
                    <a:pt x="1400" y="1700"/>
                  </a:lnTo>
                  <a:lnTo>
                    <a:pt x="1400" y="1800"/>
                  </a:lnTo>
                  <a:lnTo>
                    <a:pt x="1100" y="1800"/>
                  </a:lnTo>
                  <a:lnTo>
                    <a:pt x="1100" y="1700"/>
                  </a:lnTo>
                  <a:lnTo>
                    <a:pt x="1300" y="1700"/>
                  </a:lnTo>
                  <a:lnTo>
                    <a:pt x="1300" y="1600"/>
                  </a:lnTo>
                  <a:lnTo>
                    <a:pt x="1400" y="1600"/>
                  </a:lnTo>
                  <a:lnTo>
                    <a:pt x="1400" y="1500"/>
                  </a:lnTo>
                  <a:lnTo>
                    <a:pt x="1500" y="1500"/>
                  </a:lnTo>
                  <a:lnTo>
                    <a:pt x="1500" y="1400"/>
                  </a:lnTo>
                  <a:lnTo>
                    <a:pt x="1400" y="1400"/>
                  </a:lnTo>
                  <a:lnTo>
                    <a:pt x="1400" y="1500"/>
                  </a:lnTo>
                  <a:lnTo>
                    <a:pt x="1200" y="1500"/>
                  </a:lnTo>
                  <a:lnTo>
                    <a:pt x="1200" y="1600"/>
                  </a:lnTo>
                  <a:lnTo>
                    <a:pt x="1100" y="1600"/>
                  </a:lnTo>
                  <a:lnTo>
                    <a:pt x="1100" y="1700"/>
                  </a:lnTo>
                  <a:lnTo>
                    <a:pt x="900" y="1700"/>
                  </a:lnTo>
                  <a:lnTo>
                    <a:pt x="900" y="1600"/>
                  </a:lnTo>
                  <a:lnTo>
                    <a:pt x="1000" y="1600"/>
                  </a:lnTo>
                  <a:lnTo>
                    <a:pt x="1000" y="1500"/>
                  </a:lnTo>
                  <a:lnTo>
                    <a:pt x="900" y="1500"/>
                  </a:lnTo>
                  <a:lnTo>
                    <a:pt x="900" y="1600"/>
                  </a:lnTo>
                  <a:lnTo>
                    <a:pt x="700" y="1600"/>
                  </a:lnTo>
                  <a:lnTo>
                    <a:pt x="700" y="1800"/>
                  </a:lnTo>
                  <a:lnTo>
                    <a:pt x="600" y="1800"/>
                  </a:lnTo>
                  <a:lnTo>
                    <a:pt x="600" y="1900"/>
                  </a:lnTo>
                  <a:lnTo>
                    <a:pt x="500" y="1900"/>
                  </a:lnTo>
                  <a:lnTo>
                    <a:pt x="500" y="2000"/>
                  </a:lnTo>
                  <a:lnTo>
                    <a:pt x="300" y="2000"/>
                  </a:lnTo>
                  <a:lnTo>
                    <a:pt x="300" y="2100"/>
                  </a:lnTo>
                  <a:lnTo>
                    <a:pt x="100" y="2100"/>
                  </a:lnTo>
                  <a:lnTo>
                    <a:pt x="100" y="1800"/>
                  </a:lnTo>
                  <a:lnTo>
                    <a:pt x="200" y="1800"/>
                  </a:lnTo>
                  <a:lnTo>
                    <a:pt x="200" y="1700"/>
                  </a:lnTo>
                  <a:lnTo>
                    <a:pt x="300" y="1700"/>
                  </a:lnTo>
                  <a:lnTo>
                    <a:pt x="300" y="1600"/>
                  </a:lnTo>
                  <a:lnTo>
                    <a:pt x="100" y="1600"/>
                  </a:lnTo>
                  <a:lnTo>
                    <a:pt x="100" y="1500"/>
                  </a:lnTo>
                  <a:lnTo>
                    <a:pt x="0" y="1500"/>
                  </a:lnTo>
                  <a:lnTo>
                    <a:pt x="0" y="1400"/>
                  </a:lnTo>
                  <a:lnTo>
                    <a:pt x="100" y="1400"/>
                  </a:lnTo>
                  <a:lnTo>
                    <a:pt x="100" y="1300"/>
                  </a:lnTo>
                  <a:lnTo>
                    <a:pt x="200" y="1300"/>
                  </a:lnTo>
                  <a:lnTo>
                    <a:pt x="200" y="1200"/>
                  </a:lnTo>
                  <a:lnTo>
                    <a:pt x="300" y="1200"/>
                  </a:lnTo>
                  <a:lnTo>
                    <a:pt x="300" y="1000"/>
                  </a:lnTo>
                  <a:lnTo>
                    <a:pt x="100" y="1000"/>
                  </a:lnTo>
                  <a:lnTo>
                    <a:pt x="100" y="900"/>
                  </a:lnTo>
                  <a:lnTo>
                    <a:pt x="200" y="900"/>
                  </a:lnTo>
                  <a:lnTo>
                    <a:pt x="200" y="800"/>
                  </a:lnTo>
                  <a:lnTo>
                    <a:pt x="300" y="800"/>
                  </a:lnTo>
                  <a:lnTo>
                    <a:pt x="300" y="700"/>
                  </a:lnTo>
                  <a:lnTo>
                    <a:pt x="600" y="700"/>
                  </a:lnTo>
                  <a:lnTo>
                    <a:pt x="600" y="600"/>
                  </a:lnTo>
                  <a:lnTo>
                    <a:pt x="800" y="600"/>
                  </a:lnTo>
                  <a:lnTo>
                    <a:pt x="800" y="500"/>
                  </a:lnTo>
                  <a:lnTo>
                    <a:pt x="900" y="500"/>
                  </a:lnTo>
                  <a:lnTo>
                    <a:pt x="900" y="400"/>
                  </a:lnTo>
                  <a:lnTo>
                    <a:pt x="1000" y="400"/>
                  </a:lnTo>
                  <a:lnTo>
                    <a:pt x="1000" y="300"/>
                  </a:lnTo>
                  <a:lnTo>
                    <a:pt x="1100" y="300"/>
                  </a:lnTo>
                  <a:lnTo>
                    <a:pt x="1100" y="200"/>
                  </a:lnTo>
                  <a:lnTo>
                    <a:pt x="1200" y="200"/>
                  </a:lnTo>
                  <a:lnTo>
                    <a:pt x="1200" y="400"/>
                  </a:lnTo>
                  <a:lnTo>
                    <a:pt x="1100" y="400"/>
                  </a:lnTo>
                  <a:lnTo>
                    <a:pt x="1100" y="500"/>
                  </a:lnTo>
                  <a:lnTo>
                    <a:pt x="1300" y="500"/>
                  </a:lnTo>
                  <a:lnTo>
                    <a:pt x="1300" y="400"/>
                  </a:lnTo>
                  <a:lnTo>
                    <a:pt x="1500" y="400"/>
                  </a:lnTo>
                  <a:lnTo>
                    <a:pt x="1500" y="300"/>
                  </a:lnTo>
                  <a:lnTo>
                    <a:pt x="1700" y="300"/>
                  </a:lnTo>
                  <a:lnTo>
                    <a:pt x="1700" y="200"/>
                  </a:lnTo>
                  <a:lnTo>
                    <a:pt x="1800" y="200"/>
                  </a:lnTo>
                  <a:lnTo>
                    <a:pt x="1800" y="100"/>
                  </a:lnTo>
                  <a:lnTo>
                    <a:pt x="2000" y="100"/>
                  </a:lnTo>
                  <a:lnTo>
                    <a:pt x="2000" y="200"/>
                  </a:lnTo>
                  <a:lnTo>
                    <a:pt x="2100" y="200"/>
                  </a:lnTo>
                  <a:lnTo>
                    <a:pt x="2100" y="0"/>
                  </a:lnTo>
                  <a:close/>
                  <a:moveTo>
                    <a:pt x="2500" y="0"/>
                  </a:moveTo>
                  <a:lnTo>
                    <a:pt x="2600" y="0"/>
                  </a:lnTo>
                  <a:lnTo>
                    <a:pt x="2600" y="100"/>
                  </a:lnTo>
                  <a:lnTo>
                    <a:pt x="2500" y="100"/>
                  </a:lnTo>
                  <a:lnTo>
                    <a:pt x="2500" y="0"/>
                  </a:lnTo>
                  <a:close/>
                  <a:moveTo>
                    <a:pt x="2000" y="200"/>
                  </a:moveTo>
                  <a:lnTo>
                    <a:pt x="1900" y="200"/>
                  </a:lnTo>
                  <a:lnTo>
                    <a:pt x="1900" y="300"/>
                  </a:lnTo>
                  <a:lnTo>
                    <a:pt x="2000" y="300"/>
                  </a:lnTo>
                  <a:lnTo>
                    <a:pt x="2000" y="200"/>
                  </a:lnTo>
                  <a:close/>
                  <a:moveTo>
                    <a:pt x="1300" y="200"/>
                  </a:moveTo>
                  <a:lnTo>
                    <a:pt x="1400" y="200"/>
                  </a:lnTo>
                  <a:lnTo>
                    <a:pt x="1400" y="300"/>
                  </a:lnTo>
                  <a:lnTo>
                    <a:pt x="1300" y="300"/>
                  </a:lnTo>
                  <a:lnTo>
                    <a:pt x="1300" y="200"/>
                  </a:lnTo>
                  <a:close/>
                  <a:moveTo>
                    <a:pt x="2000" y="400"/>
                  </a:moveTo>
                  <a:lnTo>
                    <a:pt x="1900" y="400"/>
                  </a:lnTo>
                  <a:lnTo>
                    <a:pt x="1900" y="500"/>
                  </a:lnTo>
                  <a:lnTo>
                    <a:pt x="2000" y="500"/>
                  </a:lnTo>
                  <a:lnTo>
                    <a:pt x="2000" y="400"/>
                  </a:lnTo>
                  <a:close/>
                  <a:moveTo>
                    <a:pt x="2500" y="800"/>
                  </a:moveTo>
                  <a:lnTo>
                    <a:pt x="2400" y="800"/>
                  </a:lnTo>
                  <a:lnTo>
                    <a:pt x="2400" y="900"/>
                  </a:lnTo>
                  <a:lnTo>
                    <a:pt x="2500" y="900"/>
                  </a:lnTo>
                  <a:lnTo>
                    <a:pt x="2500" y="800"/>
                  </a:lnTo>
                  <a:close/>
                  <a:moveTo>
                    <a:pt x="2400" y="900"/>
                  </a:moveTo>
                  <a:lnTo>
                    <a:pt x="2300" y="900"/>
                  </a:lnTo>
                  <a:lnTo>
                    <a:pt x="2300" y="1000"/>
                  </a:lnTo>
                  <a:lnTo>
                    <a:pt x="2400" y="1000"/>
                  </a:lnTo>
                  <a:lnTo>
                    <a:pt x="2400" y="900"/>
                  </a:lnTo>
                  <a:close/>
                  <a:moveTo>
                    <a:pt x="300" y="1900"/>
                  </a:moveTo>
                  <a:lnTo>
                    <a:pt x="200" y="1900"/>
                  </a:lnTo>
                  <a:lnTo>
                    <a:pt x="200" y="2000"/>
                  </a:lnTo>
                  <a:lnTo>
                    <a:pt x="300" y="2000"/>
                  </a:lnTo>
                  <a:lnTo>
                    <a:pt x="300" y="1900"/>
                  </a:lnTo>
                  <a:close/>
                </a:path>
              </a:pathLst>
            </a:custGeom>
            <a:solidFill>
              <a:srgbClr val="6EC4C8"/>
            </a:solidFill>
            <a:ln w="9525" cap="rnd">
              <a:noFill/>
              <a:round/>
            </a:ln>
          </p:spPr>
        </p:sp>
      </p:grpSp>
      <p:grpSp>
        <p:nvGrpSpPr>
          <p:cNvPr id="320" name="auxiliary-mask"/>
          <p:cNvGrpSpPr/>
          <p:nvPr/>
        </p:nvGrpSpPr>
        <p:grpSpPr>
          <a:xfrm>
            <a:off x="8972550" y="4600575"/>
            <a:ext cx="590550" cy="600075"/>
            <a:chOff x="8972550" y="4600575"/>
            <a:chExt cx="590550" cy="600075"/>
          </a:xfrm>
        </p:grpSpPr>
        <p:sp>
          <p:nvSpPr>
            <p:cNvPr id="321" name="aux-mask-background"/>
            <p:cNvSpPr/>
            <p:nvPr/>
          </p:nvSpPr>
          <p:spPr>
            <a:xfrm>
              <a:off x="8972550" y="4600575"/>
              <a:ext cx="590550" cy="600075"/>
            </a:xfrm>
            <a:prstGeom prst="rect">
              <a:avLst/>
            </a:prstGeom>
            <a:solidFill>
              <a:srgbClr val="000000"/>
            </a:solidFill>
            <a:ln w="9525" cap="flat">
              <a:noFill/>
              <a:miter/>
            </a:ln>
          </p:spPr>
        </p:sp>
        <p:sp>
          <p:nvSpPr>
            <p:cNvPr id="322" name="fused-white-mask"/>
            <p:cNvSpPr/>
            <p:nvPr/>
          </p:nvSpPr>
          <p:spPr>
            <a:xfrm>
              <a:off x="9020175" y="4648200"/>
              <a:ext cx="476250" cy="457200"/>
            </a:xfrm>
            <a:custGeom>
              <a:avLst/>
              <a:gdLst/>
              <a:ahLst/>
              <a:cxnLst/>
              <a:rect l="0" t="0" r="r" b="b"/>
              <a:pathLst>
                <a:path w="5000" h="4800" fill="norm" stroke="0" extrusionOk="0">
                  <a:moveTo>
                    <a:pt x="2600" y="0"/>
                  </a:moveTo>
                  <a:lnTo>
                    <a:pt x="3100" y="0"/>
                  </a:lnTo>
                  <a:lnTo>
                    <a:pt x="3100" y="200"/>
                  </a:lnTo>
                  <a:lnTo>
                    <a:pt x="3000" y="200"/>
                  </a:lnTo>
                  <a:lnTo>
                    <a:pt x="3000" y="300"/>
                  </a:lnTo>
                  <a:lnTo>
                    <a:pt x="2900" y="300"/>
                  </a:lnTo>
                  <a:lnTo>
                    <a:pt x="2900" y="500"/>
                  </a:lnTo>
                  <a:lnTo>
                    <a:pt x="2800" y="500"/>
                  </a:lnTo>
                  <a:lnTo>
                    <a:pt x="2800" y="600"/>
                  </a:lnTo>
                  <a:lnTo>
                    <a:pt x="2700" y="600"/>
                  </a:lnTo>
                  <a:lnTo>
                    <a:pt x="2700" y="800"/>
                  </a:lnTo>
                  <a:lnTo>
                    <a:pt x="2800" y="800"/>
                  </a:lnTo>
                  <a:lnTo>
                    <a:pt x="2800" y="1000"/>
                  </a:lnTo>
                  <a:lnTo>
                    <a:pt x="2900" y="1000"/>
                  </a:lnTo>
                  <a:lnTo>
                    <a:pt x="2900" y="1100"/>
                  </a:lnTo>
                  <a:lnTo>
                    <a:pt x="3000" y="1100"/>
                  </a:lnTo>
                  <a:lnTo>
                    <a:pt x="3000" y="1300"/>
                  </a:lnTo>
                  <a:lnTo>
                    <a:pt x="2900" y="1300"/>
                  </a:lnTo>
                  <a:lnTo>
                    <a:pt x="2900" y="1600"/>
                  </a:lnTo>
                  <a:lnTo>
                    <a:pt x="2700" y="1600"/>
                  </a:lnTo>
                  <a:lnTo>
                    <a:pt x="2700" y="1700"/>
                  </a:lnTo>
                  <a:lnTo>
                    <a:pt x="2900" y="1700"/>
                  </a:lnTo>
                  <a:lnTo>
                    <a:pt x="2900" y="1800"/>
                  </a:lnTo>
                  <a:lnTo>
                    <a:pt x="3000" y="1800"/>
                  </a:lnTo>
                  <a:lnTo>
                    <a:pt x="3000" y="2000"/>
                  </a:lnTo>
                  <a:lnTo>
                    <a:pt x="2900" y="2000"/>
                  </a:lnTo>
                  <a:lnTo>
                    <a:pt x="2900" y="1900"/>
                  </a:lnTo>
                  <a:lnTo>
                    <a:pt x="1700" y="1900"/>
                  </a:lnTo>
                  <a:lnTo>
                    <a:pt x="1700" y="2000"/>
                  </a:lnTo>
                  <a:lnTo>
                    <a:pt x="1500" y="2000"/>
                  </a:lnTo>
                  <a:lnTo>
                    <a:pt x="1500" y="2200"/>
                  </a:lnTo>
                  <a:lnTo>
                    <a:pt x="1300" y="2200"/>
                  </a:lnTo>
                  <a:lnTo>
                    <a:pt x="1300" y="2300"/>
                  </a:lnTo>
                  <a:lnTo>
                    <a:pt x="1200" y="2300"/>
                  </a:lnTo>
                  <a:lnTo>
                    <a:pt x="1200" y="2400"/>
                  </a:lnTo>
                  <a:lnTo>
                    <a:pt x="1100" y="2400"/>
                  </a:lnTo>
                  <a:lnTo>
                    <a:pt x="1100" y="2500"/>
                  </a:lnTo>
                  <a:lnTo>
                    <a:pt x="900" y="2500"/>
                  </a:lnTo>
                  <a:lnTo>
                    <a:pt x="900" y="2400"/>
                  </a:lnTo>
                  <a:lnTo>
                    <a:pt x="1000" y="2400"/>
                  </a:lnTo>
                  <a:lnTo>
                    <a:pt x="1000" y="2300"/>
                  </a:lnTo>
                  <a:lnTo>
                    <a:pt x="1100" y="2300"/>
                  </a:lnTo>
                  <a:lnTo>
                    <a:pt x="1100" y="2200"/>
                  </a:lnTo>
                  <a:lnTo>
                    <a:pt x="1200" y="2200"/>
                  </a:lnTo>
                  <a:lnTo>
                    <a:pt x="1200" y="2100"/>
                  </a:lnTo>
                  <a:lnTo>
                    <a:pt x="1000" y="2100"/>
                  </a:lnTo>
                  <a:lnTo>
                    <a:pt x="1000" y="2200"/>
                  </a:lnTo>
                  <a:lnTo>
                    <a:pt x="800" y="2200"/>
                  </a:lnTo>
                  <a:lnTo>
                    <a:pt x="800" y="2300"/>
                  </a:lnTo>
                  <a:lnTo>
                    <a:pt x="600" y="2300"/>
                  </a:lnTo>
                  <a:lnTo>
                    <a:pt x="600" y="2400"/>
                  </a:lnTo>
                  <a:lnTo>
                    <a:pt x="500" y="2400"/>
                  </a:lnTo>
                  <a:lnTo>
                    <a:pt x="500" y="2500"/>
                  </a:lnTo>
                  <a:lnTo>
                    <a:pt x="300" y="2500"/>
                  </a:lnTo>
                  <a:lnTo>
                    <a:pt x="300" y="2300"/>
                  </a:lnTo>
                  <a:lnTo>
                    <a:pt x="400" y="2300"/>
                  </a:lnTo>
                  <a:lnTo>
                    <a:pt x="400" y="2200"/>
                  </a:lnTo>
                  <a:lnTo>
                    <a:pt x="200" y="2200"/>
                  </a:lnTo>
                  <a:lnTo>
                    <a:pt x="200" y="2300"/>
                  </a:lnTo>
                  <a:lnTo>
                    <a:pt x="0" y="2300"/>
                  </a:lnTo>
                  <a:lnTo>
                    <a:pt x="0" y="2000"/>
                  </a:lnTo>
                  <a:lnTo>
                    <a:pt x="100" y="2000"/>
                  </a:lnTo>
                  <a:lnTo>
                    <a:pt x="100" y="1700"/>
                  </a:lnTo>
                  <a:lnTo>
                    <a:pt x="300" y="1700"/>
                  </a:lnTo>
                  <a:lnTo>
                    <a:pt x="300" y="1500"/>
                  </a:lnTo>
                  <a:lnTo>
                    <a:pt x="200" y="1500"/>
                  </a:lnTo>
                  <a:lnTo>
                    <a:pt x="200" y="1300"/>
                  </a:lnTo>
                  <a:lnTo>
                    <a:pt x="100" y="1300"/>
                  </a:lnTo>
                  <a:lnTo>
                    <a:pt x="100" y="1200"/>
                  </a:lnTo>
                  <a:lnTo>
                    <a:pt x="300" y="1200"/>
                  </a:lnTo>
                  <a:lnTo>
                    <a:pt x="300" y="1100"/>
                  </a:lnTo>
                  <a:lnTo>
                    <a:pt x="400" y="1100"/>
                  </a:lnTo>
                  <a:lnTo>
                    <a:pt x="400" y="1000"/>
                  </a:lnTo>
                  <a:lnTo>
                    <a:pt x="600" y="1000"/>
                  </a:lnTo>
                  <a:lnTo>
                    <a:pt x="600" y="900"/>
                  </a:lnTo>
                  <a:lnTo>
                    <a:pt x="700" y="900"/>
                  </a:lnTo>
                  <a:lnTo>
                    <a:pt x="700" y="800"/>
                  </a:lnTo>
                  <a:lnTo>
                    <a:pt x="900" y="800"/>
                  </a:lnTo>
                  <a:lnTo>
                    <a:pt x="900" y="700"/>
                  </a:lnTo>
                  <a:lnTo>
                    <a:pt x="1100" y="700"/>
                  </a:lnTo>
                  <a:lnTo>
                    <a:pt x="1100" y="600"/>
                  </a:lnTo>
                  <a:lnTo>
                    <a:pt x="1300" y="600"/>
                  </a:lnTo>
                  <a:lnTo>
                    <a:pt x="1300" y="500"/>
                  </a:lnTo>
                  <a:lnTo>
                    <a:pt x="1400" y="500"/>
                  </a:lnTo>
                  <a:lnTo>
                    <a:pt x="1400" y="400"/>
                  </a:lnTo>
                  <a:lnTo>
                    <a:pt x="1700" y="400"/>
                  </a:lnTo>
                  <a:lnTo>
                    <a:pt x="1700" y="300"/>
                  </a:lnTo>
                  <a:lnTo>
                    <a:pt x="2300" y="300"/>
                  </a:lnTo>
                  <a:lnTo>
                    <a:pt x="2300" y="200"/>
                  </a:lnTo>
                  <a:lnTo>
                    <a:pt x="2500" y="200"/>
                  </a:lnTo>
                  <a:lnTo>
                    <a:pt x="2500" y="100"/>
                  </a:lnTo>
                  <a:lnTo>
                    <a:pt x="2600" y="100"/>
                  </a:lnTo>
                  <a:lnTo>
                    <a:pt x="2600" y="0"/>
                  </a:lnTo>
                  <a:close/>
                  <a:moveTo>
                    <a:pt x="2900" y="100"/>
                  </a:moveTo>
                  <a:lnTo>
                    <a:pt x="2800" y="100"/>
                  </a:lnTo>
                  <a:lnTo>
                    <a:pt x="2800" y="200"/>
                  </a:lnTo>
                  <a:lnTo>
                    <a:pt x="2600" y="200"/>
                  </a:lnTo>
                  <a:lnTo>
                    <a:pt x="2600" y="300"/>
                  </a:lnTo>
                  <a:lnTo>
                    <a:pt x="2500" y="300"/>
                  </a:lnTo>
                  <a:lnTo>
                    <a:pt x="2500" y="400"/>
                  </a:lnTo>
                  <a:lnTo>
                    <a:pt x="2800" y="400"/>
                  </a:lnTo>
                  <a:lnTo>
                    <a:pt x="2800" y="300"/>
                  </a:lnTo>
                  <a:lnTo>
                    <a:pt x="2900" y="300"/>
                  </a:lnTo>
                  <a:lnTo>
                    <a:pt x="2900" y="100"/>
                  </a:lnTo>
                  <a:close/>
                  <a:moveTo>
                    <a:pt x="2000" y="400"/>
                  </a:moveTo>
                  <a:lnTo>
                    <a:pt x="1900" y="400"/>
                  </a:lnTo>
                  <a:lnTo>
                    <a:pt x="1900" y="500"/>
                  </a:lnTo>
                  <a:lnTo>
                    <a:pt x="2000" y="500"/>
                  </a:lnTo>
                  <a:lnTo>
                    <a:pt x="2000" y="400"/>
                  </a:lnTo>
                  <a:close/>
                  <a:moveTo>
                    <a:pt x="1800" y="500"/>
                  </a:moveTo>
                  <a:lnTo>
                    <a:pt x="1700" y="500"/>
                  </a:lnTo>
                  <a:lnTo>
                    <a:pt x="1700" y="600"/>
                  </a:lnTo>
                  <a:lnTo>
                    <a:pt x="1800" y="600"/>
                  </a:lnTo>
                  <a:lnTo>
                    <a:pt x="1800" y="500"/>
                  </a:lnTo>
                  <a:close/>
                  <a:moveTo>
                    <a:pt x="1600" y="600"/>
                  </a:moveTo>
                  <a:lnTo>
                    <a:pt x="1500" y="600"/>
                  </a:lnTo>
                  <a:lnTo>
                    <a:pt x="1500" y="700"/>
                  </a:lnTo>
                  <a:lnTo>
                    <a:pt x="1400" y="700"/>
                  </a:lnTo>
                  <a:lnTo>
                    <a:pt x="1400" y="800"/>
                  </a:lnTo>
                  <a:lnTo>
                    <a:pt x="1600" y="800"/>
                  </a:lnTo>
                  <a:lnTo>
                    <a:pt x="1600" y="600"/>
                  </a:lnTo>
                  <a:close/>
                  <a:moveTo>
                    <a:pt x="2400" y="600"/>
                  </a:moveTo>
                  <a:lnTo>
                    <a:pt x="2300" y="600"/>
                  </a:lnTo>
                  <a:lnTo>
                    <a:pt x="2300" y="700"/>
                  </a:lnTo>
                  <a:lnTo>
                    <a:pt x="2400" y="700"/>
                  </a:lnTo>
                  <a:lnTo>
                    <a:pt x="2400" y="600"/>
                  </a:lnTo>
                  <a:close/>
                  <a:moveTo>
                    <a:pt x="1000" y="900"/>
                  </a:moveTo>
                  <a:lnTo>
                    <a:pt x="900" y="900"/>
                  </a:lnTo>
                  <a:lnTo>
                    <a:pt x="900" y="1000"/>
                  </a:lnTo>
                  <a:lnTo>
                    <a:pt x="1000" y="1000"/>
                  </a:lnTo>
                  <a:lnTo>
                    <a:pt x="1000" y="900"/>
                  </a:lnTo>
                  <a:close/>
                  <a:moveTo>
                    <a:pt x="2800" y="1000"/>
                  </a:moveTo>
                  <a:lnTo>
                    <a:pt x="2700" y="1000"/>
                  </a:lnTo>
                  <a:lnTo>
                    <a:pt x="2700" y="1100"/>
                  </a:lnTo>
                  <a:lnTo>
                    <a:pt x="2800" y="1100"/>
                  </a:lnTo>
                  <a:lnTo>
                    <a:pt x="2800" y="1000"/>
                  </a:lnTo>
                  <a:close/>
                  <a:moveTo>
                    <a:pt x="600" y="1100"/>
                  </a:moveTo>
                  <a:lnTo>
                    <a:pt x="500" y="1100"/>
                  </a:lnTo>
                  <a:lnTo>
                    <a:pt x="500" y="1200"/>
                  </a:lnTo>
                  <a:lnTo>
                    <a:pt x="600" y="1200"/>
                  </a:lnTo>
                  <a:lnTo>
                    <a:pt x="600" y="1100"/>
                  </a:lnTo>
                  <a:close/>
                  <a:moveTo>
                    <a:pt x="500" y="1200"/>
                  </a:moveTo>
                  <a:lnTo>
                    <a:pt x="400" y="1200"/>
                  </a:lnTo>
                  <a:lnTo>
                    <a:pt x="400" y="1300"/>
                  </a:lnTo>
                  <a:lnTo>
                    <a:pt x="500" y="1300"/>
                  </a:lnTo>
                  <a:lnTo>
                    <a:pt x="500" y="1200"/>
                  </a:lnTo>
                  <a:close/>
                  <a:moveTo>
                    <a:pt x="2800" y="1400"/>
                  </a:moveTo>
                  <a:lnTo>
                    <a:pt x="2700" y="1400"/>
                  </a:lnTo>
                  <a:lnTo>
                    <a:pt x="2700" y="1500"/>
                  </a:lnTo>
                  <a:lnTo>
                    <a:pt x="2800" y="1500"/>
                  </a:lnTo>
                  <a:lnTo>
                    <a:pt x="2800" y="1400"/>
                  </a:lnTo>
                  <a:close/>
                  <a:moveTo>
                    <a:pt x="2500" y="1500"/>
                  </a:moveTo>
                  <a:lnTo>
                    <a:pt x="2400" y="1500"/>
                  </a:lnTo>
                  <a:lnTo>
                    <a:pt x="2400" y="1600"/>
                  </a:lnTo>
                  <a:lnTo>
                    <a:pt x="2500" y="1600"/>
                  </a:lnTo>
                  <a:lnTo>
                    <a:pt x="2500" y="1500"/>
                  </a:lnTo>
                  <a:close/>
                  <a:moveTo>
                    <a:pt x="4200" y="2700"/>
                  </a:moveTo>
                  <a:lnTo>
                    <a:pt x="4500" y="2700"/>
                  </a:lnTo>
                  <a:lnTo>
                    <a:pt x="4500" y="2800"/>
                  </a:lnTo>
                  <a:lnTo>
                    <a:pt x="4700" y="2800"/>
                  </a:lnTo>
                  <a:lnTo>
                    <a:pt x="4700" y="2700"/>
                  </a:lnTo>
                  <a:lnTo>
                    <a:pt x="5000" y="2700"/>
                  </a:lnTo>
                  <a:lnTo>
                    <a:pt x="5000" y="2800"/>
                  </a:lnTo>
                  <a:lnTo>
                    <a:pt x="4900" y="2800"/>
                  </a:lnTo>
                  <a:lnTo>
                    <a:pt x="4900" y="2900"/>
                  </a:lnTo>
                  <a:lnTo>
                    <a:pt x="4800" y="2900"/>
                  </a:lnTo>
                  <a:lnTo>
                    <a:pt x="4800" y="3100"/>
                  </a:lnTo>
                  <a:lnTo>
                    <a:pt x="4700" y="3100"/>
                  </a:lnTo>
                  <a:lnTo>
                    <a:pt x="4700" y="3300"/>
                  </a:lnTo>
                  <a:lnTo>
                    <a:pt x="4900" y="3300"/>
                  </a:lnTo>
                  <a:lnTo>
                    <a:pt x="4900" y="3500"/>
                  </a:lnTo>
                  <a:lnTo>
                    <a:pt x="4800" y="3500"/>
                  </a:lnTo>
                  <a:lnTo>
                    <a:pt x="4800" y="3600"/>
                  </a:lnTo>
                  <a:lnTo>
                    <a:pt x="5000" y="3600"/>
                  </a:lnTo>
                  <a:lnTo>
                    <a:pt x="5000" y="3700"/>
                  </a:lnTo>
                  <a:lnTo>
                    <a:pt x="4900" y="3700"/>
                  </a:lnTo>
                  <a:lnTo>
                    <a:pt x="4900" y="3800"/>
                  </a:lnTo>
                  <a:lnTo>
                    <a:pt x="4600" y="3800"/>
                  </a:lnTo>
                  <a:lnTo>
                    <a:pt x="4600" y="3900"/>
                  </a:lnTo>
                  <a:lnTo>
                    <a:pt x="4200" y="3900"/>
                  </a:lnTo>
                  <a:lnTo>
                    <a:pt x="4200" y="4000"/>
                  </a:lnTo>
                  <a:lnTo>
                    <a:pt x="4100" y="4000"/>
                  </a:lnTo>
                  <a:lnTo>
                    <a:pt x="4100" y="4100"/>
                  </a:lnTo>
                  <a:lnTo>
                    <a:pt x="4000" y="4100"/>
                  </a:lnTo>
                  <a:lnTo>
                    <a:pt x="4000" y="4200"/>
                  </a:lnTo>
                  <a:lnTo>
                    <a:pt x="3900" y="4200"/>
                  </a:lnTo>
                  <a:lnTo>
                    <a:pt x="3900" y="4300"/>
                  </a:lnTo>
                  <a:lnTo>
                    <a:pt x="3800" y="4300"/>
                  </a:lnTo>
                  <a:lnTo>
                    <a:pt x="3800" y="4400"/>
                  </a:lnTo>
                  <a:lnTo>
                    <a:pt x="3700" y="4400"/>
                  </a:lnTo>
                  <a:lnTo>
                    <a:pt x="3700" y="4500"/>
                  </a:lnTo>
                  <a:lnTo>
                    <a:pt x="3500" y="4500"/>
                  </a:lnTo>
                  <a:lnTo>
                    <a:pt x="3500" y="4600"/>
                  </a:lnTo>
                  <a:lnTo>
                    <a:pt x="3400" y="4600"/>
                  </a:lnTo>
                  <a:lnTo>
                    <a:pt x="3400" y="4700"/>
                  </a:lnTo>
                  <a:lnTo>
                    <a:pt x="3300" y="4700"/>
                  </a:lnTo>
                  <a:lnTo>
                    <a:pt x="3300" y="4500"/>
                  </a:lnTo>
                  <a:lnTo>
                    <a:pt x="3400" y="4500"/>
                  </a:lnTo>
                  <a:lnTo>
                    <a:pt x="3400" y="4400"/>
                  </a:lnTo>
                  <a:lnTo>
                    <a:pt x="3500" y="4400"/>
                  </a:lnTo>
                  <a:lnTo>
                    <a:pt x="3500" y="4300"/>
                  </a:lnTo>
                  <a:lnTo>
                    <a:pt x="3700" y="4300"/>
                  </a:lnTo>
                  <a:lnTo>
                    <a:pt x="3700" y="4200"/>
                  </a:lnTo>
                  <a:lnTo>
                    <a:pt x="3800" y="4200"/>
                  </a:lnTo>
                  <a:lnTo>
                    <a:pt x="3800" y="4000"/>
                  </a:lnTo>
                  <a:lnTo>
                    <a:pt x="3700" y="4000"/>
                  </a:lnTo>
                  <a:lnTo>
                    <a:pt x="3700" y="4100"/>
                  </a:lnTo>
                  <a:lnTo>
                    <a:pt x="3500" y="4100"/>
                  </a:lnTo>
                  <a:lnTo>
                    <a:pt x="3500" y="4200"/>
                  </a:lnTo>
                  <a:lnTo>
                    <a:pt x="3300" y="4200"/>
                  </a:lnTo>
                  <a:lnTo>
                    <a:pt x="3300" y="4300"/>
                  </a:lnTo>
                  <a:lnTo>
                    <a:pt x="3200" y="4300"/>
                  </a:lnTo>
                  <a:lnTo>
                    <a:pt x="3200" y="4400"/>
                  </a:lnTo>
                  <a:lnTo>
                    <a:pt x="3000" y="4400"/>
                  </a:lnTo>
                  <a:lnTo>
                    <a:pt x="3000" y="4500"/>
                  </a:lnTo>
                  <a:lnTo>
                    <a:pt x="2800" y="4500"/>
                  </a:lnTo>
                  <a:lnTo>
                    <a:pt x="2800" y="4600"/>
                  </a:lnTo>
                  <a:lnTo>
                    <a:pt x="2700" y="4600"/>
                  </a:lnTo>
                  <a:lnTo>
                    <a:pt x="2700" y="4700"/>
                  </a:lnTo>
                  <a:lnTo>
                    <a:pt x="2500" y="4700"/>
                  </a:lnTo>
                  <a:lnTo>
                    <a:pt x="2500" y="4800"/>
                  </a:lnTo>
                  <a:lnTo>
                    <a:pt x="2200" y="4800"/>
                  </a:lnTo>
                  <a:lnTo>
                    <a:pt x="2200" y="4500"/>
                  </a:lnTo>
                  <a:lnTo>
                    <a:pt x="2300" y="4500"/>
                  </a:lnTo>
                  <a:lnTo>
                    <a:pt x="2300" y="4400"/>
                  </a:lnTo>
                  <a:lnTo>
                    <a:pt x="2400" y="4400"/>
                  </a:lnTo>
                  <a:lnTo>
                    <a:pt x="2400" y="4200"/>
                  </a:lnTo>
                  <a:lnTo>
                    <a:pt x="2300" y="4200"/>
                  </a:lnTo>
                  <a:lnTo>
                    <a:pt x="2300" y="4300"/>
                  </a:lnTo>
                  <a:lnTo>
                    <a:pt x="2100" y="4300"/>
                  </a:lnTo>
                  <a:lnTo>
                    <a:pt x="2100" y="4100"/>
                  </a:lnTo>
                  <a:lnTo>
                    <a:pt x="2200" y="4100"/>
                  </a:lnTo>
                  <a:lnTo>
                    <a:pt x="2200" y="4000"/>
                  </a:lnTo>
                  <a:lnTo>
                    <a:pt x="2300" y="4000"/>
                  </a:lnTo>
                  <a:lnTo>
                    <a:pt x="2300" y="3900"/>
                  </a:lnTo>
                  <a:lnTo>
                    <a:pt x="2400" y="3900"/>
                  </a:lnTo>
                  <a:lnTo>
                    <a:pt x="2400" y="3800"/>
                  </a:lnTo>
                  <a:lnTo>
                    <a:pt x="2500" y="3800"/>
                  </a:lnTo>
                  <a:lnTo>
                    <a:pt x="2500" y="3700"/>
                  </a:lnTo>
                  <a:lnTo>
                    <a:pt x="2400" y="3700"/>
                  </a:lnTo>
                  <a:lnTo>
                    <a:pt x="2400" y="3600"/>
                  </a:lnTo>
                  <a:lnTo>
                    <a:pt x="2300" y="3600"/>
                  </a:lnTo>
                  <a:lnTo>
                    <a:pt x="2300" y="3500"/>
                  </a:lnTo>
                  <a:lnTo>
                    <a:pt x="2400" y="3500"/>
                  </a:lnTo>
                  <a:lnTo>
                    <a:pt x="2400" y="3400"/>
                  </a:lnTo>
                  <a:lnTo>
                    <a:pt x="2700" y="3400"/>
                  </a:lnTo>
                  <a:lnTo>
                    <a:pt x="2700" y="3300"/>
                  </a:lnTo>
                  <a:lnTo>
                    <a:pt x="2900" y="3300"/>
                  </a:lnTo>
                  <a:lnTo>
                    <a:pt x="2900" y="3200"/>
                  </a:lnTo>
                  <a:lnTo>
                    <a:pt x="3100" y="3200"/>
                  </a:lnTo>
                  <a:lnTo>
                    <a:pt x="3100" y="3100"/>
                  </a:lnTo>
                  <a:lnTo>
                    <a:pt x="3200" y="3100"/>
                  </a:lnTo>
                  <a:lnTo>
                    <a:pt x="3200" y="2900"/>
                  </a:lnTo>
                  <a:lnTo>
                    <a:pt x="3500" y="2900"/>
                  </a:lnTo>
                  <a:lnTo>
                    <a:pt x="3500" y="3000"/>
                  </a:lnTo>
                  <a:lnTo>
                    <a:pt x="3400" y="3000"/>
                  </a:lnTo>
                  <a:lnTo>
                    <a:pt x="3400" y="3100"/>
                  </a:lnTo>
                  <a:lnTo>
                    <a:pt x="3300" y="3100"/>
                  </a:lnTo>
                  <a:lnTo>
                    <a:pt x="3300" y="3200"/>
                  </a:lnTo>
                  <a:lnTo>
                    <a:pt x="3500" y="3200"/>
                  </a:lnTo>
                  <a:lnTo>
                    <a:pt x="3500" y="3100"/>
                  </a:lnTo>
                  <a:lnTo>
                    <a:pt x="3600" y="3100"/>
                  </a:lnTo>
                  <a:lnTo>
                    <a:pt x="3600" y="3000"/>
                  </a:lnTo>
                  <a:lnTo>
                    <a:pt x="3800" y="3000"/>
                  </a:lnTo>
                  <a:lnTo>
                    <a:pt x="3800" y="2900"/>
                  </a:lnTo>
                  <a:lnTo>
                    <a:pt x="3900" y="2900"/>
                  </a:lnTo>
                  <a:lnTo>
                    <a:pt x="3900" y="2800"/>
                  </a:lnTo>
                  <a:lnTo>
                    <a:pt x="4200" y="2800"/>
                  </a:lnTo>
                  <a:lnTo>
                    <a:pt x="4200" y="2700"/>
                  </a:lnTo>
                  <a:close/>
                  <a:moveTo>
                    <a:pt x="3500" y="2800"/>
                  </a:moveTo>
                  <a:lnTo>
                    <a:pt x="3800" y="2800"/>
                  </a:lnTo>
                  <a:lnTo>
                    <a:pt x="3800" y="2900"/>
                  </a:lnTo>
                  <a:lnTo>
                    <a:pt x="3500" y="2900"/>
                  </a:lnTo>
                  <a:lnTo>
                    <a:pt x="3500" y="2800"/>
                  </a:lnTo>
                  <a:close/>
                  <a:moveTo>
                    <a:pt x="4200" y="2900"/>
                  </a:moveTo>
                  <a:lnTo>
                    <a:pt x="4200" y="3000"/>
                  </a:lnTo>
                  <a:lnTo>
                    <a:pt x="4100" y="3000"/>
                  </a:lnTo>
                  <a:lnTo>
                    <a:pt x="4100" y="3100"/>
                  </a:lnTo>
                  <a:lnTo>
                    <a:pt x="4300" y="3100"/>
                  </a:lnTo>
                  <a:lnTo>
                    <a:pt x="4300" y="3000"/>
                  </a:lnTo>
                  <a:lnTo>
                    <a:pt x="4400" y="3000"/>
                  </a:lnTo>
                  <a:lnTo>
                    <a:pt x="4400" y="2900"/>
                  </a:lnTo>
                  <a:lnTo>
                    <a:pt x="4200" y="2900"/>
                  </a:lnTo>
                  <a:close/>
                  <a:moveTo>
                    <a:pt x="3000" y="4200"/>
                  </a:moveTo>
                  <a:lnTo>
                    <a:pt x="2900" y="4200"/>
                  </a:lnTo>
                  <a:lnTo>
                    <a:pt x="2900" y="4300"/>
                  </a:lnTo>
                  <a:lnTo>
                    <a:pt x="3000" y="4300"/>
                  </a:lnTo>
                  <a:lnTo>
                    <a:pt x="3000" y="4200"/>
                  </a:lnTo>
                  <a:close/>
                  <a:moveTo>
                    <a:pt x="2900" y="4300"/>
                  </a:moveTo>
                  <a:lnTo>
                    <a:pt x="2800" y="4300"/>
                  </a:lnTo>
                  <a:lnTo>
                    <a:pt x="2800" y="4400"/>
                  </a:lnTo>
                  <a:lnTo>
                    <a:pt x="2900" y="4400"/>
                  </a:lnTo>
                  <a:lnTo>
                    <a:pt x="2900" y="4300"/>
                  </a:lnTo>
                  <a:close/>
                  <a:moveTo>
                    <a:pt x="2800" y="4400"/>
                  </a:moveTo>
                  <a:lnTo>
                    <a:pt x="2700" y="4400"/>
                  </a:lnTo>
                  <a:lnTo>
                    <a:pt x="2700" y="4500"/>
                  </a:lnTo>
                  <a:lnTo>
                    <a:pt x="2800" y="4500"/>
                  </a:lnTo>
                  <a:lnTo>
                    <a:pt x="2800" y="4400"/>
                  </a:lnTo>
                  <a:close/>
                </a:path>
              </a:pathLst>
            </a:custGeom>
            <a:solidFill>
              <a:srgbClr val="FFFFFF"/>
            </a:solidFill>
            <a:ln w="9525" cap="rnd">
              <a:noFill/>
              <a:round/>
            </a:ln>
          </p:spPr>
        </p:sp>
      </p:grpSp>
      <p:sp>
        <p:nvSpPr>
          <p:cNvPr id="323" name="downsample-note-box"/>
          <p:cNvSpPr/>
          <p:nvPr/>
        </p:nvSpPr>
        <p:spPr>
          <a:xfrm>
            <a:off x="2295525" y="5162550"/>
            <a:ext cx="1028700" cy="333375"/>
          </a:xfrm>
          <a:custGeom>
            <a:avLst/>
            <a:gdLst/>
            <a:ahLst/>
            <a:cxnLst/>
            <a:rect l="0" t="0" r="r" b="b"/>
            <a:pathLst>
              <a:path w="10800" h="3500" fill="none" stroke="1" extrusionOk="0">
                <a:moveTo>
                  <a:pt x="700" y="0"/>
                </a:moveTo>
                <a:lnTo>
                  <a:pt x="10100" y="0"/>
                </a:lnTo>
                <a:cubicBezTo>
                  <a:pt x="10567" y="0"/>
                  <a:pt x="10800" y="233"/>
                  <a:pt x="10800" y="700"/>
                </a:cubicBezTo>
                <a:lnTo>
                  <a:pt x="10800" y="2800"/>
                </a:lnTo>
                <a:cubicBezTo>
                  <a:pt x="10800" y="3267"/>
                  <a:pt x="10567" y="3500"/>
                  <a:pt x="10100" y="3500"/>
                </a:cubicBezTo>
                <a:lnTo>
                  <a:pt x="700" y="3500"/>
                </a:lnTo>
                <a:cubicBezTo>
                  <a:pt x="233" y="3500"/>
                  <a:pt x="0" y="3267"/>
                  <a:pt x="0" y="2800"/>
                </a:cubicBezTo>
                <a:lnTo>
                  <a:pt x="0" y="700"/>
                </a:lnTo>
                <a:cubicBezTo>
                  <a:pt x="0" y="233"/>
                  <a:pt x="233" y="0"/>
                  <a:pt x="700" y="0"/>
                </a:cubicBezTo>
              </a:path>
            </a:pathLst>
          </a:custGeom>
          <a:noFill/>
          <a:ln w="7620" cap="rnd">
            <a:solidFill>
              <a:srgbClr val="B8ADB9"/>
            </a:solidFill>
            <a:custDash>
              <a:ds d="500000" sp="500000"/>
            </a:custDash>
            <a:round/>
          </a:ln>
        </p:spPr>
      </p:sp>
      <p:sp>
        <p:nvSpPr>
          <p:cNvPr id="324" name="attn-note-box"/>
          <p:cNvSpPr/>
          <p:nvPr/>
        </p:nvSpPr>
        <p:spPr>
          <a:xfrm>
            <a:off x="3390900" y="5162550"/>
            <a:ext cx="1143000" cy="333375"/>
          </a:xfrm>
          <a:custGeom>
            <a:avLst/>
            <a:gdLst/>
            <a:ahLst/>
            <a:cxnLst/>
            <a:rect l="0" t="0" r="r" b="b"/>
            <a:pathLst>
              <a:path w="12000" h="3500" fill="none" stroke="1" extrusionOk="0">
                <a:moveTo>
                  <a:pt x="700" y="0"/>
                </a:moveTo>
                <a:lnTo>
                  <a:pt x="11300" y="0"/>
                </a:lnTo>
                <a:cubicBezTo>
                  <a:pt x="11767" y="0"/>
                  <a:pt x="12000" y="233"/>
                  <a:pt x="12000" y="700"/>
                </a:cubicBezTo>
                <a:lnTo>
                  <a:pt x="12000" y="2800"/>
                </a:lnTo>
                <a:cubicBezTo>
                  <a:pt x="12000" y="3267"/>
                  <a:pt x="11767" y="3500"/>
                  <a:pt x="11300" y="3500"/>
                </a:cubicBezTo>
                <a:lnTo>
                  <a:pt x="700" y="3500"/>
                </a:lnTo>
                <a:cubicBezTo>
                  <a:pt x="233" y="3500"/>
                  <a:pt x="0" y="3267"/>
                  <a:pt x="0" y="2800"/>
                </a:cubicBezTo>
                <a:lnTo>
                  <a:pt x="0" y="700"/>
                </a:lnTo>
                <a:cubicBezTo>
                  <a:pt x="0" y="233"/>
                  <a:pt x="233" y="0"/>
                  <a:pt x="700" y="0"/>
                </a:cubicBezTo>
              </a:path>
            </a:pathLst>
          </a:custGeom>
          <a:noFill/>
          <a:ln w="7620" cap="rnd">
            <a:solidFill>
              <a:srgbClr val="B8ADB9"/>
            </a:solidFill>
            <a:custDash>
              <a:ds d="500000" sp="500000"/>
            </a:custDash>
            <a:round/>
          </a:ln>
        </p:spPr>
      </p:sp>
      <p:sp>
        <p:nvSpPr>
          <p:cNvPr id="325" name="attn-note-leader"/>
          <p:cNvSpPr/>
          <p:nvPr/>
        </p:nvSpPr>
        <p:spPr>
          <a:xfrm>
            <a:off x="3952875" y="4857750"/>
            <a:ext cx="10" cy="285750"/>
          </a:xfrm>
          <a:custGeom>
            <a:avLst/>
            <a:gdLst/>
            <a:ahLst/>
            <a:cxnLst/>
            <a:rect l="0" t="0" r="r" b="b"/>
            <a:pathLst>
              <a:path w="1" h="3000" fill="none" stroke="1" extrusionOk="0">
                <a:moveTo>
                  <a:pt x="0" y="0"/>
                </a:moveTo>
                <a:lnTo>
                  <a:pt x="0" y="3000"/>
                </a:lnTo>
              </a:path>
            </a:pathLst>
          </a:custGeom>
          <a:noFill/>
          <a:ln w="8572" cap="rnd">
            <a:solidFill>
              <a:srgbClr val="B8ADB9"/>
            </a:solidFill>
            <a:custDash>
              <a:ds d="444444" sp="444444"/>
            </a:custDash>
            <a:round/>
          </a:ln>
        </p:spPr>
      </p:sp>
      <p:grpSp>
        <p:nvGrpSpPr>
          <p:cNvPr id="326" name="title-text"/>
          <p:cNvGrpSpPr/>
          <p:nvPr/>
        </p:nvGrpSpPr>
        <p:grpSpPr>
          <a:xfrm>
            <a:off x="2045474" y="23622"/>
            <a:ext cx="5691226" cy="356711"/>
            <a:chOff x="2045474" y="23622"/>
            <a:chExt cx="5691226" cy="356711"/>
          </a:xfrm>
        </p:grpSpPr>
        <p:sp>
          <p:nvSpPr>
            <p:cNvPr id="2" name="title-0"/>
            <p:cNvSpPr txBox="1"/>
            <p:nvPr/>
          </p:nvSpPr>
          <p:spPr>
            <a:xfrm>
              <a:off x="2045474" y="23622"/>
              <a:ext cx="5691226" cy="3567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4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MiT-B0 Dense–Query Revision Segmentation</a:t>
              </a:r>
              <a:endParaRPr lang="en-US"/>
            </a:p>
          </p:txBody>
        </p:sp>
      </p:grpSp>
      <p:grpSp>
        <p:nvGrpSpPr>
          <p:cNvPr id="327" name="subtitle-text"/>
          <p:cNvGrpSpPr/>
          <p:nvPr/>
        </p:nvGrpSpPr>
        <p:grpSpPr>
          <a:xfrm>
            <a:off x="2398824" y="397574"/>
            <a:ext cx="4984528" cy="187928"/>
            <a:chOff x="2398824" y="397574"/>
            <a:chExt cx="4984528" cy="187928"/>
          </a:xfrm>
        </p:grpSpPr>
        <p:sp>
          <p:nvSpPr>
            <p:cNvPr id="3" name="subtitle-0"/>
            <p:cNvSpPr txBox="1"/>
            <p:nvPr/>
          </p:nvSpPr>
          <p:spPr>
            <a:xfrm>
              <a:off x="2398824" y="397574"/>
              <a:ext cx="4984528" cy="187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Reference architecture for single-line handwritten revision instance segmentation</a:t>
              </a:r>
              <a:endParaRPr lang="en-US"/>
            </a:p>
          </p:txBody>
        </p:sp>
      </p:grpSp>
      <p:grpSp>
        <p:nvGrpSpPr>
          <p:cNvPr id="328" name="input-title-text"/>
          <p:cNvGrpSpPr/>
          <p:nvPr/>
        </p:nvGrpSpPr>
        <p:grpSpPr>
          <a:xfrm>
            <a:off x="124873" y="721424"/>
            <a:ext cx="617030" cy="187928"/>
            <a:chOff x="124873" y="721424"/>
            <a:chExt cx="617030" cy="187928"/>
          </a:xfrm>
        </p:grpSpPr>
        <p:sp>
          <p:nvSpPr>
            <p:cNvPr id="4" name="input-title-0"/>
            <p:cNvSpPr txBox="1"/>
            <p:nvPr/>
          </p:nvSpPr>
          <p:spPr>
            <a:xfrm>
              <a:off x="124873" y="721424"/>
              <a:ext cx="617030" cy="187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Input line</a:t>
              </a:r>
              <a:endParaRPr lang="en-US"/>
            </a:p>
          </p:txBody>
        </p:sp>
      </p:grpSp>
      <p:grpSp>
        <p:nvGrpSpPr>
          <p:cNvPr id="329" name="input-dim-text"/>
          <p:cNvGrpSpPr/>
          <p:nvPr/>
        </p:nvGrpSpPr>
        <p:grpSpPr>
          <a:xfrm>
            <a:off x="77153" y="919353"/>
            <a:ext cx="712470" cy="166783"/>
            <a:chOff x="77153" y="919353"/>
            <a:chExt cx="712470" cy="166783"/>
          </a:xfrm>
        </p:grpSpPr>
        <p:sp>
          <p:nvSpPr>
            <p:cNvPr id="5" name="input-dim-0"/>
            <p:cNvSpPr txBox="1"/>
            <p:nvPr/>
          </p:nvSpPr>
          <p:spPr>
            <a:xfrm>
              <a:off x="77153" y="919353"/>
              <a:ext cx="712470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1 × 96 × 768</a:t>
              </a:r>
              <a:endParaRPr lang="en-US"/>
            </a:p>
          </p:txBody>
        </p:sp>
      </p:grpSp>
      <p:grpSp>
        <p:nvGrpSpPr>
          <p:cNvPr id="330" name="input-caption-text"/>
          <p:cNvGrpSpPr/>
          <p:nvPr/>
        </p:nvGrpSpPr>
        <p:grpSpPr>
          <a:xfrm>
            <a:off x="96203" y="3538728"/>
            <a:ext cx="712470" cy="595408"/>
            <a:chOff x="96203" y="3538728"/>
            <a:chExt cx="712470" cy="595408"/>
          </a:xfrm>
        </p:grpSpPr>
        <p:sp>
          <p:nvSpPr>
            <p:cNvPr id="6" name="input-caption-0"/>
            <p:cNvSpPr txBox="1"/>
            <p:nvPr/>
          </p:nvSpPr>
          <p:spPr>
            <a:xfrm>
              <a:off x="186309" y="3538728"/>
              <a:ext cx="532257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Synthetic</a:t>
              </a:r>
              <a:endParaRPr lang="en-US"/>
            </a:p>
          </p:txBody>
        </p:sp>
        <p:sp>
          <p:nvSpPr>
            <p:cNvPr id="7" name="input-caption-1"/>
            <p:cNvSpPr txBox="1"/>
            <p:nvPr/>
          </p:nvSpPr>
          <p:spPr>
            <a:xfrm>
              <a:off x="119729" y="3681603"/>
              <a:ext cx="665416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handwritten</a:t>
              </a:r>
              <a:endParaRPr lang="en-US"/>
            </a:p>
          </p:txBody>
        </p:sp>
        <p:sp>
          <p:nvSpPr>
            <p:cNvPr id="8" name="input-caption-2"/>
            <p:cNvSpPr txBox="1"/>
            <p:nvPr/>
          </p:nvSpPr>
          <p:spPr>
            <a:xfrm>
              <a:off x="169640" y="3824478"/>
              <a:ext cx="565594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math strip</a:t>
              </a:r>
              <a:endParaRPr lang="en-US"/>
            </a:p>
          </p:txBody>
        </p:sp>
        <p:sp>
          <p:nvSpPr>
            <p:cNvPr id="9" name="input-caption-3"/>
            <p:cNvSpPr txBox="1"/>
            <p:nvPr/>
          </p:nvSpPr>
          <p:spPr>
            <a:xfrm>
              <a:off x="96203" y="3967353"/>
              <a:ext cx="712470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1 × 96 × 768</a:t>
              </a:r>
              <a:endParaRPr lang="en-US"/>
            </a:p>
          </p:txBody>
        </p:sp>
      </p:grpSp>
      <p:grpSp>
        <p:nvGrpSpPr>
          <p:cNvPr id="331" name="illustrative-text"/>
          <p:cNvGrpSpPr/>
          <p:nvPr/>
        </p:nvGrpSpPr>
        <p:grpSpPr>
          <a:xfrm>
            <a:off x="106490" y="5498782"/>
            <a:ext cx="787146" cy="269558"/>
            <a:chOff x="106490" y="5498782"/>
            <a:chExt cx="787146" cy="269558"/>
          </a:xfrm>
        </p:grpSpPr>
        <p:sp>
          <p:nvSpPr>
            <p:cNvPr id="10" name="illustrative-0"/>
            <p:cNvSpPr txBox="1"/>
            <p:nvPr/>
          </p:nvSpPr>
          <p:spPr>
            <a:xfrm>
              <a:off x="106490" y="5498782"/>
              <a:ext cx="787146" cy="145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9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Illustrative input</a:t>
              </a:r>
              <a:endParaRPr lang="en-US"/>
            </a:p>
          </p:txBody>
        </p:sp>
        <p:sp>
          <p:nvSpPr>
            <p:cNvPr id="11" name="illustrative-1"/>
            <p:cNvSpPr txBox="1"/>
            <p:nvPr/>
          </p:nvSpPr>
          <p:spPr>
            <a:xfrm>
              <a:off x="220694" y="5622608"/>
              <a:ext cx="558736" cy="145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9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and outputs</a:t>
              </a:r>
              <a:endParaRPr lang="en-US"/>
            </a:p>
          </p:txBody>
        </p:sp>
      </p:grpSp>
      <p:grpSp>
        <p:nvGrpSpPr>
          <p:cNvPr id="332" name="a-head-text"/>
          <p:cNvGrpSpPr/>
          <p:nvPr/>
        </p:nvGrpSpPr>
        <p:grpSpPr>
          <a:xfrm>
            <a:off x="2205630" y="722471"/>
            <a:ext cx="1332315" cy="198406"/>
            <a:chOff x="2205630" y="722471"/>
            <a:chExt cx="1332315" cy="198406"/>
          </a:xfrm>
        </p:grpSpPr>
        <p:sp>
          <p:nvSpPr>
            <p:cNvPr id="12" name="a-head-0"/>
            <p:cNvSpPr txBox="1"/>
            <p:nvPr/>
          </p:nvSpPr>
          <p:spPr>
            <a:xfrm>
              <a:off x="2205630" y="722471"/>
              <a:ext cx="1332315" cy="198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275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(a) MiT-B0 encoder</a:t>
              </a:r>
              <a:endParaRPr lang="en-US"/>
            </a:p>
          </p:txBody>
        </p:sp>
      </p:grpSp>
      <p:grpSp>
        <p:nvGrpSpPr>
          <p:cNvPr id="333" name="b-head-text"/>
          <p:cNvGrpSpPr/>
          <p:nvPr/>
        </p:nvGrpSpPr>
        <p:grpSpPr>
          <a:xfrm>
            <a:off x="5588032" y="722471"/>
            <a:ext cx="1616011" cy="198406"/>
            <a:chOff x="5588032" y="722471"/>
            <a:chExt cx="1616011" cy="198406"/>
          </a:xfrm>
        </p:grpSpPr>
        <p:sp>
          <p:nvSpPr>
            <p:cNvPr id="13" name="b-head-0"/>
            <p:cNvSpPr txBox="1"/>
            <p:nvPr/>
          </p:nvSpPr>
          <p:spPr>
            <a:xfrm>
              <a:off x="5588032" y="722471"/>
              <a:ext cx="1616012" cy="198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275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(b) Dense pixel pathway</a:t>
              </a:r>
              <a:endParaRPr lang="en-US"/>
            </a:p>
          </p:txBody>
        </p:sp>
      </p:grpSp>
      <p:grpSp>
        <p:nvGrpSpPr>
          <p:cNvPr id="334" name="d-head-text"/>
          <p:cNvGrpSpPr/>
          <p:nvPr/>
        </p:nvGrpSpPr>
        <p:grpSpPr>
          <a:xfrm>
            <a:off x="8357378" y="722471"/>
            <a:ext cx="1049369" cy="369856"/>
            <a:chOff x="8357378" y="722471"/>
            <a:chExt cx="1049369" cy="369856"/>
          </a:xfrm>
        </p:grpSpPr>
        <p:sp>
          <p:nvSpPr>
            <p:cNvPr id="14" name="d-head-0"/>
            <p:cNvSpPr txBox="1"/>
            <p:nvPr/>
          </p:nvSpPr>
          <p:spPr>
            <a:xfrm>
              <a:off x="8359569" y="722471"/>
              <a:ext cx="1044988" cy="198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275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(d) Outputs and</a:t>
              </a:r>
              <a:endParaRPr lang="en-US"/>
            </a:p>
          </p:txBody>
        </p:sp>
        <p:sp>
          <p:nvSpPr>
            <p:cNvPr id="15" name="d-head-1"/>
            <p:cNvSpPr txBox="1"/>
            <p:nvPr/>
          </p:nvSpPr>
          <p:spPr>
            <a:xfrm>
              <a:off x="8357378" y="893921"/>
              <a:ext cx="1049369" cy="198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275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auxiliary fusion</a:t>
              </a:r>
              <a:endParaRPr lang="en-US"/>
            </a:p>
          </p:txBody>
        </p:sp>
      </p:grpSp>
      <p:grpSp>
        <p:nvGrpSpPr>
          <p:cNvPr id="335" name="enc-label-text"/>
          <p:cNvGrpSpPr/>
          <p:nvPr/>
        </p:nvGrpSpPr>
        <p:grpSpPr>
          <a:xfrm>
            <a:off x="1518966" y="2569274"/>
            <a:ext cx="1048293" cy="187928"/>
            <a:chOff x="1518966" y="2569274"/>
            <a:chExt cx="1048293" cy="187928"/>
          </a:xfrm>
        </p:grpSpPr>
        <p:sp>
          <p:nvSpPr>
            <p:cNvPr id="16" name="enc-label-0"/>
            <p:cNvSpPr txBox="1"/>
            <p:nvPr/>
          </p:nvSpPr>
          <p:spPr>
            <a:xfrm>
              <a:off x="1518966" y="2569274"/>
              <a:ext cx="1048293" cy="187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MiT-B0 encoder</a:t>
              </a:r>
              <a:endParaRPr lang="en-US"/>
            </a:p>
          </p:txBody>
        </p:sp>
      </p:grpSp>
      <p:grpSp>
        <p:nvGrpSpPr>
          <p:cNvPr id="336" name="skip-label-text"/>
          <p:cNvGrpSpPr/>
          <p:nvPr/>
        </p:nvGrpSpPr>
        <p:grpSpPr>
          <a:xfrm>
            <a:off x="2837355" y="1169098"/>
            <a:ext cx="1154716" cy="187928"/>
            <a:chOff x="2837355" y="1169098"/>
            <a:chExt cx="1154716" cy="187928"/>
          </a:xfrm>
        </p:grpSpPr>
        <p:sp>
          <p:nvSpPr>
            <p:cNvPr id="17" name="skip-label-0"/>
            <p:cNvSpPr txBox="1"/>
            <p:nvPr/>
          </p:nvSpPr>
          <p:spPr>
            <a:xfrm>
              <a:off x="2837355" y="1169098"/>
              <a:ext cx="1154716" cy="187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Explicit skip route</a:t>
              </a:r>
              <a:endParaRPr lang="en-US"/>
            </a:p>
          </p:txBody>
        </p:sp>
      </p:grpSp>
      <p:grpSp>
        <p:nvGrpSpPr>
          <p:cNvPr id="337" name="route-label-text"/>
          <p:cNvGrpSpPr/>
          <p:nvPr/>
        </p:nvGrpSpPr>
        <p:grpSpPr>
          <a:xfrm>
            <a:off x="2926318" y="2597848"/>
            <a:ext cx="862489" cy="187928"/>
            <a:chOff x="2926318" y="2597848"/>
            <a:chExt cx="862489" cy="187928"/>
          </a:xfrm>
        </p:grpSpPr>
        <p:sp>
          <p:nvSpPr>
            <p:cNvPr id="23" name="route-label-0"/>
            <p:cNvSpPr txBox="1"/>
            <p:nvPr/>
          </p:nvSpPr>
          <p:spPr>
            <a:xfrm>
              <a:off x="2926318" y="2597848"/>
              <a:ext cx="862489" cy="187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Explicit route</a:t>
              </a:r>
              <a:endParaRPr lang="en-US"/>
            </a:p>
          </p:txBody>
        </p:sp>
      </p:grpSp>
      <p:grpSp>
        <p:nvGrpSpPr>
          <p:cNvPr id="338" name="pixel-res-text"/>
          <p:cNvGrpSpPr/>
          <p:nvPr/>
        </p:nvGrpSpPr>
        <p:grpSpPr>
          <a:xfrm>
            <a:off x="5508355" y="1566005"/>
            <a:ext cx="860965" cy="156305"/>
            <a:chOff x="5508355" y="1566005"/>
            <a:chExt cx="860965" cy="156305"/>
          </a:xfrm>
        </p:grpSpPr>
        <p:sp>
          <p:nvSpPr>
            <p:cNvPr id="26" name="pixel-res-0"/>
            <p:cNvSpPr txBox="1"/>
            <p:nvPr/>
          </p:nvSpPr>
          <p:spPr>
            <a:xfrm>
              <a:off x="5508355" y="1566005"/>
              <a:ext cx="860965" cy="1563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975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H/4 → H/2 → H</a:t>
              </a:r>
              <a:endParaRPr lang="en-US"/>
            </a:p>
          </p:txBody>
        </p:sp>
      </p:grpSp>
      <p:grpSp>
        <p:nvGrpSpPr>
          <p:cNvPr id="339" name="mask-product-label-text"/>
          <p:cNvGrpSpPr/>
          <p:nvPr/>
        </p:nvGrpSpPr>
        <p:grpSpPr>
          <a:xfrm>
            <a:off x="7365587" y="2558701"/>
            <a:ext cx="1032700" cy="177356"/>
            <a:chOff x="7365587" y="2558701"/>
            <a:chExt cx="1032700" cy="177356"/>
          </a:xfrm>
        </p:grpSpPr>
        <p:sp>
          <p:nvSpPr>
            <p:cNvPr id="32" name="mask-product-label-0"/>
            <p:cNvSpPr txBox="1"/>
            <p:nvPr/>
          </p:nvSpPr>
          <p:spPr>
            <a:xfrm>
              <a:off x="7365587" y="2558701"/>
              <a:ext cx="1032700" cy="177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125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mask dot-product</a:t>
              </a:r>
              <a:endParaRPr lang="en-US"/>
            </a:p>
          </p:txBody>
        </p:sp>
      </p:grpSp>
      <p:grpSp>
        <p:nvGrpSpPr>
          <p:cNvPr id="340" name="ink-cue-text"/>
          <p:cNvGrpSpPr/>
          <p:nvPr/>
        </p:nvGrpSpPr>
        <p:grpSpPr>
          <a:xfrm>
            <a:off x="1645110" y="3025426"/>
            <a:ext cx="453104" cy="177356"/>
            <a:chOff x="1645110" y="3025426"/>
            <a:chExt cx="453104" cy="177356"/>
          </a:xfrm>
        </p:grpSpPr>
        <p:sp>
          <p:nvSpPr>
            <p:cNvPr id="33" name="ink-cue-0"/>
            <p:cNvSpPr txBox="1"/>
            <p:nvPr/>
          </p:nvSpPr>
          <p:spPr>
            <a:xfrm>
              <a:off x="1645110" y="3025426"/>
              <a:ext cx="453104" cy="177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125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Ink cue</a:t>
              </a:r>
              <a:endParaRPr lang="en-US"/>
            </a:p>
          </p:txBody>
        </p:sp>
      </p:grpSp>
      <p:grpSp>
        <p:nvGrpSpPr>
          <p:cNvPr id="341" name="learned-queries-text"/>
          <p:cNvGrpSpPr/>
          <p:nvPr/>
        </p:nvGrpSpPr>
        <p:grpSpPr>
          <a:xfrm>
            <a:off x="1187768" y="4148328"/>
            <a:ext cx="1005840" cy="166783"/>
            <a:chOff x="1187768" y="4148328"/>
            <a:chExt cx="1005840" cy="166783"/>
          </a:xfrm>
        </p:grpSpPr>
        <p:sp>
          <p:nvSpPr>
            <p:cNvPr id="35" name="learned-queries-0"/>
            <p:cNvSpPr txBox="1"/>
            <p:nvPr/>
          </p:nvSpPr>
          <p:spPr>
            <a:xfrm>
              <a:off x="1187768" y="4148328"/>
              <a:ext cx="1005840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16 learned queries</a:t>
              </a:r>
              <a:endParaRPr lang="en-US"/>
            </a:p>
          </p:txBody>
        </p:sp>
      </p:grpSp>
      <p:grpSp>
        <p:nvGrpSpPr>
          <p:cNvPr id="342" name="memory-dim-text"/>
          <p:cNvGrpSpPr/>
          <p:nvPr/>
        </p:nvGrpSpPr>
        <p:grpSpPr>
          <a:xfrm>
            <a:off x="2224126" y="4615053"/>
            <a:ext cx="1200073" cy="166783"/>
            <a:chOff x="2224126" y="4615053"/>
            <a:chExt cx="1200073" cy="166783"/>
          </a:xfrm>
        </p:grpSpPr>
        <p:sp>
          <p:nvSpPr>
            <p:cNvPr id="39" name="memory-dim-0"/>
            <p:cNvSpPr txBox="1"/>
            <p:nvPr/>
          </p:nvSpPr>
          <p:spPr>
            <a:xfrm>
              <a:off x="2224126" y="4615053"/>
              <a:ext cx="1200073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Memory : 1152 × 160</a:t>
              </a:r>
              <a:endParaRPr lang="en-US"/>
            </a:p>
          </p:txBody>
        </p:sp>
      </p:grpSp>
      <p:grpSp>
        <p:nvGrpSpPr>
          <p:cNvPr id="343" name="input-stride-text"/>
          <p:cNvGrpSpPr/>
          <p:nvPr/>
        </p:nvGrpSpPr>
        <p:grpSpPr>
          <a:xfrm>
            <a:off x="2462546" y="4775930"/>
            <a:ext cx="723233" cy="156305"/>
            <a:chOff x="2462546" y="4775930"/>
            <a:chExt cx="723233" cy="156305"/>
          </a:xfrm>
        </p:grpSpPr>
        <p:sp>
          <p:nvSpPr>
            <p:cNvPr id="40" name="input-stride-0"/>
            <p:cNvSpPr txBox="1"/>
            <p:nvPr/>
          </p:nvSpPr>
          <p:spPr>
            <a:xfrm>
              <a:off x="2462546" y="4775930"/>
              <a:ext cx="723233" cy="1563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975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Input stride: 8</a:t>
              </a:r>
              <a:endParaRPr lang="en-US"/>
            </a:p>
          </p:txBody>
        </p:sp>
      </p:grpSp>
      <p:grpSp>
        <p:nvGrpSpPr>
          <p:cNvPr id="344" name="h-stride-text"/>
          <p:cNvGrpSpPr/>
          <p:nvPr/>
        </p:nvGrpSpPr>
        <p:grpSpPr>
          <a:xfrm>
            <a:off x="2582370" y="4899755"/>
            <a:ext cx="483584" cy="156305"/>
            <a:chOff x="2582370" y="4899755"/>
            <a:chExt cx="483584" cy="156305"/>
          </a:xfrm>
        </p:grpSpPr>
        <p:sp>
          <p:nvSpPr>
            <p:cNvPr id="41" name="h-stride-0"/>
            <p:cNvSpPr txBox="1"/>
            <p:nvPr/>
          </p:nvSpPr>
          <p:spPr>
            <a:xfrm>
              <a:off x="2582370" y="4899755"/>
              <a:ext cx="483584" cy="1563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975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H/8 = 12</a:t>
              </a:r>
              <a:endParaRPr lang="en-US"/>
            </a:p>
          </p:txBody>
        </p:sp>
      </p:grpSp>
      <p:grpSp>
        <p:nvGrpSpPr>
          <p:cNvPr id="345" name="w-stride-text"/>
          <p:cNvGrpSpPr/>
          <p:nvPr/>
        </p:nvGrpSpPr>
        <p:grpSpPr>
          <a:xfrm>
            <a:off x="2575512" y="5023580"/>
            <a:ext cx="497300" cy="156305"/>
            <a:chOff x="2575512" y="5023580"/>
            <a:chExt cx="497300" cy="156305"/>
          </a:xfrm>
        </p:grpSpPr>
        <p:sp>
          <p:nvSpPr>
            <p:cNvPr id="42" name="w-stride-0"/>
            <p:cNvSpPr txBox="1"/>
            <p:nvPr/>
          </p:nvSpPr>
          <p:spPr>
            <a:xfrm>
              <a:off x="2575512" y="5023580"/>
              <a:ext cx="497300" cy="1563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975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W/8 = 96</a:t>
              </a:r>
              <a:endParaRPr lang="en-US"/>
            </a:p>
          </p:txBody>
        </p:sp>
      </p:grpSp>
      <p:grpSp>
        <p:nvGrpSpPr>
          <p:cNvPr id="346" name="q-dim-text"/>
          <p:cNvGrpSpPr/>
          <p:nvPr/>
        </p:nvGrpSpPr>
        <p:grpSpPr>
          <a:xfrm>
            <a:off x="4448651" y="4443603"/>
            <a:ext cx="503873" cy="166783"/>
            <a:chOff x="4448651" y="4443603"/>
            <a:chExt cx="503873" cy="166783"/>
          </a:xfrm>
        </p:grpSpPr>
        <p:sp>
          <p:nvSpPr>
            <p:cNvPr id="45" name="q-dim-0"/>
            <p:cNvSpPr txBox="1"/>
            <p:nvPr/>
          </p:nvSpPr>
          <p:spPr>
            <a:xfrm>
              <a:off x="4448651" y="4443603"/>
              <a:ext cx="503872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16 × 160</a:t>
              </a:r>
              <a:endParaRPr lang="en-US"/>
            </a:p>
          </p:txBody>
        </p:sp>
      </p:grpSp>
      <p:grpSp>
        <p:nvGrpSpPr>
          <p:cNvPr id="347" name="down-note-text"/>
          <p:cNvGrpSpPr/>
          <p:nvPr/>
        </p:nvGrpSpPr>
        <p:grpSpPr>
          <a:xfrm>
            <a:off x="2316528" y="5202460"/>
            <a:ext cx="1015270" cy="249460"/>
            <a:chOff x="2316528" y="5202460"/>
            <a:chExt cx="1015270" cy="249460"/>
          </a:xfrm>
        </p:grpSpPr>
        <p:sp>
          <p:nvSpPr>
            <p:cNvPr id="46" name="down-note-0"/>
            <p:cNvSpPr txBox="1"/>
            <p:nvPr/>
          </p:nvSpPr>
          <p:spPr>
            <a:xfrm>
              <a:off x="2350198" y="5202460"/>
              <a:ext cx="947928" cy="135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825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D↓, dense map down-</a:t>
              </a:r>
              <a:endParaRPr lang="en-US"/>
            </a:p>
          </p:txBody>
        </p:sp>
        <p:sp>
          <p:nvSpPr>
            <p:cNvPr id="47" name="down-note-1"/>
            <p:cNvSpPr txBox="1"/>
            <p:nvPr/>
          </p:nvSpPr>
          <p:spPr>
            <a:xfrm>
              <a:off x="2316528" y="5316760"/>
              <a:ext cx="1015270" cy="135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825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sampled to F resolution</a:t>
              </a:r>
              <a:endParaRPr lang="en-US"/>
            </a:p>
          </p:txBody>
        </p:sp>
      </p:grpSp>
      <p:grpSp>
        <p:nvGrpSpPr>
          <p:cNvPr id="348" name="attn-note-text"/>
          <p:cNvGrpSpPr/>
          <p:nvPr/>
        </p:nvGrpSpPr>
        <p:grpSpPr>
          <a:xfrm>
            <a:off x="3438049" y="5203508"/>
            <a:ext cx="1058227" cy="269558"/>
            <a:chOff x="3438049" y="5203508"/>
            <a:chExt cx="1058227" cy="269558"/>
          </a:xfrm>
        </p:grpSpPr>
        <p:sp>
          <p:nvSpPr>
            <p:cNvPr id="48" name="attn-note-0"/>
            <p:cNvSpPr txBox="1"/>
            <p:nvPr/>
          </p:nvSpPr>
          <p:spPr>
            <a:xfrm>
              <a:off x="3438049" y="5203508"/>
              <a:ext cx="1058228" cy="145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9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Cross-attention + FFN</a:t>
              </a:r>
              <a:endParaRPr lang="en-US"/>
            </a:p>
          </p:txBody>
        </p:sp>
        <p:sp>
          <p:nvSpPr>
            <p:cNvPr id="49" name="attn-note-1"/>
            <p:cNvSpPr txBox="1"/>
            <p:nvPr/>
          </p:nvSpPr>
          <p:spPr>
            <a:xfrm>
              <a:off x="3567208" y="5327332"/>
              <a:ext cx="799910" cy="1457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9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No self-attention</a:t>
              </a:r>
              <a:endParaRPr lang="en-US"/>
            </a:p>
          </p:txBody>
        </p:sp>
      </p:grpSp>
      <p:grpSp>
        <p:nvGrpSpPr>
          <p:cNvPr id="349" name="shared-footer-text"/>
          <p:cNvGrpSpPr/>
          <p:nvPr/>
        </p:nvGrpSpPr>
        <p:grpSpPr>
          <a:xfrm>
            <a:off x="2196465" y="5588698"/>
            <a:ext cx="1674495" cy="187928"/>
            <a:chOff x="2196465" y="5588698"/>
            <a:chExt cx="1674495" cy="187928"/>
          </a:xfrm>
        </p:grpSpPr>
        <p:sp>
          <p:nvSpPr>
            <p:cNvPr id="50" name="shared-footer-0"/>
            <p:cNvSpPr txBox="1"/>
            <p:nvPr/>
          </p:nvSpPr>
          <p:spPr>
            <a:xfrm>
              <a:off x="2196465" y="5588698"/>
              <a:ext cx="1674495" cy="187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(a) Shared feature pathway</a:t>
              </a:r>
              <a:endParaRPr lang="en-US"/>
            </a:p>
          </p:txBody>
        </p:sp>
      </p:grpSp>
      <p:grpSp>
        <p:nvGrpSpPr>
          <p:cNvPr id="350" name="embedding-dim-text"/>
          <p:cNvGrpSpPr/>
          <p:nvPr/>
        </p:nvGrpSpPr>
        <p:grpSpPr>
          <a:xfrm>
            <a:off x="5305901" y="3795903"/>
            <a:ext cx="370522" cy="166783"/>
            <a:chOff x="5305901" y="3795903"/>
            <a:chExt cx="370522" cy="166783"/>
          </a:xfrm>
        </p:grpSpPr>
        <p:sp>
          <p:nvSpPr>
            <p:cNvPr id="54" name="embedding-dim-0"/>
            <p:cNvSpPr txBox="1"/>
            <p:nvPr/>
          </p:nvSpPr>
          <p:spPr>
            <a:xfrm>
              <a:off x="5305901" y="3795903"/>
              <a:ext cx="370522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16 × 8</a:t>
              </a:r>
              <a:endParaRPr lang="en-US"/>
            </a:p>
          </p:txBody>
        </p:sp>
      </p:grpSp>
      <p:grpSp>
        <p:nvGrpSpPr>
          <p:cNvPr id="351" name="dot-label-text"/>
          <p:cNvGrpSpPr/>
          <p:nvPr/>
        </p:nvGrpSpPr>
        <p:grpSpPr>
          <a:xfrm>
            <a:off x="6067949" y="3462528"/>
            <a:ext cx="198977" cy="166783"/>
            <a:chOff x="6067949" y="3462528"/>
            <a:chExt cx="198977" cy="166783"/>
          </a:xfrm>
        </p:grpSpPr>
        <p:sp>
          <p:nvSpPr>
            <p:cNvPr id="55" name="dot-label-0"/>
            <p:cNvSpPr txBox="1"/>
            <p:nvPr/>
          </p:nvSpPr>
          <p:spPr>
            <a:xfrm>
              <a:off x="6067949" y="3462528"/>
              <a:ext cx="198977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dot</a:t>
              </a:r>
              <a:endParaRPr lang="en-US"/>
            </a:p>
          </p:txBody>
        </p:sp>
      </p:grpSp>
      <p:grpSp>
        <p:nvGrpSpPr>
          <p:cNvPr id="352" name="q-conditioning-text"/>
          <p:cNvGrpSpPr/>
          <p:nvPr/>
        </p:nvGrpSpPr>
        <p:grpSpPr>
          <a:xfrm>
            <a:off x="6124575" y="3872103"/>
            <a:ext cx="843343" cy="309658"/>
            <a:chOff x="6124575" y="3872103"/>
            <a:chExt cx="843343" cy="309658"/>
          </a:xfrm>
        </p:grpSpPr>
        <p:sp>
          <p:nvSpPr>
            <p:cNvPr id="60" name="q-conditioning-0"/>
            <p:cNvSpPr txBox="1"/>
            <p:nvPr/>
          </p:nvSpPr>
          <p:spPr>
            <a:xfrm>
              <a:off x="6124575" y="3872103"/>
              <a:ext cx="424624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Ink cue</a:t>
              </a:r>
              <a:endParaRPr lang="en-US"/>
            </a:p>
          </p:txBody>
        </p:sp>
        <p:sp>
          <p:nvSpPr>
            <p:cNvPr id="61" name="q-conditioning-1"/>
            <p:cNvSpPr txBox="1"/>
            <p:nvPr/>
          </p:nvSpPr>
          <p:spPr>
            <a:xfrm>
              <a:off x="6124575" y="4014978"/>
              <a:ext cx="843344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Q-conditioning</a:t>
              </a:r>
              <a:endParaRPr lang="en-US"/>
            </a:p>
          </p:txBody>
        </p:sp>
      </p:grpSp>
      <p:grpSp>
        <p:nvGrpSpPr>
          <p:cNvPr id="353" name="delta-text"/>
          <p:cNvGrpSpPr/>
          <p:nvPr/>
        </p:nvGrpSpPr>
        <p:grpSpPr>
          <a:xfrm>
            <a:off x="7164467" y="4035076"/>
            <a:ext cx="120491" cy="177356"/>
            <a:chOff x="7164467" y="4035076"/>
            <a:chExt cx="120491" cy="177356"/>
          </a:xfrm>
        </p:grpSpPr>
        <p:sp>
          <p:nvSpPr>
            <p:cNvPr id="62" name="delta-0"/>
            <p:cNvSpPr txBox="1"/>
            <p:nvPr/>
          </p:nvSpPr>
          <p:spPr>
            <a:xfrm>
              <a:off x="7164467" y="4035076"/>
              <a:ext cx="120491" cy="177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125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Δ</a:t>
              </a:r>
              <a:endParaRPr lang="en-US"/>
            </a:p>
          </p:txBody>
        </p:sp>
      </p:grpSp>
      <p:grpSp>
        <p:nvGrpSpPr>
          <p:cNvPr id="354" name="query-footer-text"/>
          <p:cNvGrpSpPr/>
          <p:nvPr/>
        </p:nvGrpSpPr>
        <p:grpSpPr>
          <a:xfrm>
            <a:off x="5476113" y="5588698"/>
            <a:ext cx="1611249" cy="187928"/>
            <a:chOff x="5476113" y="5588698"/>
            <a:chExt cx="1611249" cy="187928"/>
          </a:xfrm>
        </p:grpSpPr>
        <p:sp>
          <p:nvSpPr>
            <p:cNvPr id="65" name="query-footer-0"/>
            <p:cNvSpPr txBox="1"/>
            <p:nvPr/>
          </p:nvSpPr>
          <p:spPr>
            <a:xfrm>
              <a:off x="5476113" y="5588698"/>
              <a:ext cx="1611249" cy="187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(c) Query-based instances</a:t>
              </a:r>
              <a:endParaRPr lang="en-US"/>
            </a:p>
          </p:txBody>
        </p:sp>
      </p:grpSp>
      <p:grpSp>
        <p:nvGrpSpPr>
          <p:cNvPr id="355" name="instance-caption-text"/>
          <p:cNvGrpSpPr/>
          <p:nvPr/>
        </p:nvGrpSpPr>
        <p:grpSpPr>
          <a:xfrm>
            <a:off x="8738568" y="2462403"/>
            <a:ext cx="839438" cy="309658"/>
            <a:chOff x="8738568" y="2462403"/>
            <a:chExt cx="839438" cy="309658"/>
          </a:xfrm>
        </p:grpSpPr>
        <p:sp>
          <p:nvSpPr>
            <p:cNvPr id="66" name="instance-caption-0"/>
            <p:cNvSpPr txBox="1"/>
            <p:nvPr/>
          </p:nvSpPr>
          <p:spPr>
            <a:xfrm>
              <a:off x="8738568" y="2462403"/>
              <a:ext cx="839438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Instance masks</a:t>
              </a:r>
              <a:endParaRPr lang="en-US"/>
            </a:p>
          </p:txBody>
        </p:sp>
        <p:sp>
          <p:nvSpPr>
            <p:cNvPr id="67" name="instance-caption-1"/>
            <p:cNvSpPr txBox="1"/>
            <p:nvPr/>
          </p:nvSpPr>
          <p:spPr>
            <a:xfrm>
              <a:off x="8923115" y="2605278"/>
              <a:ext cx="470344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+ scores</a:t>
              </a:r>
              <a:endParaRPr lang="en-US"/>
            </a:p>
          </p:txBody>
        </p:sp>
      </p:grpSp>
      <p:grpSp>
        <p:nvGrpSpPr>
          <p:cNvPr id="356" name="refined-caption-text"/>
          <p:cNvGrpSpPr/>
          <p:nvPr/>
        </p:nvGrpSpPr>
        <p:grpSpPr>
          <a:xfrm>
            <a:off x="7934992" y="3862578"/>
            <a:ext cx="465392" cy="452533"/>
            <a:chOff x="7934992" y="3862578"/>
            <a:chExt cx="465392" cy="452533"/>
          </a:xfrm>
        </p:grpSpPr>
        <p:sp>
          <p:nvSpPr>
            <p:cNvPr id="70" name="refined-caption-0"/>
            <p:cNvSpPr txBox="1"/>
            <p:nvPr/>
          </p:nvSpPr>
          <p:spPr>
            <a:xfrm>
              <a:off x="7942374" y="3862578"/>
              <a:ext cx="450628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Refined</a:t>
              </a:r>
              <a:endParaRPr lang="en-US"/>
            </a:p>
          </p:txBody>
        </p:sp>
        <p:sp>
          <p:nvSpPr>
            <p:cNvPr id="71" name="refined-caption-1"/>
            <p:cNvSpPr txBox="1"/>
            <p:nvPr/>
          </p:nvSpPr>
          <p:spPr>
            <a:xfrm>
              <a:off x="7934992" y="4005453"/>
              <a:ext cx="465392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instance</a:t>
              </a:r>
              <a:endParaRPr lang="en-US"/>
            </a:p>
          </p:txBody>
        </p:sp>
        <p:sp>
          <p:nvSpPr>
            <p:cNvPr id="72" name="refined-caption-2"/>
            <p:cNvSpPr txBox="1"/>
            <p:nvPr/>
          </p:nvSpPr>
          <p:spPr>
            <a:xfrm>
              <a:off x="7986712" y="4148328"/>
              <a:ext cx="361950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masks</a:t>
              </a:r>
              <a:endParaRPr lang="en-US"/>
            </a:p>
          </p:txBody>
        </p:sp>
      </p:grpSp>
      <p:grpSp>
        <p:nvGrpSpPr>
          <p:cNvPr id="357" name="foreground-label-text"/>
          <p:cNvGrpSpPr/>
          <p:nvPr/>
        </p:nvGrpSpPr>
        <p:grpSpPr>
          <a:xfrm>
            <a:off x="8728996" y="4234053"/>
            <a:ext cx="972883" cy="166783"/>
            <a:chOff x="8728996" y="4234053"/>
            <a:chExt cx="972883" cy="166783"/>
          </a:xfrm>
        </p:grpSpPr>
        <p:sp>
          <p:nvSpPr>
            <p:cNvPr id="73" name="foreground-label-0"/>
            <p:cNvSpPr txBox="1"/>
            <p:nvPr/>
          </p:nvSpPr>
          <p:spPr>
            <a:xfrm>
              <a:off x="8728996" y="4234053"/>
              <a:ext cx="972884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Fused foreground</a:t>
              </a:r>
              <a:endParaRPr lang="en-US"/>
            </a:p>
          </p:txBody>
        </p:sp>
      </p:grpSp>
      <p:grpSp>
        <p:nvGrpSpPr>
          <p:cNvPr id="358" name="aux-caption-text"/>
          <p:cNvGrpSpPr/>
          <p:nvPr/>
        </p:nvGrpSpPr>
        <p:grpSpPr>
          <a:xfrm>
            <a:off x="8841724" y="5224653"/>
            <a:ext cx="861727" cy="309658"/>
            <a:chOff x="8841724" y="5224653"/>
            <a:chExt cx="861727" cy="309658"/>
          </a:xfrm>
        </p:grpSpPr>
        <p:sp>
          <p:nvSpPr>
            <p:cNvPr id="77" name="aux-caption-0"/>
            <p:cNvSpPr txBox="1"/>
            <p:nvPr/>
          </p:nvSpPr>
          <p:spPr>
            <a:xfrm>
              <a:off x="8841724" y="5224653"/>
              <a:ext cx="861727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Auxiliary fused</a:t>
              </a:r>
              <a:endParaRPr lang="en-US"/>
            </a:p>
          </p:txBody>
        </p:sp>
        <p:sp>
          <p:nvSpPr>
            <p:cNvPr id="78" name="aux-caption-1"/>
            <p:cNvSpPr txBox="1"/>
            <p:nvPr/>
          </p:nvSpPr>
          <p:spPr>
            <a:xfrm>
              <a:off x="8962120" y="5367528"/>
              <a:ext cx="620935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foreground</a:t>
              </a:r>
              <a:endParaRPr lang="en-US"/>
            </a:p>
          </p:txBody>
        </p:sp>
      </p:grpSp>
      <p:grpSp>
        <p:nvGrpSpPr>
          <p:cNvPr id="359" name="output-footer-text"/>
          <p:cNvGrpSpPr/>
          <p:nvPr/>
        </p:nvGrpSpPr>
        <p:grpSpPr>
          <a:xfrm>
            <a:off x="7689866" y="5588698"/>
            <a:ext cx="1984343" cy="187928"/>
            <a:chOff x="7689866" y="5588698"/>
            <a:chExt cx="1984343" cy="187928"/>
          </a:xfrm>
        </p:grpSpPr>
        <p:sp>
          <p:nvSpPr>
            <p:cNvPr id="79" name="output-footer-0"/>
            <p:cNvSpPr txBox="1"/>
            <p:nvPr/>
          </p:nvSpPr>
          <p:spPr>
            <a:xfrm>
              <a:off x="7689866" y="5588698"/>
              <a:ext cx="1984343" cy="187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(d) Outputs and auxiliary fusion</a:t>
              </a:r>
              <a:endParaRPr lang="en-US"/>
            </a:p>
          </p:txBody>
        </p:sp>
      </p:grpSp>
      <p:grpSp>
        <p:nvGrpSpPr>
          <p:cNvPr id="360" name="feature-F"/>
          <p:cNvGrpSpPr/>
          <p:nvPr/>
        </p:nvGrpSpPr>
        <p:grpSpPr>
          <a:xfrm>
            <a:off x="3943350" y="2149126"/>
            <a:ext cx="1004888" cy="316135"/>
            <a:chOff x="3943350" y="2149126"/>
            <a:chExt cx="1004888" cy="316135"/>
          </a:xfrm>
        </p:grpSpPr>
        <p:sp>
          <p:nvSpPr>
            <p:cNvPr id="80" name="feature-F-0"/>
            <p:cNvSpPr txBox="1"/>
            <p:nvPr/>
          </p:nvSpPr>
          <p:spPr>
            <a:xfrm>
              <a:off x="3943350" y="2197798"/>
              <a:ext cx="121634" cy="187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F</a:t>
              </a:r>
              <a:endParaRPr lang="en-US"/>
            </a:p>
          </p:txBody>
        </p:sp>
        <p:sp>
          <p:nvSpPr>
            <p:cNvPr id="81" name="feature-F-1"/>
            <p:cNvSpPr txBox="1"/>
            <p:nvPr/>
          </p:nvSpPr>
          <p:spPr>
            <a:xfrm>
              <a:off x="4038600" y="2206276"/>
              <a:ext cx="470344" cy="177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125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 : 160 ×</a:t>
              </a:r>
              <a:endParaRPr lang="en-US"/>
            </a:p>
          </p:txBody>
        </p:sp>
        <p:sp>
          <p:nvSpPr>
            <p:cNvPr id="82" name="feature-F-2"/>
            <p:cNvSpPr txBox="1"/>
            <p:nvPr/>
          </p:nvSpPr>
          <p:spPr>
            <a:xfrm>
              <a:off x="4533900" y="2149126"/>
              <a:ext cx="131731" cy="177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125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H</a:t>
              </a:r>
              <a:endParaRPr lang="en-US"/>
            </a:p>
          </p:txBody>
        </p:sp>
        <p:sp>
          <p:nvSpPr>
            <p:cNvPr id="83" name="feature-F-3"/>
            <p:cNvSpPr txBox="1"/>
            <p:nvPr/>
          </p:nvSpPr>
          <p:spPr>
            <a:xfrm>
              <a:off x="4552950" y="2308955"/>
              <a:ext cx="90488" cy="1563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975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  <a:endParaRPr lang="en-US"/>
            </a:p>
          </p:txBody>
        </p:sp>
        <p:sp>
          <p:nvSpPr>
            <p:cNvPr id="84" name="feature-F-4"/>
            <p:cNvSpPr txBox="1"/>
            <p:nvPr/>
          </p:nvSpPr>
          <p:spPr>
            <a:xfrm>
              <a:off x="4667250" y="2224278"/>
              <a:ext cx="103822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  <a:endParaRPr lang="en-US"/>
            </a:p>
          </p:txBody>
        </p:sp>
        <p:sp>
          <p:nvSpPr>
            <p:cNvPr id="85" name="feature-F-5"/>
            <p:cNvSpPr txBox="1"/>
            <p:nvPr/>
          </p:nvSpPr>
          <p:spPr>
            <a:xfrm>
              <a:off x="4800600" y="2149126"/>
              <a:ext cx="147638" cy="177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125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W</a:t>
              </a:r>
              <a:endParaRPr lang="en-US"/>
            </a:p>
          </p:txBody>
        </p:sp>
        <p:sp>
          <p:nvSpPr>
            <p:cNvPr id="86" name="feature-F-6"/>
            <p:cNvSpPr txBox="1"/>
            <p:nvPr/>
          </p:nvSpPr>
          <p:spPr>
            <a:xfrm>
              <a:off x="4838700" y="2308955"/>
              <a:ext cx="90488" cy="1563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975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  <a:endParaRPr lang="en-US"/>
            </a:p>
          </p:txBody>
        </p:sp>
      </p:grpSp>
      <p:sp>
        <p:nvSpPr>
          <p:cNvPr id="361" name="MiT-B0-335"/>
          <p:cNvSpPr/>
          <p:nvPr/>
        </p:nvSpPr>
        <p:spPr>
          <a:xfrm>
            <a:off x="4514850" y="2305050"/>
            <a:ext cx="114300" cy="10"/>
          </a:xfrm>
          <a:custGeom>
            <a:avLst/>
            <a:gdLst/>
            <a:ahLst/>
            <a:cxnLst/>
            <a:rect l="0" t="0" r="r" b="b"/>
            <a:pathLst>
              <a:path w="1200" h="1" fill="none" stroke="1" extrusionOk="0">
                <a:moveTo>
                  <a:pt x="0" y="0"/>
                </a:moveTo>
                <a:lnTo>
                  <a:pt x="1200" y="0"/>
                </a:lnTo>
              </a:path>
            </a:pathLst>
          </a:custGeom>
          <a:noFill/>
          <a:ln w="6668" cap="rnd">
            <a:solidFill>
              <a:srgbClr val="161719"/>
            </a:solidFill>
            <a:round/>
          </a:ln>
        </p:spPr>
      </p:sp>
      <p:sp>
        <p:nvSpPr>
          <p:cNvPr id="362" name="MiT-B0-336"/>
          <p:cNvSpPr/>
          <p:nvPr/>
        </p:nvSpPr>
        <p:spPr>
          <a:xfrm>
            <a:off x="4781550" y="2305050"/>
            <a:ext cx="152400" cy="10"/>
          </a:xfrm>
          <a:custGeom>
            <a:avLst/>
            <a:gdLst/>
            <a:ahLst/>
            <a:cxnLst/>
            <a:rect l="0" t="0" r="r" b="b"/>
            <a:pathLst>
              <a:path w="1600" h="1" fill="none" stroke="1" extrusionOk="0">
                <a:moveTo>
                  <a:pt x="0" y="0"/>
                </a:moveTo>
                <a:lnTo>
                  <a:pt x="1600" y="0"/>
                </a:lnTo>
              </a:path>
            </a:pathLst>
          </a:custGeom>
          <a:noFill/>
          <a:ln w="6668" cap="rnd">
            <a:solidFill>
              <a:srgbClr val="161719"/>
            </a:solidFill>
            <a:round/>
          </a:ln>
        </p:spPr>
      </p:sp>
      <p:grpSp>
        <p:nvGrpSpPr>
          <p:cNvPr id="363" name="dense-P"/>
          <p:cNvGrpSpPr/>
          <p:nvPr/>
        </p:nvGrpSpPr>
        <p:grpSpPr>
          <a:xfrm>
            <a:off x="7086600" y="2197798"/>
            <a:ext cx="729329" cy="187928"/>
            <a:chOff x="7086600" y="2197798"/>
            <a:chExt cx="729329" cy="187928"/>
          </a:xfrm>
        </p:grpSpPr>
        <p:sp>
          <p:nvSpPr>
            <p:cNvPr id="87" name="dense-P-0"/>
            <p:cNvSpPr txBox="1"/>
            <p:nvPr/>
          </p:nvSpPr>
          <p:spPr>
            <a:xfrm>
              <a:off x="7086600" y="2197798"/>
              <a:ext cx="121634" cy="187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P</a:t>
              </a:r>
              <a:endParaRPr lang="en-US"/>
            </a:p>
          </p:txBody>
        </p:sp>
        <p:sp>
          <p:nvSpPr>
            <p:cNvPr id="88" name="dense-P-1"/>
            <p:cNvSpPr txBox="1"/>
            <p:nvPr/>
          </p:nvSpPr>
          <p:spPr>
            <a:xfrm>
              <a:off x="7181850" y="2206276"/>
              <a:ext cx="634079" cy="177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125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 : 8×H×W</a:t>
              </a:r>
              <a:endParaRPr lang="en-US"/>
            </a:p>
          </p:txBody>
        </p:sp>
      </p:grpSp>
      <p:grpSp>
        <p:nvGrpSpPr>
          <p:cNvPr id="364" name="dense-D"/>
          <p:cNvGrpSpPr/>
          <p:nvPr/>
        </p:nvGrpSpPr>
        <p:grpSpPr>
          <a:xfrm>
            <a:off x="7839075" y="2119503"/>
            <a:ext cx="599980" cy="166783"/>
            <a:chOff x="7839075" y="2119503"/>
            <a:chExt cx="599980" cy="166783"/>
          </a:xfrm>
        </p:grpSpPr>
        <p:sp>
          <p:nvSpPr>
            <p:cNvPr id="89" name="dense-D-0"/>
            <p:cNvSpPr txBox="1"/>
            <p:nvPr/>
          </p:nvSpPr>
          <p:spPr>
            <a:xfrm>
              <a:off x="7839075" y="2119503"/>
              <a:ext cx="599980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D : H × W</a:t>
              </a:r>
              <a:endParaRPr lang="en-US"/>
            </a:p>
          </p:txBody>
        </p:sp>
      </p:grpSp>
      <p:grpSp>
        <p:nvGrpSpPr>
          <p:cNvPr id="365" name="Q-initial"/>
          <p:cNvGrpSpPr/>
          <p:nvPr/>
        </p:nvGrpSpPr>
        <p:grpSpPr>
          <a:xfrm>
            <a:off x="1304925" y="4579048"/>
            <a:ext cx="769525" cy="213646"/>
            <a:chOff x="1304925" y="4579048"/>
            <a:chExt cx="769525" cy="213646"/>
          </a:xfrm>
        </p:grpSpPr>
        <p:sp>
          <p:nvSpPr>
            <p:cNvPr id="91" name="Q-initial-0"/>
            <p:cNvSpPr txBox="1"/>
            <p:nvPr/>
          </p:nvSpPr>
          <p:spPr>
            <a:xfrm>
              <a:off x="1304925" y="4579048"/>
              <a:ext cx="138589" cy="187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Q</a:t>
              </a:r>
              <a:endParaRPr lang="en-US"/>
            </a:p>
          </p:txBody>
        </p:sp>
        <p:sp>
          <p:nvSpPr>
            <p:cNvPr id="92" name="Q-initial-1"/>
            <p:cNvSpPr txBox="1"/>
            <p:nvPr/>
          </p:nvSpPr>
          <p:spPr>
            <a:xfrm>
              <a:off x="1409700" y="4668012"/>
              <a:ext cx="76200" cy="124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7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0</a:t>
              </a:r>
              <a:endParaRPr lang="en-US"/>
            </a:p>
          </p:txBody>
        </p:sp>
        <p:sp>
          <p:nvSpPr>
            <p:cNvPr id="93" name="Q-initial-2"/>
            <p:cNvSpPr txBox="1"/>
            <p:nvPr/>
          </p:nvSpPr>
          <p:spPr>
            <a:xfrm>
              <a:off x="1466850" y="4596003"/>
              <a:ext cx="607600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 : 16 × 160</a:t>
              </a:r>
              <a:endParaRPr lang="en-US"/>
            </a:p>
          </p:txBody>
        </p:sp>
      </p:grpSp>
      <p:grpSp>
        <p:nvGrpSpPr>
          <p:cNvPr id="366" name="Q-output"/>
          <p:cNvGrpSpPr/>
          <p:nvPr/>
        </p:nvGrpSpPr>
        <p:grpSpPr>
          <a:xfrm>
            <a:off x="4629150" y="4226624"/>
            <a:ext cx="138589" cy="187928"/>
            <a:chOff x="4629150" y="4226624"/>
            <a:chExt cx="138589" cy="187928"/>
          </a:xfrm>
        </p:grpSpPr>
        <p:sp>
          <p:nvSpPr>
            <p:cNvPr id="94" name="Q-output-0"/>
            <p:cNvSpPr txBox="1"/>
            <p:nvPr/>
          </p:nvSpPr>
          <p:spPr>
            <a:xfrm>
              <a:off x="4629150" y="4226624"/>
              <a:ext cx="138589" cy="187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Q</a:t>
              </a:r>
              <a:endParaRPr lang="en-US"/>
            </a:p>
          </p:txBody>
        </p:sp>
      </p:grpSp>
      <p:grpSp>
        <p:nvGrpSpPr>
          <p:cNvPr id="367" name="Q-bottom"/>
          <p:cNvGrpSpPr/>
          <p:nvPr/>
        </p:nvGrpSpPr>
        <p:grpSpPr>
          <a:xfrm>
            <a:off x="3609975" y="4874324"/>
            <a:ext cx="825627" cy="187928"/>
            <a:chOff x="3609975" y="4874324"/>
            <a:chExt cx="825627" cy="187928"/>
          </a:xfrm>
        </p:grpSpPr>
        <p:sp>
          <p:nvSpPr>
            <p:cNvPr id="95" name="Q-bottom-0"/>
            <p:cNvSpPr txBox="1"/>
            <p:nvPr/>
          </p:nvSpPr>
          <p:spPr>
            <a:xfrm>
              <a:off x="3609975" y="4874324"/>
              <a:ext cx="825627" cy="187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Q : 16 × 160</a:t>
              </a:r>
              <a:endParaRPr lang="en-US"/>
            </a:p>
          </p:txBody>
        </p:sp>
      </p:grpSp>
      <p:grpSp>
        <p:nvGrpSpPr>
          <p:cNvPr id="368" name="P-dot"/>
          <p:cNvGrpSpPr/>
          <p:nvPr/>
        </p:nvGrpSpPr>
        <p:grpSpPr>
          <a:xfrm>
            <a:off x="5962650" y="3255074"/>
            <a:ext cx="121634" cy="187928"/>
            <a:chOff x="5962650" y="3255074"/>
            <a:chExt cx="121634" cy="187928"/>
          </a:xfrm>
        </p:grpSpPr>
        <p:sp>
          <p:nvSpPr>
            <p:cNvPr id="96" name="P-dot-0"/>
            <p:cNvSpPr txBox="1"/>
            <p:nvPr/>
          </p:nvSpPr>
          <p:spPr>
            <a:xfrm>
              <a:off x="5962650" y="3255074"/>
              <a:ext cx="121634" cy="187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P</a:t>
              </a:r>
              <a:endParaRPr lang="en-US"/>
            </a:p>
          </p:txBody>
        </p:sp>
      </p:grpSp>
      <p:grpSp>
        <p:nvGrpSpPr>
          <p:cNvPr id="369" name="D-refiner"/>
          <p:cNvGrpSpPr/>
          <p:nvPr/>
        </p:nvGrpSpPr>
        <p:grpSpPr>
          <a:xfrm>
            <a:off x="6353175" y="3187351"/>
            <a:ext cx="131731" cy="177356"/>
            <a:chOff x="6353175" y="3187351"/>
            <a:chExt cx="131731" cy="177356"/>
          </a:xfrm>
        </p:grpSpPr>
        <p:sp>
          <p:nvSpPr>
            <p:cNvPr id="97" name="D-refiner-0"/>
            <p:cNvSpPr txBox="1"/>
            <p:nvPr/>
          </p:nvSpPr>
          <p:spPr>
            <a:xfrm>
              <a:off x="6353175" y="3187351"/>
              <a:ext cx="131731" cy="177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125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  <a:endParaRPr lang="en-US"/>
            </a:p>
          </p:txBody>
        </p:sp>
      </p:grpSp>
      <p:grpSp>
        <p:nvGrpSpPr>
          <p:cNvPr id="370" name="base-mask-label"/>
          <p:cNvGrpSpPr/>
          <p:nvPr/>
        </p:nvGrpSpPr>
        <p:grpSpPr>
          <a:xfrm>
            <a:off x="7762875" y="2959798"/>
            <a:ext cx="904875" cy="204121"/>
            <a:chOff x="7762875" y="2959798"/>
            <a:chExt cx="904875" cy="204121"/>
          </a:xfrm>
        </p:grpSpPr>
        <p:sp>
          <p:nvSpPr>
            <p:cNvPr id="98" name="base-mask-label-0"/>
            <p:cNvSpPr txBox="1"/>
            <p:nvPr/>
          </p:nvSpPr>
          <p:spPr>
            <a:xfrm>
              <a:off x="7762875" y="2968276"/>
              <a:ext cx="735044" cy="177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125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Base masks </a:t>
              </a:r>
              <a:endParaRPr lang="en-US"/>
            </a:p>
          </p:txBody>
        </p:sp>
        <p:sp>
          <p:nvSpPr>
            <p:cNvPr id="99" name="base-mask-label-1"/>
            <p:cNvSpPr txBox="1"/>
            <p:nvPr/>
          </p:nvSpPr>
          <p:spPr>
            <a:xfrm>
              <a:off x="8467725" y="2959798"/>
              <a:ext cx="155543" cy="187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M</a:t>
              </a:r>
              <a:endParaRPr lang="en-US"/>
            </a:p>
          </p:txBody>
        </p:sp>
        <p:sp>
          <p:nvSpPr>
            <p:cNvPr id="100" name="base-mask-label-2"/>
            <p:cNvSpPr txBox="1"/>
            <p:nvPr/>
          </p:nvSpPr>
          <p:spPr>
            <a:xfrm>
              <a:off x="8591550" y="3039237"/>
              <a:ext cx="76200" cy="124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7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0</a:t>
              </a:r>
              <a:endParaRPr lang="en-US"/>
            </a:p>
          </p:txBody>
        </p:sp>
      </p:grpSp>
      <p:grpSp>
        <p:nvGrpSpPr>
          <p:cNvPr id="371" name="union-U"/>
          <p:cNvGrpSpPr/>
          <p:nvPr/>
        </p:nvGrpSpPr>
        <p:grpSpPr>
          <a:xfrm>
            <a:off x="9201150" y="3569398"/>
            <a:ext cx="138589" cy="187928"/>
            <a:chOff x="9201150" y="3569398"/>
            <a:chExt cx="138589" cy="187928"/>
          </a:xfrm>
        </p:grpSpPr>
        <p:sp>
          <p:nvSpPr>
            <p:cNvPr id="101" name="union-U-0"/>
            <p:cNvSpPr txBox="1"/>
            <p:nvPr/>
          </p:nvSpPr>
          <p:spPr>
            <a:xfrm>
              <a:off x="9201150" y="3569398"/>
              <a:ext cx="138589" cy="187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U</a:t>
              </a:r>
              <a:endParaRPr lang="en-US"/>
            </a:p>
          </p:txBody>
        </p:sp>
      </p:grpSp>
      <p:grpSp>
        <p:nvGrpSpPr>
          <p:cNvPr id="372" name="fused-equation"/>
          <p:cNvGrpSpPr/>
          <p:nvPr/>
        </p:nvGrpSpPr>
        <p:grpSpPr>
          <a:xfrm>
            <a:off x="8753475" y="4386453"/>
            <a:ext cx="946690" cy="166783"/>
            <a:chOff x="8753475" y="4386453"/>
            <a:chExt cx="946690" cy="166783"/>
          </a:xfrm>
        </p:grpSpPr>
        <p:sp>
          <p:nvSpPr>
            <p:cNvPr id="102" name="fused-equation-0"/>
            <p:cNvSpPr txBox="1"/>
            <p:nvPr/>
          </p:nvSpPr>
          <p:spPr>
            <a:xfrm>
              <a:off x="8753475" y="4386453"/>
              <a:ext cx="946690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= gD + (1 − g)U</a:t>
              </a:r>
              <a:endParaRPr lang="en-US"/>
            </a:p>
          </p:txBody>
        </p:sp>
      </p:grpSp>
      <p:grpSp>
        <p:nvGrpSpPr>
          <p:cNvPr id="373" name="gate-inputs"/>
          <p:cNvGrpSpPr/>
          <p:nvPr/>
        </p:nvGrpSpPr>
        <p:grpSpPr>
          <a:xfrm>
            <a:off x="7648575" y="4587526"/>
            <a:ext cx="389954" cy="746760"/>
            <a:chOff x="7648575" y="4587526"/>
            <a:chExt cx="389954" cy="746760"/>
          </a:xfrm>
        </p:grpSpPr>
        <p:sp>
          <p:nvSpPr>
            <p:cNvPr id="103" name="gate-inputs-0"/>
            <p:cNvSpPr txBox="1"/>
            <p:nvPr/>
          </p:nvSpPr>
          <p:spPr>
            <a:xfrm>
              <a:off x="7743825" y="4587526"/>
              <a:ext cx="223076" cy="177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125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[D,</a:t>
              </a:r>
              <a:endParaRPr lang="en-US"/>
            </a:p>
          </p:txBody>
        </p:sp>
        <p:sp>
          <p:nvSpPr>
            <p:cNvPr id="104" name="gate-inputs-1"/>
            <p:cNvSpPr txBox="1"/>
            <p:nvPr/>
          </p:nvSpPr>
          <p:spPr>
            <a:xfrm>
              <a:off x="7762875" y="4787551"/>
              <a:ext cx="167449" cy="177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125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U,</a:t>
              </a:r>
              <a:endParaRPr lang="en-US"/>
            </a:p>
          </p:txBody>
        </p:sp>
        <p:sp>
          <p:nvSpPr>
            <p:cNvPr id="105" name="gate-inputs-2"/>
            <p:cNvSpPr txBox="1"/>
            <p:nvPr/>
          </p:nvSpPr>
          <p:spPr>
            <a:xfrm>
              <a:off x="7648575" y="4985480"/>
              <a:ext cx="389954" cy="1563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975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|D−U|,</a:t>
              </a:r>
              <a:endParaRPr lang="en-US"/>
            </a:p>
          </p:txBody>
        </p:sp>
        <p:sp>
          <p:nvSpPr>
            <p:cNvPr id="106" name="gate-inputs-3"/>
            <p:cNvSpPr txBox="1"/>
            <p:nvPr/>
          </p:nvSpPr>
          <p:spPr>
            <a:xfrm>
              <a:off x="7724775" y="5167503"/>
              <a:ext cx="250698" cy="166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105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Ink]</a:t>
              </a:r>
              <a:endParaRPr lang="en-US"/>
            </a:p>
          </p:txBody>
        </p:sp>
      </p:grpSp>
    </p:spTree>
    <p:extLst>
      <p:ext uri="{BB962C8B-B14F-4D97-AF65-F5344CB8AC3E}">
        <ns2:creationId val="1016460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0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ns0="http://schemas.openxmlformats.org/package/2006/metadata/core-properties" xmlns:ns1="http://purl.org/dc/terms/" xmlns:xsi="http://www.w3.org/2001/XMLSchema-instance">
  <ns1:created xsi:type="dcterms:W3CDTF">2026-09-07T07:23:19.0350000Z</ns1:created>
  <ns1:modified xsi:type="dcterms:W3CDTF">2026-09-07T07:23:19.0350000Z</ns1:modified>
</ns0:coreProperties>
</file>